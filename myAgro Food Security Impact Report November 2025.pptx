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6858000" cy="9144000"/>
  <p:embeddedFontLst>
    <p:embeddedFont>
      <p:font typeface="Calibri" panose="020F0502020204030204" pitchFamily="34" charset="0"/>
      <p:regular r:id="rId28"/>
      <p:bold r:id="rId29"/>
      <p:italic r:id="rId30"/>
      <p:boldItalic r:id="rId31"/>
    </p:embeddedFont>
    <p:embeddedFont>
      <p:font typeface="Lato" panose="020B0604020202020204" charset="0"/>
      <p:regular r:id="rId32"/>
      <p:bold r:id="rId33"/>
      <p:italic r:id="rId34"/>
      <p:boldItalic r:id="rId35"/>
    </p:embeddedFont>
    <p:embeddedFont>
      <p:font typeface="Manrope" panose="020B0604020202020204" charset="0"/>
      <p:regular r:id="rId36"/>
      <p:bold r:id="rId37"/>
    </p:embeddedFont>
    <p:embeddedFont>
      <p:font typeface="Manrope SemiBold" panose="020B0604020202020204" charset="0"/>
      <p:regular r:id="rId38"/>
      <p:bold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31">
          <p15:clr>
            <a:srgbClr val="747775"/>
          </p15:clr>
        </p15:guide>
        <p15:guide id="2" pos="2736">
          <p15:clr>
            <a:srgbClr val="747775"/>
          </p15:clr>
        </p15:guide>
        <p15:guide id="3" pos="141">
          <p15:clr>
            <a:srgbClr val="747775"/>
          </p15:clr>
        </p15:guide>
        <p15:guide id="5" orient="horz" pos="1152">
          <p15:clr>
            <a:srgbClr val="747775"/>
          </p15:clr>
        </p15:guide>
        <p15:guide id="6" orient="horz" pos="3240">
          <p15:clr>
            <a:srgbClr val="747775"/>
          </p15:clr>
        </p15:guide>
        <p15:guide id="7" pos="3024">
          <p15:clr>
            <a:srgbClr val="747775"/>
          </p15:clr>
        </p15:guide>
        <p15:guide id="9" pos="378">
          <p15:clr>
            <a:srgbClr val="747775"/>
          </p15:clr>
        </p15:guide>
        <p15:guide id="10" pos="5382">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essa Scalora" initials="" lastIdx="4" clrIdx="0"/>
  <p:cmAuthor id="1" name="Paul Dakum" initials=""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0DB1E6E-BAFB-4045-8679-1D4DE15F8355}">
  <a:tblStyle styleId="{30DB1E6E-BAFB-4045-8679-1D4DE15F835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684" y="26"/>
      </p:cViewPr>
      <p:guideLst>
        <p:guide orient="horz" pos="431"/>
        <p:guide pos="2736"/>
        <p:guide pos="141"/>
        <p:guide orient="horz" pos="1152"/>
        <p:guide orient="horz" pos="3240"/>
        <p:guide pos="3024"/>
        <p:guide pos="378"/>
        <p:guide pos="538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1fc5a4ad53b_0_97: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 name="Google Shape;88;g1fc5a4ad53b_0_97:notes"/>
          <p:cNvSpPr>
            <a:spLocks noGrp="1" noRot="1" noChangeAspect="1"/>
          </p:cNvSpPr>
          <p:nvPr>
            <p:ph type="sldImg" idx="2"/>
          </p:nvPr>
        </p:nvSpPr>
        <p:spPr>
          <a:xfrm>
            <a:off x="2857500" y="512763"/>
            <a:ext cx="3429000" cy="2567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a281e1d236_0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a281e1d236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71d50c769f_1_3: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g371d50c769f_1_3:notes"/>
          <p:cNvSpPr>
            <a:spLocks noGrp="1" noRot="1" noChangeAspect="1"/>
          </p:cNvSpPr>
          <p:nvPr>
            <p:ph type="sldImg" idx="2"/>
          </p:nvPr>
        </p:nvSpPr>
        <p:spPr>
          <a:xfrm>
            <a:off x="2857500" y="512763"/>
            <a:ext cx="3429000" cy="2567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a281e1d236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a281e1d236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a281e1d236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a281e1d236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a281e1d236_0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a281e1d236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a281e1d236_0_119: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g3a281e1d236_0_119:notes"/>
          <p:cNvSpPr>
            <a:spLocks noGrp="1" noRot="1" noChangeAspect="1"/>
          </p:cNvSpPr>
          <p:nvPr>
            <p:ph type="sldImg" idx="2"/>
          </p:nvPr>
        </p:nvSpPr>
        <p:spPr>
          <a:xfrm>
            <a:off x="2857500" y="512763"/>
            <a:ext cx="3429000" cy="2567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a2b6c2999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a2b6c2999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These numbers are for reference only; they are not indicative of impact. For example, taking the difference in mean treatment and control rCSI scores is NOT valuable.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a281e1d236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a281e1d236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rgbClr val="434343"/>
                </a:solidFill>
                <a:latin typeface="Manrope"/>
                <a:ea typeface="Manrope"/>
                <a:cs typeface="Manrope"/>
                <a:sym typeface="Manrope"/>
              </a:rPr>
              <a:t>*Total hectares of any crop type planted in any season before 2023. To be clear, this is </a:t>
            </a:r>
            <a:r>
              <a:rPr lang="en" sz="1200" i="1">
                <a:solidFill>
                  <a:srgbClr val="434343"/>
                </a:solidFill>
                <a:latin typeface="Manrope"/>
                <a:ea typeface="Manrope"/>
                <a:cs typeface="Manrope"/>
                <a:sym typeface="Manrope"/>
              </a:rPr>
              <a:t>additional </a:t>
            </a:r>
            <a:r>
              <a:rPr lang="en" sz="1200">
                <a:solidFill>
                  <a:srgbClr val="434343"/>
                </a:solidFill>
                <a:latin typeface="Manrope"/>
                <a:ea typeface="Manrope"/>
                <a:cs typeface="Manrope"/>
                <a:sym typeface="Manrope"/>
              </a:rPr>
              <a:t>impact for households on top of the impact of their 2023 packages.</a:t>
            </a:r>
            <a:endParaRPr sz="1200">
              <a:solidFill>
                <a:srgbClr val="434343"/>
              </a:solidFill>
              <a:latin typeface="Manrope"/>
              <a:ea typeface="Manrope"/>
              <a:cs typeface="Manrope"/>
              <a:sym typeface="Manrope"/>
            </a:endParaRPr>
          </a:p>
          <a:p>
            <a:pPr marL="0" lvl="0" indent="0" algn="l" rtl="0">
              <a:spcBef>
                <a:spcPts val="0"/>
              </a:spcBef>
              <a:spcAft>
                <a:spcPts val="0"/>
              </a:spcAft>
              <a:buClr>
                <a:schemeClr val="dk1"/>
              </a:buClr>
              <a:buSzPts val="1100"/>
              <a:buFont typeface="Arial"/>
              <a:buNone/>
            </a:pPr>
            <a:r>
              <a:rPr lang="en" sz="1200">
                <a:solidFill>
                  <a:srgbClr val="434343"/>
                </a:solidFill>
                <a:latin typeface="Manrope"/>
                <a:ea typeface="Manrope"/>
                <a:cs typeface="Manrope"/>
                <a:sym typeface="Manrope"/>
              </a:rPr>
              <a:t>**ASAA-funded 25kg of DAP gifted to all delivered Mali farmers in 2023</a:t>
            </a:r>
            <a:endParaRPr sz="1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a2dbd4bd65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a2dbd4bd6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434343"/>
                </a:solidFill>
                <a:latin typeface="Manrope"/>
                <a:ea typeface="Manrope"/>
                <a:cs typeface="Manrope"/>
                <a:sym typeface="Manrope"/>
              </a:rPr>
              <a:t>**ASAA-funded 25kg of DAP gifted to all delivered Mali farmers in 2023</a:t>
            </a:r>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a281e1d236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a281e1d236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a3139f3e9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a3139f3e9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a281e1d236_0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a281e1d236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Inverse of treatment probability (inverse of propensity score)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a3139f3e9c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a3139f3e9c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a3139f3e9c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a3139f3e9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a2b6c2999a_0_43: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g3a2b6c2999a_0_43:notes"/>
          <p:cNvSpPr>
            <a:spLocks noGrp="1" noRot="1" noChangeAspect="1"/>
          </p:cNvSpPr>
          <p:nvPr>
            <p:ph type="sldImg" idx="2"/>
          </p:nvPr>
        </p:nvSpPr>
        <p:spPr>
          <a:xfrm>
            <a:off x="2857500" y="512763"/>
            <a:ext cx="3429000" cy="2567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a2b6c2999a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a2b6c2999a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a2b6c2999a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a2b6c2999a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a2b6c2999a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3a2b6c2999a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a2b6c2999a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a2b6c2999a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Average impact per farmer across crop types that the fertilizer gift was used to grow. The average was weighted by crop share of total hectares, according to survey data on how farmers used the fertilizer.</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a2b6c2999a_0_54: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 name="Google Shape;243;g3a2b6c2999a_0_54:notes"/>
          <p:cNvSpPr>
            <a:spLocks noGrp="1" noRot="1" noChangeAspect="1"/>
          </p:cNvSpPr>
          <p:nvPr>
            <p:ph type="sldImg" idx="2"/>
          </p:nvPr>
        </p:nvSpPr>
        <p:spPr>
          <a:xfrm>
            <a:off x="2857500" y="512763"/>
            <a:ext cx="3429000" cy="2567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a2b6c2999a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a2b6c2999a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a4919e2d32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a4919e2d32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Based on propensity score (likelihood of treatment), not participation status. Propensity score was calculated for all households using their characteristics: poverty probability (PPI), main crop type(s) cultivated, and the total area of land farmed on. Propensity score was added as a covariate in the model to control for these characteristics.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a4919e2d32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3a4919e2d32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add6a367f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add6a367f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13" name="Google Shape;13;p2"/>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14" name="Google Shape;14;p2"/>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342900" y="1065213"/>
            <a:ext cx="3886200" cy="7350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9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17" name="Google Shape;17;p3"/>
          <p:cNvSpPr txBox="1">
            <a:spLocks noGrp="1"/>
          </p:cNvSpPr>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rtl="0">
              <a:lnSpc>
                <a:spcPct val="100000"/>
              </a:lnSpc>
              <a:spcBef>
                <a:spcPts val="300"/>
              </a:spcBef>
              <a:spcAft>
                <a:spcPts val="0"/>
              </a:spcAft>
              <a:buClr>
                <a:srgbClr val="888888"/>
              </a:buClr>
              <a:buSzPts val="1600"/>
              <a:buNone/>
              <a:defRPr>
                <a:solidFill>
                  <a:srgbClr val="888888"/>
                </a:solidFill>
              </a:defRPr>
            </a:lvl1pPr>
            <a:lvl2pPr lvl="1" algn="ctr" rtl="0">
              <a:lnSpc>
                <a:spcPct val="100000"/>
              </a:lnSpc>
              <a:spcBef>
                <a:spcPts val="300"/>
              </a:spcBef>
              <a:spcAft>
                <a:spcPts val="0"/>
              </a:spcAft>
              <a:buClr>
                <a:srgbClr val="888888"/>
              </a:buClr>
              <a:buSzPts val="1400"/>
              <a:buNone/>
              <a:defRPr>
                <a:solidFill>
                  <a:srgbClr val="888888"/>
                </a:solidFill>
              </a:defRPr>
            </a:lvl2pPr>
            <a:lvl3pPr lvl="2" algn="ctr" rtl="0">
              <a:lnSpc>
                <a:spcPct val="100000"/>
              </a:lnSpc>
              <a:spcBef>
                <a:spcPts val="200"/>
              </a:spcBef>
              <a:spcAft>
                <a:spcPts val="0"/>
              </a:spcAft>
              <a:buClr>
                <a:srgbClr val="888888"/>
              </a:buClr>
              <a:buSzPts val="1200"/>
              <a:buNone/>
              <a:defRPr>
                <a:solidFill>
                  <a:srgbClr val="888888"/>
                </a:solidFill>
              </a:defRPr>
            </a:lvl3pPr>
            <a:lvl4pPr lvl="3" algn="ctr" rtl="0">
              <a:lnSpc>
                <a:spcPct val="100000"/>
              </a:lnSpc>
              <a:spcBef>
                <a:spcPts val="200"/>
              </a:spcBef>
              <a:spcAft>
                <a:spcPts val="0"/>
              </a:spcAft>
              <a:buClr>
                <a:srgbClr val="888888"/>
              </a:buClr>
              <a:buSzPts val="1000"/>
              <a:buNone/>
              <a:defRPr>
                <a:solidFill>
                  <a:srgbClr val="888888"/>
                </a:solidFill>
              </a:defRPr>
            </a:lvl4pPr>
            <a:lvl5pPr lvl="4" algn="ctr" rtl="0">
              <a:lnSpc>
                <a:spcPct val="100000"/>
              </a:lnSpc>
              <a:spcBef>
                <a:spcPts val="200"/>
              </a:spcBef>
              <a:spcAft>
                <a:spcPts val="0"/>
              </a:spcAft>
              <a:buClr>
                <a:srgbClr val="888888"/>
              </a:buClr>
              <a:buSzPts val="1000"/>
              <a:buNone/>
              <a:defRPr>
                <a:solidFill>
                  <a:srgbClr val="888888"/>
                </a:solidFill>
              </a:defRPr>
            </a:lvl5pPr>
            <a:lvl6pPr lvl="5" algn="ctr" rtl="0">
              <a:lnSpc>
                <a:spcPct val="100000"/>
              </a:lnSpc>
              <a:spcBef>
                <a:spcPts val="200"/>
              </a:spcBef>
              <a:spcAft>
                <a:spcPts val="0"/>
              </a:spcAft>
              <a:buClr>
                <a:srgbClr val="888888"/>
              </a:buClr>
              <a:buSzPts val="1000"/>
              <a:buNone/>
              <a:defRPr>
                <a:solidFill>
                  <a:srgbClr val="888888"/>
                </a:solidFill>
              </a:defRPr>
            </a:lvl6pPr>
            <a:lvl7pPr lvl="6" algn="ctr" rtl="0">
              <a:lnSpc>
                <a:spcPct val="100000"/>
              </a:lnSpc>
              <a:spcBef>
                <a:spcPts val="200"/>
              </a:spcBef>
              <a:spcAft>
                <a:spcPts val="0"/>
              </a:spcAft>
              <a:buClr>
                <a:srgbClr val="888888"/>
              </a:buClr>
              <a:buSzPts val="1000"/>
              <a:buNone/>
              <a:defRPr>
                <a:solidFill>
                  <a:srgbClr val="888888"/>
                </a:solidFill>
              </a:defRPr>
            </a:lvl7pPr>
            <a:lvl8pPr lvl="7" algn="ctr" rtl="0">
              <a:lnSpc>
                <a:spcPct val="100000"/>
              </a:lnSpc>
              <a:spcBef>
                <a:spcPts val="200"/>
              </a:spcBef>
              <a:spcAft>
                <a:spcPts val="0"/>
              </a:spcAft>
              <a:buClr>
                <a:srgbClr val="888888"/>
              </a:buClr>
              <a:buSzPts val="1000"/>
              <a:buNone/>
              <a:defRPr>
                <a:solidFill>
                  <a:srgbClr val="888888"/>
                </a:solidFill>
              </a:defRPr>
            </a:lvl8pPr>
            <a:lvl9pPr lvl="8" algn="ctr" rtl="0">
              <a:lnSpc>
                <a:spcPct val="100000"/>
              </a:lnSpc>
              <a:spcBef>
                <a:spcPts val="200"/>
              </a:spcBef>
              <a:spcAft>
                <a:spcPts val="0"/>
              </a:spcAft>
              <a:buClr>
                <a:srgbClr val="888888"/>
              </a:buClr>
              <a:buSzPts val="1000"/>
              <a:buNone/>
              <a:defRPr>
                <a:solidFill>
                  <a:srgbClr val="888888"/>
                </a:solidFill>
              </a:defRPr>
            </a:lvl9pPr>
          </a:lstStyle>
          <a:p>
            <a:endParaRPr/>
          </a:p>
        </p:txBody>
      </p:sp>
      <p:sp>
        <p:nvSpPr>
          <p:cNvPr id="18" name="Google Shape;18;p3"/>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19" name="Google Shape;19;p3"/>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0" name="Google Shape;20;p3"/>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9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3" name="Google Shape;23;p4"/>
          <p:cNvSpPr txBox="1">
            <a:spLocks noGrp="1"/>
          </p:cNvSpPr>
          <p:nvPr>
            <p:ph type="body" idx="1"/>
          </p:nvPr>
        </p:nvSpPr>
        <p:spPr>
          <a:xfrm>
            <a:off x="228600" y="800100"/>
            <a:ext cx="4114800" cy="2263200"/>
          </a:xfrm>
          <a:prstGeom prst="rect">
            <a:avLst/>
          </a:prstGeom>
          <a:noFill/>
          <a:ln>
            <a:noFill/>
          </a:ln>
        </p:spPr>
        <p:txBody>
          <a:bodyPr spcFirstLastPara="1" wrap="square" lIns="45725" tIns="22850" rIns="45725" bIns="22850" anchor="t" anchorCtr="0">
            <a:normAutofit/>
          </a:bodyPr>
          <a:lstStyle>
            <a:lvl1pPr marL="457200" lvl="0" indent="-285750" algn="l" rtl="0">
              <a:lnSpc>
                <a:spcPct val="100000"/>
              </a:lnSpc>
              <a:spcBef>
                <a:spcPts val="200"/>
              </a:spcBef>
              <a:spcAft>
                <a:spcPts val="0"/>
              </a:spcAft>
              <a:buClr>
                <a:schemeClr val="dk1"/>
              </a:buClr>
              <a:buSzPts val="900"/>
              <a:buChar char="•"/>
              <a:defRPr/>
            </a:lvl1pPr>
            <a:lvl2pPr marL="914400" lvl="1" indent="-285750" algn="l" rtl="0">
              <a:lnSpc>
                <a:spcPct val="100000"/>
              </a:lnSpc>
              <a:spcBef>
                <a:spcPts val="200"/>
              </a:spcBef>
              <a:spcAft>
                <a:spcPts val="0"/>
              </a:spcAft>
              <a:buClr>
                <a:schemeClr val="dk1"/>
              </a:buClr>
              <a:buSzPts val="900"/>
              <a:buChar char="–"/>
              <a:defRPr/>
            </a:lvl2pPr>
            <a:lvl3pPr marL="1371600" lvl="2" indent="-285750" algn="l" rtl="0">
              <a:lnSpc>
                <a:spcPct val="100000"/>
              </a:lnSpc>
              <a:spcBef>
                <a:spcPts val="200"/>
              </a:spcBef>
              <a:spcAft>
                <a:spcPts val="0"/>
              </a:spcAft>
              <a:buClr>
                <a:schemeClr val="dk1"/>
              </a:buClr>
              <a:buSzPts val="900"/>
              <a:buChar char="•"/>
              <a:defRPr/>
            </a:lvl3pPr>
            <a:lvl4pPr marL="1828800" lvl="3" indent="-285750" algn="l" rtl="0">
              <a:lnSpc>
                <a:spcPct val="100000"/>
              </a:lnSpc>
              <a:spcBef>
                <a:spcPts val="200"/>
              </a:spcBef>
              <a:spcAft>
                <a:spcPts val="0"/>
              </a:spcAft>
              <a:buClr>
                <a:schemeClr val="dk1"/>
              </a:buClr>
              <a:buSzPts val="900"/>
              <a:buChar char="–"/>
              <a:defRPr/>
            </a:lvl4pPr>
            <a:lvl5pPr marL="2286000" lvl="4" indent="-285750" algn="l" rtl="0">
              <a:lnSpc>
                <a:spcPct val="100000"/>
              </a:lnSpc>
              <a:spcBef>
                <a:spcPts val="200"/>
              </a:spcBef>
              <a:spcAft>
                <a:spcPts val="0"/>
              </a:spcAft>
              <a:buClr>
                <a:schemeClr val="dk1"/>
              </a:buClr>
              <a:buSzPts val="900"/>
              <a:buChar char="»"/>
              <a:defRPr/>
            </a:lvl5pPr>
            <a:lvl6pPr marL="2743200" lvl="5" indent="-285750" algn="l" rtl="0">
              <a:lnSpc>
                <a:spcPct val="100000"/>
              </a:lnSpc>
              <a:spcBef>
                <a:spcPts val="200"/>
              </a:spcBef>
              <a:spcAft>
                <a:spcPts val="0"/>
              </a:spcAft>
              <a:buClr>
                <a:schemeClr val="dk1"/>
              </a:buClr>
              <a:buSzPts val="900"/>
              <a:buChar char="•"/>
              <a:defRPr/>
            </a:lvl6pPr>
            <a:lvl7pPr marL="3200400" lvl="6" indent="-285750" algn="l" rtl="0">
              <a:lnSpc>
                <a:spcPct val="100000"/>
              </a:lnSpc>
              <a:spcBef>
                <a:spcPts val="200"/>
              </a:spcBef>
              <a:spcAft>
                <a:spcPts val="0"/>
              </a:spcAft>
              <a:buClr>
                <a:schemeClr val="dk1"/>
              </a:buClr>
              <a:buSzPts val="900"/>
              <a:buChar char="•"/>
              <a:defRPr/>
            </a:lvl7pPr>
            <a:lvl8pPr marL="3657600" lvl="7" indent="-285750" algn="l" rtl="0">
              <a:lnSpc>
                <a:spcPct val="100000"/>
              </a:lnSpc>
              <a:spcBef>
                <a:spcPts val="200"/>
              </a:spcBef>
              <a:spcAft>
                <a:spcPts val="0"/>
              </a:spcAft>
              <a:buClr>
                <a:schemeClr val="dk1"/>
              </a:buClr>
              <a:buSzPts val="900"/>
              <a:buChar char="•"/>
              <a:defRPr/>
            </a:lvl8pPr>
            <a:lvl9pPr marL="4114800" lvl="8" indent="-285750" algn="l" rtl="0">
              <a:lnSpc>
                <a:spcPct val="100000"/>
              </a:lnSpc>
              <a:spcBef>
                <a:spcPts val="200"/>
              </a:spcBef>
              <a:spcAft>
                <a:spcPts val="0"/>
              </a:spcAft>
              <a:buClr>
                <a:schemeClr val="dk1"/>
              </a:buClr>
              <a:buSzPts val="900"/>
              <a:buChar char="•"/>
              <a:defRPr/>
            </a:lvl9pPr>
          </a:lstStyle>
          <a:p>
            <a:endParaRPr/>
          </a:p>
        </p:txBody>
      </p:sp>
      <p:sp>
        <p:nvSpPr>
          <p:cNvPr id="24" name="Google Shape;24;p4"/>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5" name="Google Shape;25;p4"/>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6" name="Google Shape;26;p4"/>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361156" y="2203450"/>
            <a:ext cx="3886200" cy="681000"/>
          </a:xfrm>
          <a:prstGeom prst="rect">
            <a:avLst/>
          </a:prstGeom>
          <a:noFill/>
          <a:ln>
            <a:noFill/>
          </a:ln>
        </p:spPr>
        <p:txBody>
          <a:bodyPr spcFirstLastPara="1" wrap="square" lIns="45725" tIns="22850" rIns="45725" bIns="22850" anchor="t" anchorCtr="0">
            <a:normAutofit/>
          </a:bodyPr>
          <a:lstStyle>
            <a:lvl1pPr lvl="0" algn="l" rtl="0">
              <a:lnSpc>
                <a:spcPct val="100000"/>
              </a:lnSpc>
              <a:spcBef>
                <a:spcPts val="0"/>
              </a:spcBef>
              <a:spcAft>
                <a:spcPts val="0"/>
              </a:spcAft>
              <a:buClr>
                <a:schemeClr val="dk1"/>
              </a:buClr>
              <a:buSzPts val="2000"/>
              <a:buFont typeface="Calibri"/>
              <a:buNone/>
              <a:defRPr sz="2000" b="1" cap="none"/>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29" name="Google Shape;29;p5"/>
          <p:cNvSpPr txBox="1">
            <a:spLocks noGrp="1"/>
          </p:cNvSpPr>
          <p:nvPr>
            <p:ph type="body" idx="1"/>
          </p:nvPr>
        </p:nvSpPr>
        <p:spPr>
          <a:xfrm>
            <a:off x="361156" y="1453357"/>
            <a:ext cx="3886200" cy="750300"/>
          </a:xfrm>
          <a:prstGeom prst="rect">
            <a:avLst/>
          </a:prstGeom>
          <a:noFill/>
          <a:ln>
            <a:noFill/>
          </a:ln>
        </p:spPr>
        <p:txBody>
          <a:bodyPr spcFirstLastPara="1" wrap="square" lIns="45725" tIns="22850" rIns="45725" bIns="22850" anchor="b" anchorCtr="0">
            <a:normAutofit/>
          </a:bodyPr>
          <a:lstStyle>
            <a:lvl1pPr marL="457200" lvl="0" indent="-228600" algn="l" rtl="0">
              <a:lnSpc>
                <a:spcPct val="100000"/>
              </a:lnSpc>
              <a:spcBef>
                <a:spcPts val="200"/>
              </a:spcBef>
              <a:spcAft>
                <a:spcPts val="0"/>
              </a:spcAft>
              <a:buClr>
                <a:srgbClr val="888888"/>
              </a:buClr>
              <a:buSzPts val="1000"/>
              <a:buNone/>
              <a:defRPr sz="1000">
                <a:solidFill>
                  <a:srgbClr val="888888"/>
                </a:solidFill>
              </a:defRPr>
            </a:lvl1pPr>
            <a:lvl2pPr marL="914400" lvl="1" indent="-228600" algn="l" rtl="0">
              <a:lnSpc>
                <a:spcPct val="100000"/>
              </a:lnSpc>
              <a:spcBef>
                <a:spcPts val="200"/>
              </a:spcBef>
              <a:spcAft>
                <a:spcPts val="0"/>
              </a:spcAft>
              <a:buClr>
                <a:srgbClr val="888888"/>
              </a:buClr>
              <a:buSzPts val="900"/>
              <a:buNone/>
              <a:defRPr sz="900">
                <a:solidFill>
                  <a:srgbClr val="888888"/>
                </a:solidFill>
              </a:defRPr>
            </a:lvl2pPr>
            <a:lvl3pPr marL="1371600" lvl="2" indent="-228600" algn="l" rtl="0">
              <a:lnSpc>
                <a:spcPct val="100000"/>
              </a:lnSpc>
              <a:spcBef>
                <a:spcPts val="200"/>
              </a:spcBef>
              <a:spcAft>
                <a:spcPts val="0"/>
              </a:spcAft>
              <a:buClr>
                <a:srgbClr val="888888"/>
              </a:buClr>
              <a:buSzPts val="800"/>
              <a:buNone/>
              <a:defRPr sz="800">
                <a:solidFill>
                  <a:srgbClr val="888888"/>
                </a:solidFill>
              </a:defRPr>
            </a:lvl3pPr>
            <a:lvl4pPr marL="1828800" lvl="3" indent="-228600" algn="l" rtl="0">
              <a:lnSpc>
                <a:spcPct val="100000"/>
              </a:lnSpc>
              <a:spcBef>
                <a:spcPts val="100"/>
              </a:spcBef>
              <a:spcAft>
                <a:spcPts val="0"/>
              </a:spcAft>
              <a:buClr>
                <a:srgbClr val="888888"/>
              </a:buClr>
              <a:buSzPts val="700"/>
              <a:buNone/>
              <a:defRPr sz="700">
                <a:solidFill>
                  <a:srgbClr val="888888"/>
                </a:solidFill>
              </a:defRPr>
            </a:lvl4pPr>
            <a:lvl5pPr marL="2286000" lvl="4" indent="-228600" algn="l" rtl="0">
              <a:lnSpc>
                <a:spcPct val="100000"/>
              </a:lnSpc>
              <a:spcBef>
                <a:spcPts val="100"/>
              </a:spcBef>
              <a:spcAft>
                <a:spcPts val="0"/>
              </a:spcAft>
              <a:buClr>
                <a:srgbClr val="888888"/>
              </a:buClr>
              <a:buSzPts val="700"/>
              <a:buNone/>
              <a:defRPr sz="700">
                <a:solidFill>
                  <a:srgbClr val="888888"/>
                </a:solidFill>
              </a:defRPr>
            </a:lvl5pPr>
            <a:lvl6pPr marL="2743200" lvl="5" indent="-228600" algn="l" rtl="0">
              <a:lnSpc>
                <a:spcPct val="100000"/>
              </a:lnSpc>
              <a:spcBef>
                <a:spcPts val="100"/>
              </a:spcBef>
              <a:spcAft>
                <a:spcPts val="0"/>
              </a:spcAft>
              <a:buClr>
                <a:srgbClr val="888888"/>
              </a:buClr>
              <a:buSzPts val="700"/>
              <a:buNone/>
              <a:defRPr sz="700">
                <a:solidFill>
                  <a:srgbClr val="888888"/>
                </a:solidFill>
              </a:defRPr>
            </a:lvl6pPr>
            <a:lvl7pPr marL="3200400" lvl="6" indent="-228600" algn="l" rtl="0">
              <a:lnSpc>
                <a:spcPct val="100000"/>
              </a:lnSpc>
              <a:spcBef>
                <a:spcPts val="100"/>
              </a:spcBef>
              <a:spcAft>
                <a:spcPts val="0"/>
              </a:spcAft>
              <a:buClr>
                <a:srgbClr val="888888"/>
              </a:buClr>
              <a:buSzPts val="700"/>
              <a:buNone/>
              <a:defRPr sz="700">
                <a:solidFill>
                  <a:srgbClr val="888888"/>
                </a:solidFill>
              </a:defRPr>
            </a:lvl7pPr>
            <a:lvl8pPr marL="3657600" lvl="7" indent="-228600" algn="l" rtl="0">
              <a:lnSpc>
                <a:spcPct val="100000"/>
              </a:lnSpc>
              <a:spcBef>
                <a:spcPts val="100"/>
              </a:spcBef>
              <a:spcAft>
                <a:spcPts val="0"/>
              </a:spcAft>
              <a:buClr>
                <a:srgbClr val="888888"/>
              </a:buClr>
              <a:buSzPts val="700"/>
              <a:buNone/>
              <a:defRPr sz="700">
                <a:solidFill>
                  <a:srgbClr val="888888"/>
                </a:solidFill>
              </a:defRPr>
            </a:lvl8pPr>
            <a:lvl9pPr marL="4114800" lvl="8" indent="-228600" algn="l" rtl="0">
              <a:lnSpc>
                <a:spcPct val="100000"/>
              </a:lnSpc>
              <a:spcBef>
                <a:spcPts val="100"/>
              </a:spcBef>
              <a:spcAft>
                <a:spcPts val="0"/>
              </a:spcAft>
              <a:buClr>
                <a:srgbClr val="888888"/>
              </a:buClr>
              <a:buSzPts val="700"/>
              <a:buNone/>
              <a:defRPr sz="700">
                <a:solidFill>
                  <a:srgbClr val="888888"/>
                </a:solidFill>
              </a:defRPr>
            </a:lvl9pPr>
          </a:lstStyle>
          <a:p>
            <a:endParaRPr/>
          </a:p>
        </p:txBody>
      </p:sp>
      <p:sp>
        <p:nvSpPr>
          <p:cNvPr id="30" name="Google Shape;30;p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31" name="Google Shape;31;p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32" name="Google Shape;32;p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9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35" name="Google Shape;35;p6"/>
          <p:cNvSpPr txBox="1">
            <a:spLocks noGrp="1"/>
          </p:cNvSpPr>
          <p:nvPr>
            <p:ph type="body" idx="1"/>
          </p:nvPr>
        </p:nvSpPr>
        <p:spPr>
          <a:xfrm>
            <a:off x="228600" y="800100"/>
            <a:ext cx="2019300" cy="2263200"/>
          </a:xfrm>
          <a:prstGeom prst="rect">
            <a:avLst/>
          </a:prstGeom>
          <a:noFill/>
          <a:ln>
            <a:noFill/>
          </a:ln>
        </p:spPr>
        <p:txBody>
          <a:bodyPr spcFirstLastPara="1" wrap="square" lIns="45725" tIns="22850" rIns="45725" bIns="22850" anchor="t" anchorCtr="0">
            <a:normAutofit/>
          </a:bodyPr>
          <a:lstStyle>
            <a:lvl1pPr marL="457200" lvl="0" indent="-317500" algn="l" rtl="0">
              <a:lnSpc>
                <a:spcPct val="100000"/>
              </a:lnSpc>
              <a:spcBef>
                <a:spcPts val="300"/>
              </a:spcBef>
              <a:spcAft>
                <a:spcPts val="0"/>
              </a:spcAft>
              <a:buClr>
                <a:schemeClr val="dk1"/>
              </a:buClr>
              <a:buSzPts val="1400"/>
              <a:buChar char="•"/>
              <a:defRPr sz="1400"/>
            </a:lvl1pPr>
            <a:lvl2pPr marL="914400" lvl="1" indent="-304800" algn="l" rtl="0">
              <a:lnSpc>
                <a:spcPct val="100000"/>
              </a:lnSpc>
              <a:spcBef>
                <a:spcPts val="200"/>
              </a:spcBef>
              <a:spcAft>
                <a:spcPts val="0"/>
              </a:spcAft>
              <a:buClr>
                <a:schemeClr val="dk1"/>
              </a:buClr>
              <a:buSzPts val="1200"/>
              <a:buChar char="–"/>
              <a:defRPr sz="1200"/>
            </a:lvl2pPr>
            <a:lvl3pPr marL="1371600" lvl="2" indent="-292100" algn="l" rtl="0">
              <a:lnSpc>
                <a:spcPct val="100000"/>
              </a:lnSpc>
              <a:spcBef>
                <a:spcPts val="200"/>
              </a:spcBef>
              <a:spcAft>
                <a:spcPts val="0"/>
              </a:spcAft>
              <a:buClr>
                <a:schemeClr val="dk1"/>
              </a:buClr>
              <a:buSzPts val="1000"/>
              <a:buChar char="•"/>
              <a:defRPr sz="1000"/>
            </a:lvl3pPr>
            <a:lvl4pPr marL="1828800" lvl="3" indent="-285750" algn="l" rtl="0">
              <a:lnSpc>
                <a:spcPct val="100000"/>
              </a:lnSpc>
              <a:spcBef>
                <a:spcPts val="200"/>
              </a:spcBef>
              <a:spcAft>
                <a:spcPts val="0"/>
              </a:spcAft>
              <a:buClr>
                <a:schemeClr val="dk1"/>
              </a:buClr>
              <a:buSzPts val="900"/>
              <a:buChar char="–"/>
              <a:defRPr sz="900"/>
            </a:lvl4pPr>
            <a:lvl5pPr marL="2286000" lvl="4" indent="-285750" algn="l" rtl="0">
              <a:lnSpc>
                <a:spcPct val="100000"/>
              </a:lnSpc>
              <a:spcBef>
                <a:spcPts val="200"/>
              </a:spcBef>
              <a:spcAft>
                <a:spcPts val="0"/>
              </a:spcAft>
              <a:buClr>
                <a:schemeClr val="dk1"/>
              </a:buClr>
              <a:buSzPts val="900"/>
              <a:buChar char="»"/>
              <a:defRPr sz="900"/>
            </a:lvl5pPr>
            <a:lvl6pPr marL="2743200" lvl="5" indent="-285750" algn="l" rtl="0">
              <a:lnSpc>
                <a:spcPct val="100000"/>
              </a:lnSpc>
              <a:spcBef>
                <a:spcPts val="200"/>
              </a:spcBef>
              <a:spcAft>
                <a:spcPts val="0"/>
              </a:spcAft>
              <a:buClr>
                <a:schemeClr val="dk1"/>
              </a:buClr>
              <a:buSzPts val="900"/>
              <a:buChar char="•"/>
              <a:defRPr sz="900"/>
            </a:lvl6pPr>
            <a:lvl7pPr marL="3200400" lvl="6" indent="-285750" algn="l" rtl="0">
              <a:lnSpc>
                <a:spcPct val="100000"/>
              </a:lnSpc>
              <a:spcBef>
                <a:spcPts val="200"/>
              </a:spcBef>
              <a:spcAft>
                <a:spcPts val="0"/>
              </a:spcAft>
              <a:buClr>
                <a:schemeClr val="dk1"/>
              </a:buClr>
              <a:buSzPts val="900"/>
              <a:buChar char="•"/>
              <a:defRPr sz="900"/>
            </a:lvl7pPr>
            <a:lvl8pPr marL="3657600" lvl="7" indent="-285750" algn="l" rtl="0">
              <a:lnSpc>
                <a:spcPct val="100000"/>
              </a:lnSpc>
              <a:spcBef>
                <a:spcPts val="200"/>
              </a:spcBef>
              <a:spcAft>
                <a:spcPts val="0"/>
              </a:spcAft>
              <a:buClr>
                <a:schemeClr val="dk1"/>
              </a:buClr>
              <a:buSzPts val="900"/>
              <a:buChar char="•"/>
              <a:defRPr sz="900"/>
            </a:lvl8pPr>
            <a:lvl9pPr marL="4114800" lvl="8" indent="-285750" algn="l" rtl="0">
              <a:lnSpc>
                <a:spcPct val="100000"/>
              </a:lnSpc>
              <a:spcBef>
                <a:spcPts val="200"/>
              </a:spcBef>
              <a:spcAft>
                <a:spcPts val="0"/>
              </a:spcAft>
              <a:buClr>
                <a:schemeClr val="dk1"/>
              </a:buClr>
              <a:buSzPts val="900"/>
              <a:buChar char="•"/>
              <a:defRPr sz="900"/>
            </a:lvl9pPr>
          </a:lstStyle>
          <a:p>
            <a:endParaRPr/>
          </a:p>
        </p:txBody>
      </p:sp>
      <p:sp>
        <p:nvSpPr>
          <p:cNvPr id="36" name="Google Shape;36;p6"/>
          <p:cNvSpPr txBox="1">
            <a:spLocks noGrp="1"/>
          </p:cNvSpPr>
          <p:nvPr>
            <p:ph type="body" idx="2"/>
          </p:nvPr>
        </p:nvSpPr>
        <p:spPr>
          <a:xfrm>
            <a:off x="2324100" y="800100"/>
            <a:ext cx="2019300" cy="2263200"/>
          </a:xfrm>
          <a:prstGeom prst="rect">
            <a:avLst/>
          </a:prstGeom>
          <a:noFill/>
          <a:ln>
            <a:noFill/>
          </a:ln>
        </p:spPr>
        <p:txBody>
          <a:bodyPr spcFirstLastPara="1" wrap="square" lIns="45725" tIns="22850" rIns="45725" bIns="22850" anchor="t" anchorCtr="0">
            <a:normAutofit/>
          </a:bodyPr>
          <a:lstStyle>
            <a:lvl1pPr marL="457200" lvl="0" indent="-317500" algn="l" rtl="0">
              <a:lnSpc>
                <a:spcPct val="100000"/>
              </a:lnSpc>
              <a:spcBef>
                <a:spcPts val="300"/>
              </a:spcBef>
              <a:spcAft>
                <a:spcPts val="0"/>
              </a:spcAft>
              <a:buClr>
                <a:schemeClr val="dk1"/>
              </a:buClr>
              <a:buSzPts val="1400"/>
              <a:buChar char="•"/>
              <a:defRPr sz="1400"/>
            </a:lvl1pPr>
            <a:lvl2pPr marL="914400" lvl="1" indent="-304800" algn="l" rtl="0">
              <a:lnSpc>
                <a:spcPct val="100000"/>
              </a:lnSpc>
              <a:spcBef>
                <a:spcPts val="200"/>
              </a:spcBef>
              <a:spcAft>
                <a:spcPts val="0"/>
              </a:spcAft>
              <a:buClr>
                <a:schemeClr val="dk1"/>
              </a:buClr>
              <a:buSzPts val="1200"/>
              <a:buChar char="–"/>
              <a:defRPr sz="1200"/>
            </a:lvl2pPr>
            <a:lvl3pPr marL="1371600" lvl="2" indent="-292100" algn="l" rtl="0">
              <a:lnSpc>
                <a:spcPct val="100000"/>
              </a:lnSpc>
              <a:spcBef>
                <a:spcPts val="200"/>
              </a:spcBef>
              <a:spcAft>
                <a:spcPts val="0"/>
              </a:spcAft>
              <a:buClr>
                <a:schemeClr val="dk1"/>
              </a:buClr>
              <a:buSzPts val="1000"/>
              <a:buChar char="•"/>
              <a:defRPr sz="1000"/>
            </a:lvl3pPr>
            <a:lvl4pPr marL="1828800" lvl="3" indent="-285750" algn="l" rtl="0">
              <a:lnSpc>
                <a:spcPct val="100000"/>
              </a:lnSpc>
              <a:spcBef>
                <a:spcPts val="200"/>
              </a:spcBef>
              <a:spcAft>
                <a:spcPts val="0"/>
              </a:spcAft>
              <a:buClr>
                <a:schemeClr val="dk1"/>
              </a:buClr>
              <a:buSzPts val="900"/>
              <a:buChar char="–"/>
              <a:defRPr sz="900"/>
            </a:lvl4pPr>
            <a:lvl5pPr marL="2286000" lvl="4" indent="-285750" algn="l" rtl="0">
              <a:lnSpc>
                <a:spcPct val="100000"/>
              </a:lnSpc>
              <a:spcBef>
                <a:spcPts val="200"/>
              </a:spcBef>
              <a:spcAft>
                <a:spcPts val="0"/>
              </a:spcAft>
              <a:buClr>
                <a:schemeClr val="dk1"/>
              </a:buClr>
              <a:buSzPts val="900"/>
              <a:buChar char="»"/>
              <a:defRPr sz="900"/>
            </a:lvl5pPr>
            <a:lvl6pPr marL="2743200" lvl="5" indent="-285750" algn="l" rtl="0">
              <a:lnSpc>
                <a:spcPct val="100000"/>
              </a:lnSpc>
              <a:spcBef>
                <a:spcPts val="200"/>
              </a:spcBef>
              <a:spcAft>
                <a:spcPts val="0"/>
              </a:spcAft>
              <a:buClr>
                <a:schemeClr val="dk1"/>
              </a:buClr>
              <a:buSzPts val="900"/>
              <a:buChar char="•"/>
              <a:defRPr sz="900"/>
            </a:lvl6pPr>
            <a:lvl7pPr marL="3200400" lvl="6" indent="-285750" algn="l" rtl="0">
              <a:lnSpc>
                <a:spcPct val="100000"/>
              </a:lnSpc>
              <a:spcBef>
                <a:spcPts val="200"/>
              </a:spcBef>
              <a:spcAft>
                <a:spcPts val="0"/>
              </a:spcAft>
              <a:buClr>
                <a:schemeClr val="dk1"/>
              </a:buClr>
              <a:buSzPts val="900"/>
              <a:buChar char="•"/>
              <a:defRPr sz="900"/>
            </a:lvl7pPr>
            <a:lvl8pPr marL="3657600" lvl="7" indent="-285750" algn="l" rtl="0">
              <a:lnSpc>
                <a:spcPct val="100000"/>
              </a:lnSpc>
              <a:spcBef>
                <a:spcPts val="200"/>
              </a:spcBef>
              <a:spcAft>
                <a:spcPts val="0"/>
              </a:spcAft>
              <a:buClr>
                <a:schemeClr val="dk1"/>
              </a:buClr>
              <a:buSzPts val="900"/>
              <a:buChar char="•"/>
              <a:defRPr sz="900"/>
            </a:lvl8pPr>
            <a:lvl9pPr marL="4114800" lvl="8" indent="-285750" algn="l" rtl="0">
              <a:lnSpc>
                <a:spcPct val="100000"/>
              </a:lnSpc>
              <a:spcBef>
                <a:spcPts val="200"/>
              </a:spcBef>
              <a:spcAft>
                <a:spcPts val="0"/>
              </a:spcAft>
              <a:buClr>
                <a:schemeClr val="dk1"/>
              </a:buClr>
              <a:buSzPts val="900"/>
              <a:buChar char="•"/>
              <a:defRPr sz="900"/>
            </a:lvl9pPr>
          </a:lstStyle>
          <a:p>
            <a:endParaRPr/>
          </a:p>
        </p:txBody>
      </p:sp>
      <p:sp>
        <p:nvSpPr>
          <p:cNvPr id="37" name="Google Shape;37;p6"/>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38" name="Google Shape;38;p6"/>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39" name="Google Shape;39;p6"/>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2200"/>
              <a:buFont typeface="Calibri"/>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42" name="Google Shape;42;p7"/>
          <p:cNvSpPr txBox="1">
            <a:spLocks noGrp="1"/>
          </p:cNvSpPr>
          <p:nvPr>
            <p:ph type="body" idx="1"/>
          </p:nvPr>
        </p:nvSpPr>
        <p:spPr>
          <a:xfrm>
            <a:off x="228600" y="767556"/>
            <a:ext cx="2020200" cy="320100"/>
          </a:xfrm>
          <a:prstGeom prst="rect">
            <a:avLst/>
          </a:prstGeom>
          <a:noFill/>
          <a:ln>
            <a:noFill/>
          </a:ln>
        </p:spPr>
        <p:txBody>
          <a:bodyPr spcFirstLastPara="1" wrap="square" lIns="45725" tIns="22850" rIns="45725" bIns="22850" anchor="b" anchorCtr="0">
            <a:normAutofit/>
          </a:bodyPr>
          <a:lstStyle>
            <a:lvl1pPr marL="457200" lvl="0" indent="-228600" algn="l" rtl="0">
              <a:lnSpc>
                <a:spcPct val="100000"/>
              </a:lnSpc>
              <a:spcBef>
                <a:spcPts val="200"/>
              </a:spcBef>
              <a:spcAft>
                <a:spcPts val="0"/>
              </a:spcAft>
              <a:buClr>
                <a:schemeClr val="dk1"/>
              </a:buClr>
              <a:buSzPts val="1200"/>
              <a:buNone/>
              <a:defRPr sz="1200" b="1"/>
            </a:lvl1pPr>
            <a:lvl2pPr marL="914400" lvl="1" indent="-228600" algn="l" rtl="0">
              <a:lnSpc>
                <a:spcPct val="100000"/>
              </a:lnSpc>
              <a:spcBef>
                <a:spcPts val="200"/>
              </a:spcBef>
              <a:spcAft>
                <a:spcPts val="0"/>
              </a:spcAft>
              <a:buClr>
                <a:schemeClr val="dk1"/>
              </a:buClr>
              <a:buSzPts val="1000"/>
              <a:buNone/>
              <a:defRPr sz="1000" b="1"/>
            </a:lvl2pPr>
            <a:lvl3pPr marL="1371600" lvl="2" indent="-228600" algn="l" rtl="0">
              <a:lnSpc>
                <a:spcPct val="100000"/>
              </a:lnSpc>
              <a:spcBef>
                <a:spcPts val="200"/>
              </a:spcBef>
              <a:spcAft>
                <a:spcPts val="0"/>
              </a:spcAft>
              <a:buClr>
                <a:schemeClr val="dk1"/>
              </a:buClr>
              <a:buSzPts val="900"/>
              <a:buNone/>
              <a:defRPr sz="900" b="1"/>
            </a:lvl3pPr>
            <a:lvl4pPr marL="1828800" lvl="3" indent="-228600" algn="l" rtl="0">
              <a:lnSpc>
                <a:spcPct val="100000"/>
              </a:lnSpc>
              <a:spcBef>
                <a:spcPts val="200"/>
              </a:spcBef>
              <a:spcAft>
                <a:spcPts val="0"/>
              </a:spcAft>
              <a:buClr>
                <a:schemeClr val="dk1"/>
              </a:buClr>
              <a:buSzPts val="800"/>
              <a:buNone/>
              <a:defRPr sz="800" b="1"/>
            </a:lvl4pPr>
            <a:lvl5pPr marL="2286000" lvl="4" indent="-228600" algn="l" rtl="0">
              <a:lnSpc>
                <a:spcPct val="100000"/>
              </a:lnSpc>
              <a:spcBef>
                <a:spcPts val="200"/>
              </a:spcBef>
              <a:spcAft>
                <a:spcPts val="0"/>
              </a:spcAft>
              <a:buClr>
                <a:schemeClr val="dk1"/>
              </a:buClr>
              <a:buSzPts val="800"/>
              <a:buNone/>
              <a:defRPr sz="800" b="1"/>
            </a:lvl5pPr>
            <a:lvl6pPr marL="2743200" lvl="5" indent="-228600" algn="l" rtl="0">
              <a:lnSpc>
                <a:spcPct val="100000"/>
              </a:lnSpc>
              <a:spcBef>
                <a:spcPts val="200"/>
              </a:spcBef>
              <a:spcAft>
                <a:spcPts val="0"/>
              </a:spcAft>
              <a:buClr>
                <a:schemeClr val="dk1"/>
              </a:buClr>
              <a:buSzPts val="800"/>
              <a:buNone/>
              <a:defRPr sz="800" b="1"/>
            </a:lvl6pPr>
            <a:lvl7pPr marL="3200400" lvl="6" indent="-228600" algn="l" rtl="0">
              <a:lnSpc>
                <a:spcPct val="100000"/>
              </a:lnSpc>
              <a:spcBef>
                <a:spcPts val="200"/>
              </a:spcBef>
              <a:spcAft>
                <a:spcPts val="0"/>
              </a:spcAft>
              <a:buClr>
                <a:schemeClr val="dk1"/>
              </a:buClr>
              <a:buSzPts val="800"/>
              <a:buNone/>
              <a:defRPr sz="800" b="1"/>
            </a:lvl7pPr>
            <a:lvl8pPr marL="3657600" lvl="7" indent="-228600" algn="l" rtl="0">
              <a:lnSpc>
                <a:spcPct val="100000"/>
              </a:lnSpc>
              <a:spcBef>
                <a:spcPts val="200"/>
              </a:spcBef>
              <a:spcAft>
                <a:spcPts val="0"/>
              </a:spcAft>
              <a:buClr>
                <a:schemeClr val="dk1"/>
              </a:buClr>
              <a:buSzPts val="800"/>
              <a:buNone/>
              <a:defRPr sz="800" b="1"/>
            </a:lvl8pPr>
            <a:lvl9pPr marL="4114800" lvl="8" indent="-228600" algn="l" rtl="0">
              <a:lnSpc>
                <a:spcPct val="100000"/>
              </a:lnSpc>
              <a:spcBef>
                <a:spcPts val="200"/>
              </a:spcBef>
              <a:spcAft>
                <a:spcPts val="0"/>
              </a:spcAft>
              <a:buClr>
                <a:schemeClr val="dk1"/>
              </a:buClr>
              <a:buSzPts val="800"/>
              <a:buNone/>
              <a:defRPr sz="800" b="1"/>
            </a:lvl9pPr>
          </a:lstStyle>
          <a:p>
            <a:endParaRPr/>
          </a:p>
        </p:txBody>
      </p:sp>
      <p:sp>
        <p:nvSpPr>
          <p:cNvPr id="43" name="Google Shape;43;p7"/>
          <p:cNvSpPr txBox="1">
            <a:spLocks noGrp="1"/>
          </p:cNvSpPr>
          <p:nvPr>
            <p:ph type="body" idx="2"/>
          </p:nvPr>
        </p:nvSpPr>
        <p:spPr>
          <a:xfrm>
            <a:off x="228600" y="1087438"/>
            <a:ext cx="2020200" cy="1975800"/>
          </a:xfrm>
          <a:prstGeom prst="rect">
            <a:avLst/>
          </a:prstGeom>
          <a:noFill/>
          <a:ln>
            <a:noFill/>
          </a:ln>
        </p:spPr>
        <p:txBody>
          <a:bodyPr spcFirstLastPara="1" wrap="square" lIns="45725" tIns="22850" rIns="45725" bIns="22850" anchor="t" anchorCtr="0">
            <a:normAutofit/>
          </a:bodyPr>
          <a:lstStyle>
            <a:lvl1pPr marL="457200" lvl="0" indent="-304800" algn="l" rtl="0">
              <a:lnSpc>
                <a:spcPct val="100000"/>
              </a:lnSpc>
              <a:spcBef>
                <a:spcPts val="200"/>
              </a:spcBef>
              <a:spcAft>
                <a:spcPts val="0"/>
              </a:spcAft>
              <a:buClr>
                <a:schemeClr val="dk1"/>
              </a:buClr>
              <a:buSzPts val="1200"/>
              <a:buChar char="•"/>
              <a:defRPr sz="1200"/>
            </a:lvl1pPr>
            <a:lvl2pPr marL="914400" lvl="1" indent="-292100" algn="l" rtl="0">
              <a:lnSpc>
                <a:spcPct val="100000"/>
              </a:lnSpc>
              <a:spcBef>
                <a:spcPts val="200"/>
              </a:spcBef>
              <a:spcAft>
                <a:spcPts val="0"/>
              </a:spcAft>
              <a:buClr>
                <a:schemeClr val="dk1"/>
              </a:buClr>
              <a:buSzPts val="1000"/>
              <a:buChar char="–"/>
              <a:defRPr sz="1000"/>
            </a:lvl2pPr>
            <a:lvl3pPr marL="1371600" lvl="2" indent="-285750" algn="l" rtl="0">
              <a:lnSpc>
                <a:spcPct val="100000"/>
              </a:lnSpc>
              <a:spcBef>
                <a:spcPts val="200"/>
              </a:spcBef>
              <a:spcAft>
                <a:spcPts val="0"/>
              </a:spcAft>
              <a:buClr>
                <a:schemeClr val="dk1"/>
              </a:buClr>
              <a:buSzPts val="900"/>
              <a:buChar char="•"/>
              <a:defRPr sz="900"/>
            </a:lvl3pPr>
            <a:lvl4pPr marL="1828800" lvl="3" indent="-279400" algn="l" rtl="0">
              <a:lnSpc>
                <a:spcPct val="100000"/>
              </a:lnSpc>
              <a:spcBef>
                <a:spcPts val="200"/>
              </a:spcBef>
              <a:spcAft>
                <a:spcPts val="0"/>
              </a:spcAft>
              <a:buClr>
                <a:schemeClr val="dk1"/>
              </a:buClr>
              <a:buSzPts val="800"/>
              <a:buChar char="–"/>
              <a:defRPr sz="800"/>
            </a:lvl4pPr>
            <a:lvl5pPr marL="2286000" lvl="4" indent="-279400" algn="l" rtl="0">
              <a:lnSpc>
                <a:spcPct val="100000"/>
              </a:lnSpc>
              <a:spcBef>
                <a:spcPts val="200"/>
              </a:spcBef>
              <a:spcAft>
                <a:spcPts val="0"/>
              </a:spcAft>
              <a:buClr>
                <a:schemeClr val="dk1"/>
              </a:buClr>
              <a:buSzPts val="800"/>
              <a:buChar char="»"/>
              <a:defRPr sz="800"/>
            </a:lvl5pPr>
            <a:lvl6pPr marL="2743200" lvl="5" indent="-279400" algn="l" rtl="0">
              <a:lnSpc>
                <a:spcPct val="100000"/>
              </a:lnSpc>
              <a:spcBef>
                <a:spcPts val="200"/>
              </a:spcBef>
              <a:spcAft>
                <a:spcPts val="0"/>
              </a:spcAft>
              <a:buClr>
                <a:schemeClr val="dk1"/>
              </a:buClr>
              <a:buSzPts val="800"/>
              <a:buChar char="•"/>
              <a:defRPr sz="800"/>
            </a:lvl6pPr>
            <a:lvl7pPr marL="3200400" lvl="6" indent="-279400" algn="l" rtl="0">
              <a:lnSpc>
                <a:spcPct val="100000"/>
              </a:lnSpc>
              <a:spcBef>
                <a:spcPts val="200"/>
              </a:spcBef>
              <a:spcAft>
                <a:spcPts val="0"/>
              </a:spcAft>
              <a:buClr>
                <a:schemeClr val="dk1"/>
              </a:buClr>
              <a:buSzPts val="800"/>
              <a:buChar char="•"/>
              <a:defRPr sz="800"/>
            </a:lvl7pPr>
            <a:lvl8pPr marL="3657600" lvl="7" indent="-279400" algn="l" rtl="0">
              <a:lnSpc>
                <a:spcPct val="100000"/>
              </a:lnSpc>
              <a:spcBef>
                <a:spcPts val="200"/>
              </a:spcBef>
              <a:spcAft>
                <a:spcPts val="0"/>
              </a:spcAft>
              <a:buClr>
                <a:schemeClr val="dk1"/>
              </a:buClr>
              <a:buSzPts val="800"/>
              <a:buChar char="•"/>
              <a:defRPr sz="800"/>
            </a:lvl8pPr>
            <a:lvl9pPr marL="4114800" lvl="8" indent="-279400" algn="l" rtl="0">
              <a:lnSpc>
                <a:spcPct val="100000"/>
              </a:lnSpc>
              <a:spcBef>
                <a:spcPts val="200"/>
              </a:spcBef>
              <a:spcAft>
                <a:spcPts val="0"/>
              </a:spcAft>
              <a:buClr>
                <a:schemeClr val="dk1"/>
              </a:buClr>
              <a:buSzPts val="800"/>
              <a:buChar char="•"/>
              <a:defRPr sz="800"/>
            </a:lvl9pPr>
          </a:lstStyle>
          <a:p>
            <a:endParaRPr/>
          </a:p>
        </p:txBody>
      </p:sp>
      <p:sp>
        <p:nvSpPr>
          <p:cNvPr id="44" name="Google Shape;44;p7"/>
          <p:cNvSpPr txBox="1">
            <a:spLocks noGrp="1"/>
          </p:cNvSpPr>
          <p:nvPr>
            <p:ph type="body" idx="3"/>
          </p:nvPr>
        </p:nvSpPr>
        <p:spPr>
          <a:xfrm>
            <a:off x="2322513" y="767556"/>
            <a:ext cx="2021100" cy="320100"/>
          </a:xfrm>
          <a:prstGeom prst="rect">
            <a:avLst/>
          </a:prstGeom>
          <a:noFill/>
          <a:ln>
            <a:noFill/>
          </a:ln>
        </p:spPr>
        <p:txBody>
          <a:bodyPr spcFirstLastPara="1" wrap="square" lIns="45725" tIns="22850" rIns="45725" bIns="22850" anchor="b" anchorCtr="0">
            <a:normAutofit/>
          </a:bodyPr>
          <a:lstStyle>
            <a:lvl1pPr marL="457200" lvl="0" indent="-228600" algn="l" rtl="0">
              <a:lnSpc>
                <a:spcPct val="100000"/>
              </a:lnSpc>
              <a:spcBef>
                <a:spcPts val="200"/>
              </a:spcBef>
              <a:spcAft>
                <a:spcPts val="0"/>
              </a:spcAft>
              <a:buClr>
                <a:schemeClr val="dk1"/>
              </a:buClr>
              <a:buSzPts val="1200"/>
              <a:buNone/>
              <a:defRPr sz="1200" b="1"/>
            </a:lvl1pPr>
            <a:lvl2pPr marL="914400" lvl="1" indent="-228600" algn="l" rtl="0">
              <a:lnSpc>
                <a:spcPct val="100000"/>
              </a:lnSpc>
              <a:spcBef>
                <a:spcPts val="200"/>
              </a:spcBef>
              <a:spcAft>
                <a:spcPts val="0"/>
              </a:spcAft>
              <a:buClr>
                <a:schemeClr val="dk1"/>
              </a:buClr>
              <a:buSzPts val="1000"/>
              <a:buNone/>
              <a:defRPr sz="1000" b="1"/>
            </a:lvl2pPr>
            <a:lvl3pPr marL="1371600" lvl="2" indent="-228600" algn="l" rtl="0">
              <a:lnSpc>
                <a:spcPct val="100000"/>
              </a:lnSpc>
              <a:spcBef>
                <a:spcPts val="200"/>
              </a:spcBef>
              <a:spcAft>
                <a:spcPts val="0"/>
              </a:spcAft>
              <a:buClr>
                <a:schemeClr val="dk1"/>
              </a:buClr>
              <a:buSzPts val="900"/>
              <a:buNone/>
              <a:defRPr sz="900" b="1"/>
            </a:lvl3pPr>
            <a:lvl4pPr marL="1828800" lvl="3" indent="-228600" algn="l" rtl="0">
              <a:lnSpc>
                <a:spcPct val="100000"/>
              </a:lnSpc>
              <a:spcBef>
                <a:spcPts val="200"/>
              </a:spcBef>
              <a:spcAft>
                <a:spcPts val="0"/>
              </a:spcAft>
              <a:buClr>
                <a:schemeClr val="dk1"/>
              </a:buClr>
              <a:buSzPts val="800"/>
              <a:buNone/>
              <a:defRPr sz="800" b="1"/>
            </a:lvl4pPr>
            <a:lvl5pPr marL="2286000" lvl="4" indent="-228600" algn="l" rtl="0">
              <a:lnSpc>
                <a:spcPct val="100000"/>
              </a:lnSpc>
              <a:spcBef>
                <a:spcPts val="200"/>
              </a:spcBef>
              <a:spcAft>
                <a:spcPts val="0"/>
              </a:spcAft>
              <a:buClr>
                <a:schemeClr val="dk1"/>
              </a:buClr>
              <a:buSzPts val="800"/>
              <a:buNone/>
              <a:defRPr sz="800" b="1"/>
            </a:lvl5pPr>
            <a:lvl6pPr marL="2743200" lvl="5" indent="-228600" algn="l" rtl="0">
              <a:lnSpc>
                <a:spcPct val="100000"/>
              </a:lnSpc>
              <a:spcBef>
                <a:spcPts val="200"/>
              </a:spcBef>
              <a:spcAft>
                <a:spcPts val="0"/>
              </a:spcAft>
              <a:buClr>
                <a:schemeClr val="dk1"/>
              </a:buClr>
              <a:buSzPts val="800"/>
              <a:buNone/>
              <a:defRPr sz="800" b="1"/>
            </a:lvl6pPr>
            <a:lvl7pPr marL="3200400" lvl="6" indent="-228600" algn="l" rtl="0">
              <a:lnSpc>
                <a:spcPct val="100000"/>
              </a:lnSpc>
              <a:spcBef>
                <a:spcPts val="200"/>
              </a:spcBef>
              <a:spcAft>
                <a:spcPts val="0"/>
              </a:spcAft>
              <a:buClr>
                <a:schemeClr val="dk1"/>
              </a:buClr>
              <a:buSzPts val="800"/>
              <a:buNone/>
              <a:defRPr sz="800" b="1"/>
            </a:lvl7pPr>
            <a:lvl8pPr marL="3657600" lvl="7" indent="-228600" algn="l" rtl="0">
              <a:lnSpc>
                <a:spcPct val="100000"/>
              </a:lnSpc>
              <a:spcBef>
                <a:spcPts val="200"/>
              </a:spcBef>
              <a:spcAft>
                <a:spcPts val="0"/>
              </a:spcAft>
              <a:buClr>
                <a:schemeClr val="dk1"/>
              </a:buClr>
              <a:buSzPts val="800"/>
              <a:buNone/>
              <a:defRPr sz="800" b="1"/>
            </a:lvl8pPr>
            <a:lvl9pPr marL="4114800" lvl="8" indent="-228600" algn="l" rtl="0">
              <a:lnSpc>
                <a:spcPct val="100000"/>
              </a:lnSpc>
              <a:spcBef>
                <a:spcPts val="200"/>
              </a:spcBef>
              <a:spcAft>
                <a:spcPts val="0"/>
              </a:spcAft>
              <a:buClr>
                <a:schemeClr val="dk1"/>
              </a:buClr>
              <a:buSzPts val="800"/>
              <a:buNone/>
              <a:defRPr sz="800" b="1"/>
            </a:lvl9pPr>
          </a:lstStyle>
          <a:p>
            <a:endParaRPr/>
          </a:p>
        </p:txBody>
      </p:sp>
      <p:sp>
        <p:nvSpPr>
          <p:cNvPr id="45" name="Google Shape;45;p7"/>
          <p:cNvSpPr txBox="1">
            <a:spLocks noGrp="1"/>
          </p:cNvSpPr>
          <p:nvPr>
            <p:ph type="body" idx="4"/>
          </p:nvPr>
        </p:nvSpPr>
        <p:spPr>
          <a:xfrm>
            <a:off x="2322513" y="1087438"/>
            <a:ext cx="2021100" cy="1975800"/>
          </a:xfrm>
          <a:prstGeom prst="rect">
            <a:avLst/>
          </a:prstGeom>
          <a:noFill/>
          <a:ln>
            <a:noFill/>
          </a:ln>
        </p:spPr>
        <p:txBody>
          <a:bodyPr spcFirstLastPara="1" wrap="square" lIns="45725" tIns="22850" rIns="45725" bIns="22850" anchor="t" anchorCtr="0">
            <a:normAutofit/>
          </a:bodyPr>
          <a:lstStyle>
            <a:lvl1pPr marL="457200" lvl="0" indent="-304800" algn="l" rtl="0">
              <a:lnSpc>
                <a:spcPct val="100000"/>
              </a:lnSpc>
              <a:spcBef>
                <a:spcPts val="200"/>
              </a:spcBef>
              <a:spcAft>
                <a:spcPts val="0"/>
              </a:spcAft>
              <a:buClr>
                <a:schemeClr val="dk1"/>
              </a:buClr>
              <a:buSzPts val="1200"/>
              <a:buChar char="•"/>
              <a:defRPr sz="1200"/>
            </a:lvl1pPr>
            <a:lvl2pPr marL="914400" lvl="1" indent="-292100" algn="l" rtl="0">
              <a:lnSpc>
                <a:spcPct val="100000"/>
              </a:lnSpc>
              <a:spcBef>
                <a:spcPts val="200"/>
              </a:spcBef>
              <a:spcAft>
                <a:spcPts val="0"/>
              </a:spcAft>
              <a:buClr>
                <a:schemeClr val="dk1"/>
              </a:buClr>
              <a:buSzPts val="1000"/>
              <a:buChar char="–"/>
              <a:defRPr sz="1000"/>
            </a:lvl2pPr>
            <a:lvl3pPr marL="1371600" lvl="2" indent="-285750" algn="l" rtl="0">
              <a:lnSpc>
                <a:spcPct val="100000"/>
              </a:lnSpc>
              <a:spcBef>
                <a:spcPts val="200"/>
              </a:spcBef>
              <a:spcAft>
                <a:spcPts val="0"/>
              </a:spcAft>
              <a:buClr>
                <a:schemeClr val="dk1"/>
              </a:buClr>
              <a:buSzPts val="900"/>
              <a:buChar char="•"/>
              <a:defRPr sz="900"/>
            </a:lvl3pPr>
            <a:lvl4pPr marL="1828800" lvl="3" indent="-279400" algn="l" rtl="0">
              <a:lnSpc>
                <a:spcPct val="100000"/>
              </a:lnSpc>
              <a:spcBef>
                <a:spcPts val="200"/>
              </a:spcBef>
              <a:spcAft>
                <a:spcPts val="0"/>
              </a:spcAft>
              <a:buClr>
                <a:schemeClr val="dk1"/>
              </a:buClr>
              <a:buSzPts val="800"/>
              <a:buChar char="–"/>
              <a:defRPr sz="800"/>
            </a:lvl4pPr>
            <a:lvl5pPr marL="2286000" lvl="4" indent="-279400" algn="l" rtl="0">
              <a:lnSpc>
                <a:spcPct val="100000"/>
              </a:lnSpc>
              <a:spcBef>
                <a:spcPts val="200"/>
              </a:spcBef>
              <a:spcAft>
                <a:spcPts val="0"/>
              </a:spcAft>
              <a:buClr>
                <a:schemeClr val="dk1"/>
              </a:buClr>
              <a:buSzPts val="800"/>
              <a:buChar char="»"/>
              <a:defRPr sz="800"/>
            </a:lvl5pPr>
            <a:lvl6pPr marL="2743200" lvl="5" indent="-279400" algn="l" rtl="0">
              <a:lnSpc>
                <a:spcPct val="100000"/>
              </a:lnSpc>
              <a:spcBef>
                <a:spcPts val="200"/>
              </a:spcBef>
              <a:spcAft>
                <a:spcPts val="0"/>
              </a:spcAft>
              <a:buClr>
                <a:schemeClr val="dk1"/>
              </a:buClr>
              <a:buSzPts val="800"/>
              <a:buChar char="•"/>
              <a:defRPr sz="800"/>
            </a:lvl6pPr>
            <a:lvl7pPr marL="3200400" lvl="6" indent="-279400" algn="l" rtl="0">
              <a:lnSpc>
                <a:spcPct val="100000"/>
              </a:lnSpc>
              <a:spcBef>
                <a:spcPts val="200"/>
              </a:spcBef>
              <a:spcAft>
                <a:spcPts val="0"/>
              </a:spcAft>
              <a:buClr>
                <a:schemeClr val="dk1"/>
              </a:buClr>
              <a:buSzPts val="800"/>
              <a:buChar char="•"/>
              <a:defRPr sz="800"/>
            </a:lvl7pPr>
            <a:lvl8pPr marL="3657600" lvl="7" indent="-279400" algn="l" rtl="0">
              <a:lnSpc>
                <a:spcPct val="100000"/>
              </a:lnSpc>
              <a:spcBef>
                <a:spcPts val="200"/>
              </a:spcBef>
              <a:spcAft>
                <a:spcPts val="0"/>
              </a:spcAft>
              <a:buClr>
                <a:schemeClr val="dk1"/>
              </a:buClr>
              <a:buSzPts val="800"/>
              <a:buChar char="•"/>
              <a:defRPr sz="800"/>
            </a:lvl8pPr>
            <a:lvl9pPr marL="4114800" lvl="8" indent="-279400" algn="l" rtl="0">
              <a:lnSpc>
                <a:spcPct val="100000"/>
              </a:lnSpc>
              <a:spcBef>
                <a:spcPts val="200"/>
              </a:spcBef>
              <a:spcAft>
                <a:spcPts val="0"/>
              </a:spcAft>
              <a:buClr>
                <a:schemeClr val="dk1"/>
              </a:buClr>
              <a:buSzPts val="800"/>
              <a:buChar char="•"/>
              <a:defRPr sz="800"/>
            </a:lvl9pPr>
          </a:lstStyle>
          <a:p>
            <a:endParaRPr/>
          </a:p>
        </p:txBody>
      </p:sp>
      <p:sp>
        <p:nvSpPr>
          <p:cNvPr id="46" name="Google Shape;46;p7"/>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47" name="Google Shape;47;p7"/>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48" name="Google Shape;48;p7"/>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9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51" name="Google Shape;51;p8"/>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52" name="Google Shape;52;p8"/>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53" name="Google Shape;53;p8"/>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228600" y="136525"/>
            <a:ext cx="1504200" cy="581100"/>
          </a:xfrm>
          <a:prstGeom prst="rect">
            <a:avLst/>
          </a:prstGeom>
          <a:noFill/>
          <a:ln>
            <a:noFill/>
          </a:ln>
        </p:spPr>
        <p:txBody>
          <a:bodyPr spcFirstLastPara="1" wrap="square" lIns="45725" tIns="22850" rIns="45725" bIns="22850" anchor="b" anchorCtr="0">
            <a:normAutofit/>
          </a:bodyPr>
          <a:lstStyle>
            <a:lvl1pPr lvl="0" algn="l" rtl="0">
              <a:lnSpc>
                <a:spcPct val="100000"/>
              </a:lnSpc>
              <a:spcBef>
                <a:spcPts val="0"/>
              </a:spcBef>
              <a:spcAft>
                <a:spcPts val="0"/>
              </a:spcAft>
              <a:buClr>
                <a:schemeClr val="dk1"/>
              </a:buClr>
              <a:buSzPts val="1000"/>
              <a:buFont typeface="Calibri"/>
              <a:buNone/>
              <a:defRPr sz="1000" b="1"/>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56" name="Google Shape;56;p9"/>
          <p:cNvSpPr txBox="1">
            <a:spLocks noGrp="1"/>
          </p:cNvSpPr>
          <p:nvPr>
            <p:ph type="body" idx="1"/>
          </p:nvPr>
        </p:nvSpPr>
        <p:spPr>
          <a:xfrm>
            <a:off x="1787525" y="136525"/>
            <a:ext cx="2556000" cy="2926500"/>
          </a:xfrm>
          <a:prstGeom prst="rect">
            <a:avLst/>
          </a:prstGeom>
          <a:noFill/>
          <a:ln>
            <a:noFill/>
          </a:ln>
        </p:spPr>
        <p:txBody>
          <a:bodyPr spcFirstLastPara="1" wrap="square" lIns="45725" tIns="22850" rIns="45725" bIns="22850" anchor="t" anchorCtr="0">
            <a:normAutofit/>
          </a:bodyPr>
          <a:lstStyle>
            <a:lvl1pPr marL="457200" lvl="0" indent="-330200" algn="l" rtl="0">
              <a:lnSpc>
                <a:spcPct val="100000"/>
              </a:lnSpc>
              <a:spcBef>
                <a:spcPts val="300"/>
              </a:spcBef>
              <a:spcAft>
                <a:spcPts val="0"/>
              </a:spcAft>
              <a:buClr>
                <a:schemeClr val="dk1"/>
              </a:buClr>
              <a:buSzPts val="1600"/>
              <a:buChar char="•"/>
              <a:defRPr sz="1600"/>
            </a:lvl1pPr>
            <a:lvl2pPr marL="914400" lvl="1" indent="-317500" algn="l" rtl="0">
              <a:lnSpc>
                <a:spcPct val="100000"/>
              </a:lnSpc>
              <a:spcBef>
                <a:spcPts val="300"/>
              </a:spcBef>
              <a:spcAft>
                <a:spcPts val="0"/>
              </a:spcAft>
              <a:buClr>
                <a:schemeClr val="dk1"/>
              </a:buClr>
              <a:buSzPts val="1400"/>
              <a:buChar char="–"/>
              <a:defRPr sz="1400"/>
            </a:lvl2pPr>
            <a:lvl3pPr marL="1371600" lvl="2" indent="-304800" algn="l" rtl="0">
              <a:lnSpc>
                <a:spcPct val="100000"/>
              </a:lnSpc>
              <a:spcBef>
                <a:spcPts val="200"/>
              </a:spcBef>
              <a:spcAft>
                <a:spcPts val="0"/>
              </a:spcAft>
              <a:buClr>
                <a:schemeClr val="dk1"/>
              </a:buClr>
              <a:buSzPts val="1200"/>
              <a:buChar char="•"/>
              <a:defRPr sz="1200"/>
            </a:lvl3pPr>
            <a:lvl4pPr marL="1828800" lvl="3" indent="-292100" algn="l" rtl="0">
              <a:lnSpc>
                <a:spcPct val="100000"/>
              </a:lnSpc>
              <a:spcBef>
                <a:spcPts val="200"/>
              </a:spcBef>
              <a:spcAft>
                <a:spcPts val="0"/>
              </a:spcAft>
              <a:buClr>
                <a:schemeClr val="dk1"/>
              </a:buClr>
              <a:buSzPts val="1000"/>
              <a:buChar char="–"/>
              <a:defRPr sz="1000"/>
            </a:lvl4pPr>
            <a:lvl5pPr marL="2286000" lvl="4" indent="-292100" algn="l" rtl="0">
              <a:lnSpc>
                <a:spcPct val="100000"/>
              </a:lnSpc>
              <a:spcBef>
                <a:spcPts val="200"/>
              </a:spcBef>
              <a:spcAft>
                <a:spcPts val="0"/>
              </a:spcAft>
              <a:buClr>
                <a:schemeClr val="dk1"/>
              </a:buClr>
              <a:buSzPts val="1000"/>
              <a:buChar char="»"/>
              <a:defRPr sz="1000"/>
            </a:lvl5pPr>
            <a:lvl6pPr marL="2743200" lvl="5" indent="-292100" algn="l" rtl="0">
              <a:lnSpc>
                <a:spcPct val="100000"/>
              </a:lnSpc>
              <a:spcBef>
                <a:spcPts val="200"/>
              </a:spcBef>
              <a:spcAft>
                <a:spcPts val="0"/>
              </a:spcAft>
              <a:buClr>
                <a:schemeClr val="dk1"/>
              </a:buClr>
              <a:buSzPts val="1000"/>
              <a:buChar char="•"/>
              <a:defRPr sz="1000"/>
            </a:lvl6pPr>
            <a:lvl7pPr marL="3200400" lvl="6" indent="-292100" algn="l" rtl="0">
              <a:lnSpc>
                <a:spcPct val="100000"/>
              </a:lnSpc>
              <a:spcBef>
                <a:spcPts val="200"/>
              </a:spcBef>
              <a:spcAft>
                <a:spcPts val="0"/>
              </a:spcAft>
              <a:buClr>
                <a:schemeClr val="dk1"/>
              </a:buClr>
              <a:buSzPts val="1000"/>
              <a:buChar char="•"/>
              <a:defRPr sz="1000"/>
            </a:lvl7pPr>
            <a:lvl8pPr marL="3657600" lvl="7" indent="-292100" algn="l" rtl="0">
              <a:lnSpc>
                <a:spcPct val="100000"/>
              </a:lnSpc>
              <a:spcBef>
                <a:spcPts val="200"/>
              </a:spcBef>
              <a:spcAft>
                <a:spcPts val="0"/>
              </a:spcAft>
              <a:buClr>
                <a:schemeClr val="dk1"/>
              </a:buClr>
              <a:buSzPts val="1000"/>
              <a:buChar char="•"/>
              <a:defRPr sz="1000"/>
            </a:lvl8pPr>
            <a:lvl9pPr marL="4114800" lvl="8" indent="-292100" algn="l" rtl="0">
              <a:lnSpc>
                <a:spcPct val="100000"/>
              </a:lnSpc>
              <a:spcBef>
                <a:spcPts val="200"/>
              </a:spcBef>
              <a:spcAft>
                <a:spcPts val="0"/>
              </a:spcAft>
              <a:buClr>
                <a:schemeClr val="dk1"/>
              </a:buClr>
              <a:buSzPts val="1000"/>
              <a:buChar char="•"/>
              <a:defRPr sz="1000"/>
            </a:lvl9pPr>
          </a:lstStyle>
          <a:p>
            <a:endParaRPr/>
          </a:p>
        </p:txBody>
      </p:sp>
      <p:sp>
        <p:nvSpPr>
          <p:cNvPr id="57" name="Google Shape;57;p9"/>
          <p:cNvSpPr txBox="1">
            <a:spLocks noGrp="1"/>
          </p:cNvSpPr>
          <p:nvPr>
            <p:ph type="body" idx="2"/>
          </p:nvPr>
        </p:nvSpPr>
        <p:spPr>
          <a:xfrm>
            <a:off x="228600" y="717550"/>
            <a:ext cx="1504200" cy="2345700"/>
          </a:xfrm>
          <a:prstGeom prst="rect">
            <a:avLst/>
          </a:prstGeom>
          <a:noFill/>
          <a:ln>
            <a:noFill/>
          </a:ln>
        </p:spPr>
        <p:txBody>
          <a:bodyPr spcFirstLastPara="1" wrap="square" lIns="45725" tIns="22850" rIns="45725" bIns="22850" anchor="t" anchorCtr="0">
            <a:normAutofit/>
          </a:bodyPr>
          <a:lstStyle>
            <a:lvl1pPr marL="457200" lvl="0" indent="-228600" algn="l" rtl="0">
              <a:lnSpc>
                <a:spcPct val="100000"/>
              </a:lnSpc>
              <a:spcBef>
                <a:spcPts val="100"/>
              </a:spcBef>
              <a:spcAft>
                <a:spcPts val="0"/>
              </a:spcAft>
              <a:buClr>
                <a:schemeClr val="dk1"/>
              </a:buClr>
              <a:buSzPts val="700"/>
              <a:buNone/>
              <a:defRPr sz="700"/>
            </a:lvl1pPr>
            <a:lvl2pPr marL="914400" lvl="1" indent="-228600" algn="l" rtl="0">
              <a:lnSpc>
                <a:spcPct val="100000"/>
              </a:lnSpc>
              <a:spcBef>
                <a:spcPts val="100"/>
              </a:spcBef>
              <a:spcAft>
                <a:spcPts val="0"/>
              </a:spcAft>
              <a:buClr>
                <a:schemeClr val="dk1"/>
              </a:buClr>
              <a:buSzPts val="600"/>
              <a:buNone/>
              <a:defRPr sz="600"/>
            </a:lvl2pPr>
            <a:lvl3pPr marL="1371600" lvl="2" indent="-228600" algn="l" rtl="0">
              <a:lnSpc>
                <a:spcPct val="100000"/>
              </a:lnSpc>
              <a:spcBef>
                <a:spcPts val="100"/>
              </a:spcBef>
              <a:spcAft>
                <a:spcPts val="0"/>
              </a:spcAft>
              <a:buClr>
                <a:schemeClr val="dk1"/>
              </a:buClr>
              <a:buSzPts val="500"/>
              <a:buNone/>
              <a:defRPr sz="500"/>
            </a:lvl3pPr>
            <a:lvl4pPr marL="1828800" lvl="3" indent="-228600" algn="l" rtl="0">
              <a:lnSpc>
                <a:spcPct val="100000"/>
              </a:lnSpc>
              <a:spcBef>
                <a:spcPts val="100"/>
              </a:spcBef>
              <a:spcAft>
                <a:spcPts val="0"/>
              </a:spcAft>
              <a:buClr>
                <a:schemeClr val="dk1"/>
              </a:buClr>
              <a:buSzPts val="500"/>
              <a:buNone/>
              <a:defRPr sz="500"/>
            </a:lvl4pPr>
            <a:lvl5pPr marL="2286000" lvl="4" indent="-228600" algn="l" rtl="0">
              <a:lnSpc>
                <a:spcPct val="100000"/>
              </a:lnSpc>
              <a:spcBef>
                <a:spcPts val="100"/>
              </a:spcBef>
              <a:spcAft>
                <a:spcPts val="0"/>
              </a:spcAft>
              <a:buClr>
                <a:schemeClr val="dk1"/>
              </a:buClr>
              <a:buSzPts val="500"/>
              <a:buNone/>
              <a:defRPr sz="500"/>
            </a:lvl5pPr>
            <a:lvl6pPr marL="2743200" lvl="5" indent="-228600" algn="l" rtl="0">
              <a:lnSpc>
                <a:spcPct val="100000"/>
              </a:lnSpc>
              <a:spcBef>
                <a:spcPts val="100"/>
              </a:spcBef>
              <a:spcAft>
                <a:spcPts val="0"/>
              </a:spcAft>
              <a:buClr>
                <a:schemeClr val="dk1"/>
              </a:buClr>
              <a:buSzPts val="500"/>
              <a:buNone/>
              <a:defRPr sz="500"/>
            </a:lvl6pPr>
            <a:lvl7pPr marL="3200400" lvl="6" indent="-228600" algn="l" rtl="0">
              <a:lnSpc>
                <a:spcPct val="100000"/>
              </a:lnSpc>
              <a:spcBef>
                <a:spcPts val="100"/>
              </a:spcBef>
              <a:spcAft>
                <a:spcPts val="0"/>
              </a:spcAft>
              <a:buClr>
                <a:schemeClr val="dk1"/>
              </a:buClr>
              <a:buSzPts val="500"/>
              <a:buNone/>
              <a:defRPr sz="500"/>
            </a:lvl7pPr>
            <a:lvl8pPr marL="3657600" lvl="7" indent="-228600" algn="l" rtl="0">
              <a:lnSpc>
                <a:spcPct val="100000"/>
              </a:lnSpc>
              <a:spcBef>
                <a:spcPts val="100"/>
              </a:spcBef>
              <a:spcAft>
                <a:spcPts val="0"/>
              </a:spcAft>
              <a:buClr>
                <a:schemeClr val="dk1"/>
              </a:buClr>
              <a:buSzPts val="500"/>
              <a:buNone/>
              <a:defRPr sz="500"/>
            </a:lvl8pPr>
            <a:lvl9pPr marL="4114800" lvl="8" indent="-228600" algn="l" rtl="0">
              <a:lnSpc>
                <a:spcPct val="100000"/>
              </a:lnSpc>
              <a:spcBef>
                <a:spcPts val="100"/>
              </a:spcBef>
              <a:spcAft>
                <a:spcPts val="0"/>
              </a:spcAft>
              <a:buClr>
                <a:schemeClr val="dk1"/>
              </a:buClr>
              <a:buSzPts val="500"/>
              <a:buNone/>
              <a:defRPr sz="500"/>
            </a:lvl9pPr>
          </a:lstStyle>
          <a:p>
            <a:endParaRPr/>
          </a:p>
        </p:txBody>
      </p:sp>
      <p:sp>
        <p:nvSpPr>
          <p:cNvPr id="58" name="Google Shape;58;p9"/>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59" name="Google Shape;59;p9"/>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60" name="Google Shape;60;p9"/>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96144" y="2400300"/>
            <a:ext cx="2743200" cy="283500"/>
          </a:xfrm>
          <a:prstGeom prst="rect">
            <a:avLst/>
          </a:prstGeom>
          <a:noFill/>
          <a:ln>
            <a:noFill/>
          </a:ln>
        </p:spPr>
        <p:txBody>
          <a:bodyPr spcFirstLastPara="1" wrap="square" lIns="45725" tIns="22850" rIns="45725" bIns="22850" anchor="b" anchorCtr="0">
            <a:normAutofit/>
          </a:bodyPr>
          <a:lstStyle>
            <a:lvl1pPr lvl="0" algn="l" rtl="0">
              <a:lnSpc>
                <a:spcPct val="100000"/>
              </a:lnSpc>
              <a:spcBef>
                <a:spcPts val="0"/>
              </a:spcBef>
              <a:spcAft>
                <a:spcPts val="0"/>
              </a:spcAft>
              <a:buClr>
                <a:schemeClr val="dk1"/>
              </a:buClr>
              <a:buSzPts val="1000"/>
              <a:buFont typeface="Calibri"/>
              <a:buNone/>
              <a:defRPr sz="1000" b="1"/>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63" name="Google Shape;63;p10"/>
          <p:cNvSpPr>
            <a:spLocks noGrp="1"/>
          </p:cNvSpPr>
          <p:nvPr>
            <p:ph type="pic" idx="2"/>
          </p:nvPr>
        </p:nvSpPr>
        <p:spPr>
          <a:xfrm>
            <a:off x="896144" y="306388"/>
            <a:ext cx="2743200" cy="2057400"/>
          </a:xfrm>
          <a:prstGeom prst="rect">
            <a:avLst/>
          </a:prstGeom>
          <a:noFill/>
          <a:ln>
            <a:noFill/>
          </a:ln>
        </p:spPr>
      </p:sp>
      <p:sp>
        <p:nvSpPr>
          <p:cNvPr id="64" name="Google Shape;64;p10"/>
          <p:cNvSpPr txBox="1">
            <a:spLocks noGrp="1"/>
          </p:cNvSpPr>
          <p:nvPr>
            <p:ph type="body" idx="1"/>
          </p:nvPr>
        </p:nvSpPr>
        <p:spPr>
          <a:xfrm>
            <a:off x="896144" y="2683669"/>
            <a:ext cx="2743200" cy="402600"/>
          </a:xfrm>
          <a:prstGeom prst="rect">
            <a:avLst/>
          </a:prstGeom>
          <a:noFill/>
          <a:ln>
            <a:noFill/>
          </a:ln>
        </p:spPr>
        <p:txBody>
          <a:bodyPr spcFirstLastPara="1" wrap="square" lIns="45725" tIns="22850" rIns="45725" bIns="22850" anchor="t" anchorCtr="0">
            <a:normAutofit/>
          </a:bodyPr>
          <a:lstStyle>
            <a:lvl1pPr marL="457200" lvl="0" indent="-228600" algn="l" rtl="0">
              <a:lnSpc>
                <a:spcPct val="100000"/>
              </a:lnSpc>
              <a:spcBef>
                <a:spcPts val="100"/>
              </a:spcBef>
              <a:spcAft>
                <a:spcPts val="0"/>
              </a:spcAft>
              <a:buClr>
                <a:schemeClr val="dk1"/>
              </a:buClr>
              <a:buSzPts val="700"/>
              <a:buNone/>
              <a:defRPr sz="700"/>
            </a:lvl1pPr>
            <a:lvl2pPr marL="914400" lvl="1" indent="-228600" algn="l" rtl="0">
              <a:lnSpc>
                <a:spcPct val="100000"/>
              </a:lnSpc>
              <a:spcBef>
                <a:spcPts val="100"/>
              </a:spcBef>
              <a:spcAft>
                <a:spcPts val="0"/>
              </a:spcAft>
              <a:buClr>
                <a:schemeClr val="dk1"/>
              </a:buClr>
              <a:buSzPts val="600"/>
              <a:buNone/>
              <a:defRPr sz="600"/>
            </a:lvl2pPr>
            <a:lvl3pPr marL="1371600" lvl="2" indent="-228600" algn="l" rtl="0">
              <a:lnSpc>
                <a:spcPct val="100000"/>
              </a:lnSpc>
              <a:spcBef>
                <a:spcPts val="100"/>
              </a:spcBef>
              <a:spcAft>
                <a:spcPts val="0"/>
              </a:spcAft>
              <a:buClr>
                <a:schemeClr val="dk1"/>
              </a:buClr>
              <a:buSzPts val="500"/>
              <a:buNone/>
              <a:defRPr sz="500"/>
            </a:lvl3pPr>
            <a:lvl4pPr marL="1828800" lvl="3" indent="-228600" algn="l" rtl="0">
              <a:lnSpc>
                <a:spcPct val="100000"/>
              </a:lnSpc>
              <a:spcBef>
                <a:spcPts val="100"/>
              </a:spcBef>
              <a:spcAft>
                <a:spcPts val="0"/>
              </a:spcAft>
              <a:buClr>
                <a:schemeClr val="dk1"/>
              </a:buClr>
              <a:buSzPts val="500"/>
              <a:buNone/>
              <a:defRPr sz="500"/>
            </a:lvl4pPr>
            <a:lvl5pPr marL="2286000" lvl="4" indent="-228600" algn="l" rtl="0">
              <a:lnSpc>
                <a:spcPct val="100000"/>
              </a:lnSpc>
              <a:spcBef>
                <a:spcPts val="100"/>
              </a:spcBef>
              <a:spcAft>
                <a:spcPts val="0"/>
              </a:spcAft>
              <a:buClr>
                <a:schemeClr val="dk1"/>
              </a:buClr>
              <a:buSzPts val="500"/>
              <a:buNone/>
              <a:defRPr sz="500"/>
            </a:lvl5pPr>
            <a:lvl6pPr marL="2743200" lvl="5" indent="-228600" algn="l" rtl="0">
              <a:lnSpc>
                <a:spcPct val="100000"/>
              </a:lnSpc>
              <a:spcBef>
                <a:spcPts val="100"/>
              </a:spcBef>
              <a:spcAft>
                <a:spcPts val="0"/>
              </a:spcAft>
              <a:buClr>
                <a:schemeClr val="dk1"/>
              </a:buClr>
              <a:buSzPts val="500"/>
              <a:buNone/>
              <a:defRPr sz="500"/>
            </a:lvl6pPr>
            <a:lvl7pPr marL="3200400" lvl="6" indent="-228600" algn="l" rtl="0">
              <a:lnSpc>
                <a:spcPct val="100000"/>
              </a:lnSpc>
              <a:spcBef>
                <a:spcPts val="100"/>
              </a:spcBef>
              <a:spcAft>
                <a:spcPts val="0"/>
              </a:spcAft>
              <a:buClr>
                <a:schemeClr val="dk1"/>
              </a:buClr>
              <a:buSzPts val="500"/>
              <a:buNone/>
              <a:defRPr sz="500"/>
            </a:lvl7pPr>
            <a:lvl8pPr marL="3657600" lvl="7" indent="-228600" algn="l" rtl="0">
              <a:lnSpc>
                <a:spcPct val="100000"/>
              </a:lnSpc>
              <a:spcBef>
                <a:spcPts val="100"/>
              </a:spcBef>
              <a:spcAft>
                <a:spcPts val="0"/>
              </a:spcAft>
              <a:buClr>
                <a:schemeClr val="dk1"/>
              </a:buClr>
              <a:buSzPts val="500"/>
              <a:buNone/>
              <a:defRPr sz="500"/>
            </a:lvl8pPr>
            <a:lvl9pPr marL="4114800" lvl="8" indent="-228600" algn="l" rtl="0">
              <a:lnSpc>
                <a:spcPct val="100000"/>
              </a:lnSpc>
              <a:spcBef>
                <a:spcPts val="100"/>
              </a:spcBef>
              <a:spcAft>
                <a:spcPts val="0"/>
              </a:spcAft>
              <a:buClr>
                <a:schemeClr val="dk1"/>
              </a:buClr>
              <a:buSzPts val="500"/>
              <a:buNone/>
              <a:defRPr sz="500"/>
            </a:lvl9pPr>
          </a:lstStyle>
          <a:p>
            <a:endParaRPr/>
          </a:p>
        </p:txBody>
      </p:sp>
      <p:sp>
        <p:nvSpPr>
          <p:cNvPr id="65" name="Google Shape;65;p10"/>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66" name="Google Shape;66;p10"/>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67" name="Google Shape;67;p10"/>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9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70" name="Google Shape;70;p11"/>
          <p:cNvSpPr txBox="1">
            <a:spLocks noGrp="1"/>
          </p:cNvSpPr>
          <p:nvPr>
            <p:ph type="body" idx="1"/>
          </p:nvPr>
        </p:nvSpPr>
        <p:spPr>
          <a:xfrm rot="5400000">
            <a:off x="1154400" y="-125700"/>
            <a:ext cx="2263200" cy="4114800"/>
          </a:xfrm>
          <a:prstGeom prst="rect">
            <a:avLst/>
          </a:prstGeom>
          <a:noFill/>
          <a:ln>
            <a:noFill/>
          </a:ln>
        </p:spPr>
        <p:txBody>
          <a:bodyPr spcFirstLastPara="1" wrap="square" lIns="45725" tIns="22850" rIns="45725" bIns="22850" anchor="t" anchorCtr="0">
            <a:normAutofit/>
          </a:bodyPr>
          <a:lstStyle>
            <a:lvl1pPr marL="457200" lvl="0" indent="-285750" algn="l" rtl="0">
              <a:lnSpc>
                <a:spcPct val="100000"/>
              </a:lnSpc>
              <a:spcBef>
                <a:spcPts val="200"/>
              </a:spcBef>
              <a:spcAft>
                <a:spcPts val="0"/>
              </a:spcAft>
              <a:buClr>
                <a:schemeClr val="dk1"/>
              </a:buClr>
              <a:buSzPts val="900"/>
              <a:buChar char="•"/>
              <a:defRPr/>
            </a:lvl1pPr>
            <a:lvl2pPr marL="914400" lvl="1" indent="-285750" algn="l" rtl="0">
              <a:lnSpc>
                <a:spcPct val="100000"/>
              </a:lnSpc>
              <a:spcBef>
                <a:spcPts val="200"/>
              </a:spcBef>
              <a:spcAft>
                <a:spcPts val="0"/>
              </a:spcAft>
              <a:buClr>
                <a:schemeClr val="dk1"/>
              </a:buClr>
              <a:buSzPts val="900"/>
              <a:buChar char="–"/>
              <a:defRPr/>
            </a:lvl2pPr>
            <a:lvl3pPr marL="1371600" lvl="2" indent="-285750" algn="l" rtl="0">
              <a:lnSpc>
                <a:spcPct val="100000"/>
              </a:lnSpc>
              <a:spcBef>
                <a:spcPts val="200"/>
              </a:spcBef>
              <a:spcAft>
                <a:spcPts val="0"/>
              </a:spcAft>
              <a:buClr>
                <a:schemeClr val="dk1"/>
              </a:buClr>
              <a:buSzPts val="900"/>
              <a:buChar char="•"/>
              <a:defRPr/>
            </a:lvl3pPr>
            <a:lvl4pPr marL="1828800" lvl="3" indent="-285750" algn="l" rtl="0">
              <a:lnSpc>
                <a:spcPct val="100000"/>
              </a:lnSpc>
              <a:spcBef>
                <a:spcPts val="200"/>
              </a:spcBef>
              <a:spcAft>
                <a:spcPts val="0"/>
              </a:spcAft>
              <a:buClr>
                <a:schemeClr val="dk1"/>
              </a:buClr>
              <a:buSzPts val="900"/>
              <a:buChar char="–"/>
              <a:defRPr/>
            </a:lvl4pPr>
            <a:lvl5pPr marL="2286000" lvl="4" indent="-285750" algn="l" rtl="0">
              <a:lnSpc>
                <a:spcPct val="100000"/>
              </a:lnSpc>
              <a:spcBef>
                <a:spcPts val="200"/>
              </a:spcBef>
              <a:spcAft>
                <a:spcPts val="0"/>
              </a:spcAft>
              <a:buClr>
                <a:schemeClr val="dk1"/>
              </a:buClr>
              <a:buSzPts val="900"/>
              <a:buChar char="»"/>
              <a:defRPr/>
            </a:lvl5pPr>
            <a:lvl6pPr marL="2743200" lvl="5" indent="-285750" algn="l" rtl="0">
              <a:lnSpc>
                <a:spcPct val="100000"/>
              </a:lnSpc>
              <a:spcBef>
                <a:spcPts val="200"/>
              </a:spcBef>
              <a:spcAft>
                <a:spcPts val="0"/>
              </a:spcAft>
              <a:buClr>
                <a:schemeClr val="dk1"/>
              </a:buClr>
              <a:buSzPts val="900"/>
              <a:buChar char="•"/>
              <a:defRPr/>
            </a:lvl6pPr>
            <a:lvl7pPr marL="3200400" lvl="6" indent="-285750" algn="l" rtl="0">
              <a:lnSpc>
                <a:spcPct val="100000"/>
              </a:lnSpc>
              <a:spcBef>
                <a:spcPts val="200"/>
              </a:spcBef>
              <a:spcAft>
                <a:spcPts val="0"/>
              </a:spcAft>
              <a:buClr>
                <a:schemeClr val="dk1"/>
              </a:buClr>
              <a:buSzPts val="900"/>
              <a:buChar char="•"/>
              <a:defRPr/>
            </a:lvl7pPr>
            <a:lvl8pPr marL="3657600" lvl="7" indent="-285750" algn="l" rtl="0">
              <a:lnSpc>
                <a:spcPct val="100000"/>
              </a:lnSpc>
              <a:spcBef>
                <a:spcPts val="200"/>
              </a:spcBef>
              <a:spcAft>
                <a:spcPts val="0"/>
              </a:spcAft>
              <a:buClr>
                <a:schemeClr val="dk1"/>
              </a:buClr>
              <a:buSzPts val="900"/>
              <a:buChar char="•"/>
              <a:defRPr/>
            </a:lvl8pPr>
            <a:lvl9pPr marL="4114800" lvl="8" indent="-285750" algn="l" rtl="0">
              <a:lnSpc>
                <a:spcPct val="100000"/>
              </a:lnSpc>
              <a:spcBef>
                <a:spcPts val="200"/>
              </a:spcBef>
              <a:spcAft>
                <a:spcPts val="0"/>
              </a:spcAft>
              <a:buClr>
                <a:schemeClr val="dk1"/>
              </a:buClr>
              <a:buSzPts val="900"/>
              <a:buChar char="•"/>
              <a:defRPr/>
            </a:lvl9pPr>
          </a:lstStyle>
          <a:p>
            <a:endParaRPr/>
          </a:p>
        </p:txBody>
      </p:sp>
      <p:sp>
        <p:nvSpPr>
          <p:cNvPr id="71" name="Google Shape;71;p11"/>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72" name="Google Shape;72;p11"/>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73" name="Google Shape;73;p11"/>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2366100" y="1085919"/>
            <a:ext cx="2925900" cy="1028700"/>
          </a:xfrm>
          <a:prstGeom prst="rect">
            <a:avLst/>
          </a:prstGeom>
          <a:noFill/>
          <a:ln>
            <a:noFill/>
          </a:ln>
        </p:spPr>
        <p:txBody>
          <a:bodyPr spcFirstLastPara="1" wrap="square" lIns="45725" tIns="22850" rIns="45725" bIns="22850" anchor="ctr" anchorCtr="0">
            <a:normAutofit/>
          </a:bodyPr>
          <a:lstStyle>
            <a:lvl1pPr lvl="0" algn="ctr" rtl="0">
              <a:lnSpc>
                <a:spcPct val="100000"/>
              </a:lnSpc>
              <a:spcBef>
                <a:spcPts val="0"/>
              </a:spcBef>
              <a:spcAft>
                <a:spcPts val="0"/>
              </a:spcAft>
              <a:buClr>
                <a:schemeClr val="dk1"/>
              </a:buClr>
              <a:buSzPts val="9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76" name="Google Shape;76;p12"/>
          <p:cNvSpPr txBox="1">
            <a:spLocks noGrp="1"/>
          </p:cNvSpPr>
          <p:nvPr>
            <p:ph type="body" idx="1"/>
          </p:nvPr>
        </p:nvSpPr>
        <p:spPr>
          <a:xfrm rot="5400000">
            <a:off x="270600" y="95319"/>
            <a:ext cx="2925900" cy="3009900"/>
          </a:xfrm>
          <a:prstGeom prst="rect">
            <a:avLst/>
          </a:prstGeom>
          <a:noFill/>
          <a:ln>
            <a:noFill/>
          </a:ln>
        </p:spPr>
        <p:txBody>
          <a:bodyPr spcFirstLastPara="1" wrap="square" lIns="45725" tIns="22850" rIns="45725" bIns="22850" anchor="t" anchorCtr="0">
            <a:normAutofit/>
          </a:bodyPr>
          <a:lstStyle>
            <a:lvl1pPr marL="457200" lvl="0" indent="-285750" algn="l" rtl="0">
              <a:lnSpc>
                <a:spcPct val="100000"/>
              </a:lnSpc>
              <a:spcBef>
                <a:spcPts val="200"/>
              </a:spcBef>
              <a:spcAft>
                <a:spcPts val="0"/>
              </a:spcAft>
              <a:buClr>
                <a:schemeClr val="dk1"/>
              </a:buClr>
              <a:buSzPts val="900"/>
              <a:buChar char="•"/>
              <a:defRPr/>
            </a:lvl1pPr>
            <a:lvl2pPr marL="914400" lvl="1" indent="-285750" algn="l" rtl="0">
              <a:lnSpc>
                <a:spcPct val="100000"/>
              </a:lnSpc>
              <a:spcBef>
                <a:spcPts val="200"/>
              </a:spcBef>
              <a:spcAft>
                <a:spcPts val="0"/>
              </a:spcAft>
              <a:buClr>
                <a:schemeClr val="dk1"/>
              </a:buClr>
              <a:buSzPts val="900"/>
              <a:buChar char="–"/>
              <a:defRPr/>
            </a:lvl2pPr>
            <a:lvl3pPr marL="1371600" lvl="2" indent="-285750" algn="l" rtl="0">
              <a:lnSpc>
                <a:spcPct val="100000"/>
              </a:lnSpc>
              <a:spcBef>
                <a:spcPts val="200"/>
              </a:spcBef>
              <a:spcAft>
                <a:spcPts val="0"/>
              </a:spcAft>
              <a:buClr>
                <a:schemeClr val="dk1"/>
              </a:buClr>
              <a:buSzPts val="900"/>
              <a:buChar char="•"/>
              <a:defRPr/>
            </a:lvl3pPr>
            <a:lvl4pPr marL="1828800" lvl="3" indent="-285750" algn="l" rtl="0">
              <a:lnSpc>
                <a:spcPct val="100000"/>
              </a:lnSpc>
              <a:spcBef>
                <a:spcPts val="200"/>
              </a:spcBef>
              <a:spcAft>
                <a:spcPts val="0"/>
              </a:spcAft>
              <a:buClr>
                <a:schemeClr val="dk1"/>
              </a:buClr>
              <a:buSzPts val="900"/>
              <a:buChar char="–"/>
              <a:defRPr/>
            </a:lvl4pPr>
            <a:lvl5pPr marL="2286000" lvl="4" indent="-285750" algn="l" rtl="0">
              <a:lnSpc>
                <a:spcPct val="100000"/>
              </a:lnSpc>
              <a:spcBef>
                <a:spcPts val="200"/>
              </a:spcBef>
              <a:spcAft>
                <a:spcPts val="0"/>
              </a:spcAft>
              <a:buClr>
                <a:schemeClr val="dk1"/>
              </a:buClr>
              <a:buSzPts val="900"/>
              <a:buChar char="»"/>
              <a:defRPr/>
            </a:lvl5pPr>
            <a:lvl6pPr marL="2743200" lvl="5" indent="-285750" algn="l" rtl="0">
              <a:lnSpc>
                <a:spcPct val="100000"/>
              </a:lnSpc>
              <a:spcBef>
                <a:spcPts val="200"/>
              </a:spcBef>
              <a:spcAft>
                <a:spcPts val="0"/>
              </a:spcAft>
              <a:buClr>
                <a:schemeClr val="dk1"/>
              </a:buClr>
              <a:buSzPts val="900"/>
              <a:buChar char="•"/>
              <a:defRPr/>
            </a:lvl6pPr>
            <a:lvl7pPr marL="3200400" lvl="6" indent="-285750" algn="l" rtl="0">
              <a:lnSpc>
                <a:spcPct val="100000"/>
              </a:lnSpc>
              <a:spcBef>
                <a:spcPts val="200"/>
              </a:spcBef>
              <a:spcAft>
                <a:spcPts val="0"/>
              </a:spcAft>
              <a:buClr>
                <a:schemeClr val="dk1"/>
              </a:buClr>
              <a:buSzPts val="900"/>
              <a:buChar char="•"/>
              <a:defRPr/>
            </a:lvl7pPr>
            <a:lvl8pPr marL="3657600" lvl="7" indent="-285750" algn="l" rtl="0">
              <a:lnSpc>
                <a:spcPct val="100000"/>
              </a:lnSpc>
              <a:spcBef>
                <a:spcPts val="200"/>
              </a:spcBef>
              <a:spcAft>
                <a:spcPts val="0"/>
              </a:spcAft>
              <a:buClr>
                <a:schemeClr val="dk1"/>
              </a:buClr>
              <a:buSzPts val="900"/>
              <a:buChar char="•"/>
              <a:defRPr/>
            </a:lvl8pPr>
            <a:lvl9pPr marL="4114800" lvl="8" indent="-285750" algn="l" rtl="0">
              <a:lnSpc>
                <a:spcPct val="100000"/>
              </a:lnSpc>
              <a:spcBef>
                <a:spcPts val="200"/>
              </a:spcBef>
              <a:spcAft>
                <a:spcPts val="0"/>
              </a:spcAft>
              <a:buClr>
                <a:schemeClr val="dk1"/>
              </a:buClr>
              <a:buSzPts val="900"/>
              <a:buChar char="•"/>
              <a:defRPr/>
            </a:lvl9pPr>
          </a:lstStyle>
          <a:p>
            <a:endParaRPr/>
          </a:p>
        </p:txBody>
      </p:sp>
      <p:sp>
        <p:nvSpPr>
          <p:cNvPr id="77" name="Google Shape;77;p12"/>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78" name="Google Shape;78;p12"/>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rtl="0">
              <a:lnSpc>
                <a:spcPct val="100000"/>
              </a:lnSpc>
              <a:spcBef>
                <a:spcPts val="0"/>
              </a:spcBef>
              <a:spcAft>
                <a:spcPts val="0"/>
              </a:spcAft>
              <a:buSzPts val="700"/>
              <a:buNone/>
              <a:defRPr/>
            </a:lvl1pPr>
            <a:lvl2pPr lvl="1" algn="l" rtl="0">
              <a:lnSpc>
                <a:spcPct val="100000"/>
              </a:lnSpc>
              <a:spcBef>
                <a:spcPts val="0"/>
              </a:spcBef>
              <a:spcAft>
                <a:spcPts val="0"/>
              </a:spcAft>
              <a:buSzPts val="700"/>
              <a:buNone/>
              <a:defRPr/>
            </a:lvl2pPr>
            <a:lvl3pPr lvl="2" algn="l" rtl="0">
              <a:lnSpc>
                <a:spcPct val="100000"/>
              </a:lnSpc>
              <a:spcBef>
                <a:spcPts val="0"/>
              </a:spcBef>
              <a:spcAft>
                <a:spcPts val="0"/>
              </a:spcAft>
              <a:buSzPts val="700"/>
              <a:buNone/>
              <a:defRPr/>
            </a:lvl3pPr>
            <a:lvl4pPr lvl="3" algn="l" rtl="0">
              <a:lnSpc>
                <a:spcPct val="100000"/>
              </a:lnSpc>
              <a:spcBef>
                <a:spcPts val="0"/>
              </a:spcBef>
              <a:spcAft>
                <a:spcPts val="0"/>
              </a:spcAft>
              <a:buSzPts val="700"/>
              <a:buNone/>
              <a:defRPr/>
            </a:lvl4pPr>
            <a:lvl5pPr lvl="4" algn="l" rtl="0">
              <a:lnSpc>
                <a:spcPct val="100000"/>
              </a:lnSpc>
              <a:spcBef>
                <a:spcPts val="0"/>
              </a:spcBef>
              <a:spcAft>
                <a:spcPts val="0"/>
              </a:spcAft>
              <a:buSzPts val="700"/>
              <a:buNone/>
              <a:defRPr/>
            </a:lvl5pPr>
            <a:lvl6pPr lvl="5" algn="l" rtl="0">
              <a:lnSpc>
                <a:spcPct val="100000"/>
              </a:lnSpc>
              <a:spcBef>
                <a:spcPts val="0"/>
              </a:spcBef>
              <a:spcAft>
                <a:spcPts val="0"/>
              </a:spcAft>
              <a:buSzPts val="700"/>
              <a:buNone/>
              <a:defRPr/>
            </a:lvl6pPr>
            <a:lvl7pPr lvl="6" algn="l" rtl="0">
              <a:lnSpc>
                <a:spcPct val="100000"/>
              </a:lnSpc>
              <a:spcBef>
                <a:spcPts val="0"/>
              </a:spcBef>
              <a:spcAft>
                <a:spcPts val="0"/>
              </a:spcAft>
              <a:buSzPts val="700"/>
              <a:buNone/>
              <a:defRPr/>
            </a:lvl7pPr>
            <a:lvl8pPr lvl="7" algn="l" rtl="0">
              <a:lnSpc>
                <a:spcPct val="100000"/>
              </a:lnSpc>
              <a:spcBef>
                <a:spcPts val="0"/>
              </a:spcBef>
              <a:spcAft>
                <a:spcPts val="0"/>
              </a:spcAft>
              <a:buSzPts val="700"/>
              <a:buNone/>
              <a:defRPr/>
            </a:lvl8pPr>
            <a:lvl9pPr lvl="8" algn="l" rtl="0">
              <a:lnSpc>
                <a:spcPct val="100000"/>
              </a:lnSpc>
              <a:spcBef>
                <a:spcPts val="0"/>
              </a:spcBef>
              <a:spcAft>
                <a:spcPts val="0"/>
              </a:spcAft>
              <a:buSzPts val="700"/>
              <a:buNone/>
              <a:defRPr/>
            </a:lvl9pPr>
          </a:lstStyle>
          <a:p>
            <a:endParaRPr/>
          </a:p>
        </p:txBody>
      </p:sp>
      <p:sp>
        <p:nvSpPr>
          <p:cNvPr id="79" name="Google Shape;79;p12"/>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se_Empty">
  <p:cSld name="CUSTOM">
    <p:spTree>
      <p:nvGrpSpPr>
        <p:cNvPr id="1" name="Shape 80"/>
        <p:cNvGrpSpPr/>
        <p:nvPr/>
      </p:nvGrpSpPr>
      <p:grpSpPr>
        <a:xfrm>
          <a:off x="0" y="0"/>
          <a:ext cx="0" cy="0"/>
          <a:chOff x="0" y="0"/>
          <a:chExt cx="0" cy="0"/>
        </a:xfrm>
      </p:grpSpPr>
      <p:sp>
        <p:nvSpPr>
          <p:cNvPr id="81" name="Google Shape;81;p13"/>
          <p:cNvSpPr txBox="1">
            <a:spLocks noGrp="1"/>
          </p:cNvSpPr>
          <p:nvPr>
            <p:ph type="sldNum" idx="12"/>
          </p:nvPr>
        </p:nvSpPr>
        <p:spPr>
          <a:xfrm>
            <a:off x="8412308" y="4781267"/>
            <a:ext cx="548700" cy="138600"/>
          </a:xfrm>
          <a:prstGeom prst="rect">
            <a:avLst/>
          </a:prstGeom>
        </p:spPr>
        <p:txBody>
          <a:bodyPr spcFirstLastPara="1" wrap="square" lIns="0" tIns="0" rIns="0" bIns="0" anchor="ctr" anchorCtr="0">
            <a:spAutoFit/>
          </a:bodyPr>
          <a:lstStyle>
            <a:lvl1pPr lvl="0">
              <a:buNone/>
              <a:defRPr sz="900">
                <a:solidFill>
                  <a:schemeClr val="dk1"/>
                </a:solidFill>
              </a:defRPr>
            </a:lvl1pPr>
            <a:lvl2pPr lvl="1">
              <a:buNone/>
              <a:defRPr sz="900">
                <a:solidFill>
                  <a:schemeClr val="dk1"/>
                </a:solidFill>
              </a:defRPr>
            </a:lvl2pPr>
            <a:lvl3pPr lvl="2">
              <a:buNone/>
              <a:defRPr sz="900">
                <a:solidFill>
                  <a:schemeClr val="dk1"/>
                </a:solidFill>
              </a:defRPr>
            </a:lvl3pPr>
            <a:lvl4pPr lvl="3">
              <a:buNone/>
              <a:defRPr sz="900">
                <a:solidFill>
                  <a:schemeClr val="dk1"/>
                </a:solidFill>
              </a:defRPr>
            </a:lvl4pPr>
            <a:lvl5pPr lvl="4">
              <a:buNone/>
              <a:defRPr sz="900">
                <a:solidFill>
                  <a:schemeClr val="dk1"/>
                </a:solidFill>
              </a:defRPr>
            </a:lvl5pPr>
            <a:lvl6pPr lvl="5">
              <a:buNone/>
              <a:defRPr sz="900">
                <a:solidFill>
                  <a:schemeClr val="dk1"/>
                </a:solidFill>
              </a:defRPr>
            </a:lvl6pPr>
            <a:lvl7pPr lvl="6">
              <a:buNone/>
              <a:defRPr sz="900">
                <a:solidFill>
                  <a:schemeClr val="dk1"/>
                </a:solidFill>
              </a:defRPr>
            </a:lvl7pPr>
            <a:lvl8pPr lvl="7">
              <a:buNone/>
              <a:defRPr sz="900">
                <a:solidFill>
                  <a:schemeClr val="dk1"/>
                </a:solidFill>
              </a:defRPr>
            </a:lvl8pPr>
            <a:lvl9pPr lvl="8">
              <a:buNone/>
              <a:defRPr sz="900">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2"/>
        <p:cNvGrpSpPr/>
        <p:nvPr/>
      </p:nvGrpSpPr>
      <p:grpSpPr>
        <a:xfrm>
          <a:off x="0" y="0"/>
          <a:ext cx="0" cy="0"/>
          <a:chOff x="0" y="0"/>
          <a:chExt cx="0" cy="0"/>
        </a:xfrm>
      </p:grpSpPr>
      <p:sp>
        <p:nvSpPr>
          <p:cNvPr id="83" name="Google Shape;83;p14"/>
          <p:cNvSpPr txBox="1">
            <a:spLocks noGrp="1"/>
          </p:cNvSpPr>
          <p:nvPr>
            <p:ph type="title"/>
          </p:nvPr>
        </p:nvSpPr>
        <p:spPr>
          <a:xfrm>
            <a:off x="311700" y="445025"/>
            <a:ext cx="8520600" cy="572700"/>
          </a:xfrm>
          <a:prstGeom prst="rect">
            <a:avLst/>
          </a:prstGeom>
        </p:spPr>
        <p:txBody>
          <a:bodyPr spcFirstLastPara="1" wrap="square" lIns="45725" tIns="22850" rIns="45725" bIns="22850" anchor="ctr" anchorCtr="0">
            <a:normAutofit/>
          </a:bodyPr>
          <a:lstStyle>
            <a:lvl1pPr lvl="0">
              <a:spcBef>
                <a:spcPts val="0"/>
              </a:spcBef>
              <a:spcAft>
                <a:spcPts val="0"/>
              </a:spcAft>
              <a:buSzPts val="22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4" name="Google Shape;84;p14"/>
          <p:cNvSpPr txBox="1">
            <a:spLocks noGrp="1"/>
          </p:cNvSpPr>
          <p:nvPr>
            <p:ph type="body" idx="1"/>
          </p:nvPr>
        </p:nvSpPr>
        <p:spPr>
          <a:xfrm>
            <a:off x="311700" y="1077625"/>
            <a:ext cx="8520600" cy="3416400"/>
          </a:xfrm>
          <a:prstGeom prst="rect">
            <a:avLst/>
          </a:prstGeom>
        </p:spPr>
        <p:txBody>
          <a:bodyPr spcFirstLastPara="1" wrap="square" lIns="45725" tIns="22850" rIns="45725" bIns="22850" anchor="t" anchorCtr="0">
            <a:normAutofit/>
          </a:bodyPr>
          <a:lstStyle>
            <a:lvl1pPr marL="457200" lvl="0" indent="-330200">
              <a:spcBef>
                <a:spcPts val="300"/>
              </a:spcBef>
              <a:spcAft>
                <a:spcPts val="0"/>
              </a:spcAft>
              <a:buSzPts val="1600"/>
              <a:buChar char="•"/>
              <a:defRPr/>
            </a:lvl1pPr>
            <a:lvl2pPr marL="914400" lvl="1" indent="-317500">
              <a:spcBef>
                <a:spcPts val="300"/>
              </a:spcBef>
              <a:spcAft>
                <a:spcPts val="0"/>
              </a:spcAft>
              <a:buSzPts val="1400"/>
              <a:buChar char="–"/>
              <a:defRPr/>
            </a:lvl2pPr>
            <a:lvl3pPr marL="1371600" lvl="2" indent="-304800">
              <a:spcBef>
                <a:spcPts val="200"/>
              </a:spcBef>
              <a:spcAft>
                <a:spcPts val="0"/>
              </a:spcAft>
              <a:buSzPts val="1200"/>
              <a:buChar char="•"/>
              <a:defRPr/>
            </a:lvl3pPr>
            <a:lvl4pPr marL="1828800" lvl="3" indent="-292100">
              <a:spcBef>
                <a:spcPts val="200"/>
              </a:spcBef>
              <a:spcAft>
                <a:spcPts val="0"/>
              </a:spcAft>
              <a:buSzPts val="1000"/>
              <a:buChar char="–"/>
              <a:defRPr/>
            </a:lvl4pPr>
            <a:lvl5pPr marL="2286000" lvl="4" indent="-292100">
              <a:spcBef>
                <a:spcPts val="200"/>
              </a:spcBef>
              <a:spcAft>
                <a:spcPts val="0"/>
              </a:spcAft>
              <a:buSzPts val="1000"/>
              <a:buChar char="»"/>
              <a:defRPr/>
            </a:lvl5pPr>
            <a:lvl6pPr marL="2743200" lvl="5" indent="-292100">
              <a:spcBef>
                <a:spcPts val="200"/>
              </a:spcBef>
              <a:spcAft>
                <a:spcPts val="0"/>
              </a:spcAft>
              <a:buSzPts val="1000"/>
              <a:buChar char="•"/>
              <a:defRPr/>
            </a:lvl6pPr>
            <a:lvl7pPr marL="3200400" lvl="6" indent="-292100">
              <a:spcBef>
                <a:spcPts val="200"/>
              </a:spcBef>
              <a:spcAft>
                <a:spcPts val="0"/>
              </a:spcAft>
              <a:buSzPts val="1000"/>
              <a:buChar char="•"/>
              <a:defRPr/>
            </a:lvl7pPr>
            <a:lvl8pPr marL="3657600" lvl="7" indent="-292100">
              <a:spcBef>
                <a:spcPts val="200"/>
              </a:spcBef>
              <a:spcAft>
                <a:spcPts val="0"/>
              </a:spcAft>
              <a:buSzPts val="1000"/>
              <a:buChar char="•"/>
              <a:defRPr/>
            </a:lvl8pPr>
            <a:lvl9pPr marL="4114800" lvl="8" indent="-292100">
              <a:spcBef>
                <a:spcPts val="200"/>
              </a:spcBef>
              <a:spcAft>
                <a:spcPts val="0"/>
              </a:spcAft>
              <a:buSzPts val="1000"/>
              <a:buChar char="•"/>
              <a:defRPr/>
            </a:lvl9pPr>
          </a:lstStyle>
          <a:p>
            <a:endParaRPr/>
          </a:p>
        </p:txBody>
      </p:sp>
      <p:sp>
        <p:nvSpPr>
          <p:cNvPr id="85" name="Google Shape;85;p14"/>
          <p:cNvSpPr txBox="1">
            <a:spLocks noGrp="1"/>
          </p:cNvSpPr>
          <p:nvPr>
            <p:ph type="sldNum" idx="12"/>
          </p:nvPr>
        </p:nvSpPr>
        <p:spPr>
          <a:xfrm>
            <a:off x="8472458" y="4663217"/>
            <a:ext cx="548700" cy="393600"/>
          </a:xfrm>
          <a:prstGeom prst="rect">
            <a:avLst/>
          </a:prstGeom>
        </p:spPr>
        <p:txBody>
          <a:bodyPr spcFirstLastPara="1" wrap="square" lIns="45725" tIns="22850" rIns="45725" bIns="228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rtl="0">
              <a:lnSpc>
                <a:spcPct val="100000"/>
              </a:lnSpc>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700"/>
              <a:buFont typeface="Arial"/>
              <a:buNone/>
              <a:defRPr sz="9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228600" y="800100"/>
            <a:ext cx="4114800" cy="2263200"/>
          </a:xfrm>
          <a:prstGeom prst="rect">
            <a:avLst/>
          </a:prstGeom>
          <a:noFill/>
          <a:ln>
            <a:noFill/>
          </a:ln>
        </p:spPr>
        <p:txBody>
          <a:bodyPr spcFirstLastPara="1" wrap="square" lIns="45725" tIns="22850" rIns="45725" bIns="22850" anchor="t" anchorCtr="0">
            <a:normAutofit/>
          </a:bodyPr>
          <a:lstStyle>
            <a:lvl1pPr marL="457200" marR="0" lvl="0" indent="-330200"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2pPr>
            <a:lvl3pPr marL="1371600" marR="0" lvl="2" indent="-304800" algn="l" rtl="0">
              <a:lnSpc>
                <a:spcPct val="100000"/>
              </a:lnSpc>
              <a:spcBef>
                <a:spcPts val="2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4pPr>
            <a:lvl5pPr marL="2286000" marR="0" lvl="4"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5pPr>
            <a:lvl6pPr marL="2743200" marR="0" lvl="5"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marR="0" lvl="0" algn="l" rtl="0">
              <a:lnSpc>
                <a:spcPct val="100000"/>
              </a:lnSpc>
              <a:spcBef>
                <a:spcPts val="0"/>
              </a:spcBef>
              <a:spcAft>
                <a:spcPts val="0"/>
              </a:spcAft>
              <a:buClr>
                <a:srgbClr val="000000"/>
              </a:buClr>
              <a:buSzPts val="700"/>
              <a:buFont typeface="Arial"/>
              <a:buNone/>
              <a:defRPr sz="6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marR="0" lvl="0" algn="ctr" rtl="0">
              <a:lnSpc>
                <a:spcPct val="100000"/>
              </a:lnSpc>
              <a:spcBef>
                <a:spcPts val="0"/>
              </a:spcBef>
              <a:spcAft>
                <a:spcPts val="0"/>
              </a:spcAft>
              <a:buClr>
                <a:srgbClr val="000000"/>
              </a:buClr>
              <a:buSzPts val="700"/>
              <a:buFont typeface="Arial"/>
              <a:buNone/>
              <a:defRPr sz="6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7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ipcinfo.org/ipcinfo-website/ipc-overview-and-classification-system/en/"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hyperlink" Target="https://docs.google.com/document/d/1-9mmJSNzyy-1VwxT7d8AU2_uBBZ3bnO4WQsurbxoZQg/edit?tab=t.0#heading=h.3iy5mln4emqy" TargetMode="External"/><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hyperlink" Target="https://metabase.myagroservices.org/dashboard/692-impact?country=&amp;crop_type=&amp;crop_type_category=&amp;tab=145-yoy-comparison"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hyperlink" Target="https://docs.google.com/document/d/1dZTMlDASnVQrVwp8N-SGf-34u2zPNwQ_1Z3KkDRh9lY/edit?tab=t.mp725jc8lnjf"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guide.idinsight.org/theory-of-change/" TargetMode="External"/><Relationship Id="rId7" Type="http://schemas.openxmlformats.org/officeDocument/2006/relationships/hyperlink" Target="https://www.povertyindex.org/about-ppi" TargetMode="External"/><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hyperlink" Target="https://www.ipcinfo.org/ipcinfo-website/ipc-overview-and-classification-system/en/" TargetMode="External"/><Relationship Id="rId5" Type="http://schemas.openxmlformats.org/officeDocument/2006/relationships/hyperlink" Target="https://whh.indikit.net/indicator/925-food-security/4847-rcsi-reduced-coping-strategy-index" TargetMode="External"/><Relationship Id="rId4" Type="http://schemas.openxmlformats.org/officeDocument/2006/relationships/hyperlink" Target="https://www.indikit.net/document/9-the-coping-strategies-index-field-methods-manua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0" name="Google Shape;90;p15"/>
          <p:cNvPicPr preferRelativeResize="0"/>
          <p:nvPr/>
        </p:nvPicPr>
        <p:blipFill rotWithShape="1">
          <a:blip r:embed="rId3">
            <a:alphaModFix/>
          </a:blip>
          <a:srcRect b="15604"/>
          <a:stretch/>
        </p:blipFill>
        <p:spPr>
          <a:xfrm>
            <a:off x="0" y="0"/>
            <a:ext cx="9144003" cy="5143501"/>
          </a:xfrm>
          <a:prstGeom prst="rect">
            <a:avLst/>
          </a:prstGeom>
          <a:noFill/>
          <a:ln>
            <a:noFill/>
          </a:ln>
        </p:spPr>
      </p:pic>
      <p:sp>
        <p:nvSpPr>
          <p:cNvPr id="91" name="Google Shape;91;p15"/>
          <p:cNvSpPr/>
          <p:nvPr/>
        </p:nvSpPr>
        <p:spPr>
          <a:xfrm>
            <a:off x="0" y="3690600"/>
            <a:ext cx="9165300" cy="1251600"/>
          </a:xfrm>
          <a:prstGeom prst="rect">
            <a:avLst/>
          </a:prstGeom>
          <a:solidFill>
            <a:srgbClr val="197B30"/>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92" name="Google Shape;92;p15"/>
          <p:cNvSpPr txBox="1"/>
          <p:nvPr/>
        </p:nvSpPr>
        <p:spPr>
          <a:xfrm>
            <a:off x="908196" y="342938"/>
            <a:ext cx="1469400" cy="338700"/>
          </a:xfrm>
          <a:prstGeom prst="rect">
            <a:avLst/>
          </a:prstGeom>
          <a:noFill/>
          <a:ln>
            <a:noFill/>
          </a:ln>
        </p:spPr>
        <p:txBody>
          <a:bodyPr spcFirstLastPara="1" wrap="square" lIns="45725" tIns="22850" rIns="45725" bIns="2285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 sz="1900" b="1" i="0" u="none" strike="noStrike" cap="none">
                <a:solidFill>
                  <a:schemeClr val="lt1"/>
                </a:solidFill>
                <a:latin typeface="Manrope"/>
                <a:ea typeface="Manrope"/>
                <a:cs typeface="Manrope"/>
                <a:sym typeface="Manrope"/>
              </a:rPr>
              <a:t>myAgro</a:t>
            </a:r>
            <a:endParaRPr sz="100" i="0" u="none" strike="noStrike" cap="none">
              <a:solidFill>
                <a:schemeClr val="lt1"/>
              </a:solidFill>
              <a:latin typeface="Manrope"/>
              <a:ea typeface="Manrope"/>
              <a:cs typeface="Manrope"/>
              <a:sym typeface="Manrope"/>
            </a:endParaRPr>
          </a:p>
        </p:txBody>
      </p:sp>
      <p:pic>
        <p:nvPicPr>
          <p:cNvPr id="93" name="Google Shape;93;p15"/>
          <p:cNvPicPr preferRelativeResize="0"/>
          <p:nvPr/>
        </p:nvPicPr>
        <p:blipFill rotWithShape="1">
          <a:blip r:embed="rId4">
            <a:alphaModFix/>
          </a:blip>
          <a:srcRect/>
          <a:stretch/>
        </p:blipFill>
        <p:spPr>
          <a:xfrm>
            <a:off x="281939" y="292537"/>
            <a:ext cx="626264" cy="507837"/>
          </a:xfrm>
          <a:prstGeom prst="rect">
            <a:avLst/>
          </a:prstGeom>
          <a:noFill/>
          <a:ln>
            <a:noFill/>
          </a:ln>
        </p:spPr>
      </p:pic>
      <p:sp>
        <p:nvSpPr>
          <p:cNvPr id="94" name="Google Shape;94;p15"/>
          <p:cNvSpPr txBox="1"/>
          <p:nvPr/>
        </p:nvSpPr>
        <p:spPr>
          <a:xfrm>
            <a:off x="327600" y="3798150"/>
            <a:ext cx="8488800" cy="1036500"/>
          </a:xfrm>
          <a:prstGeom prst="rect">
            <a:avLst/>
          </a:prstGeom>
          <a:noFill/>
          <a:ln>
            <a:noFill/>
          </a:ln>
        </p:spPr>
        <p:txBody>
          <a:bodyPr spcFirstLastPara="1" wrap="square" lIns="45725" tIns="22850" rIns="45725" bIns="2285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800">
                <a:solidFill>
                  <a:schemeClr val="lt1"/>
                </a:solidFill>
                <a:latin typeface="Manrope"/>
                <a:ea typeface="Manrope"/>
                <a:cs typeface="Manrope"/>
                <a:sym typeface="Manrope"/>
              </a:rPr>
              <a:t>Food Security Impact Report</a:t>
            </a:r>
            <a:endParaRPr sz="3800">
              <a:solidFill>
                <a:schemeClr val="lt1"/>
              </a:solidFill>
              <a:latin typeface="Manrope"/>
              <a:ea typeface="Manrope"/>
              <a:cs typeface="Manrope"/>
              <a:sym typeface="Manrope"/>
            </a:endParaRPr>
          </a:p>
          <a:p>
            <a:pPr marL="0" marR="0" lvl="0" indent="0" algn="ctr" rtl="0">
              <a:lnSpc>
                <a:spcPct val="100000"/>
              </a:lnSpc>
              <a:spcBef>
                <a:spcPts val="1000"/>
              </a:spcBef>
              <a:spcAft>
                <a:spcPts val="0"/>
              </a:spcAft>
              <a:buClr>
                <a:srgbClr val="000000"/>
              </a:buClr>
              <a:buSzPts val="3600"/>
              <a:buFont typeface="Arial"/>
              <a:buNone/>
            </a:pPr>
            <a:r>
              <a:rPr lang="en" sz="1800">
                <a:solidFill>
                  <a:schemeClr val="lt1"/>
                </a:solidFill>
                <a:latin typeface="Manrope"/>
                <a:ea typeface="Manrope"/>
                <a:cs typeface="Manrope"/>
                <a:sym typeface="Manrope"/>
              </a:rPr>
              <a:t>How myAgro packages help households reduce their need to cope with hunger</a:t>
            </a:r>
            <a:endParaRPr sz="1800">
              <a:solidFill>
                <a:schemeClr val="lt1"/>
              </a:solidFill>
              <a:latin typeface="Manrope"/>
              <a:ea typeface="Manrope"/>
              <a:cs typeface="Manrope"/>
              <a:sym typeface="Manrop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6"/>
          <p:cNvSpPr txBox="1"/>
          <p:nvPr/>
        </p:nvSpPr>
        <p:spPr>
          <a:xfrm>
            <a:off x="854191" y="83972"/>
            <a:ext cx="67791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Results Summary | </a:t>
            </a:r>
            <a:r>
              <a:rPr lang="en" sz="3000">
                <a:solidFill>
                  <a:srgbClr val="888888"/>
                </a:solidFill>
                <a:latin typeface="Manrope SemiBold"/>
                <a:ea typeface="Manrope SemiBold"/>
                <a:cs typeface="Manrope SemiBold"/>
                <a:sym typeface="Manrope SemiBold"/>
              </a:rPr>
              <a:t>Key Findings</a:t>
            </a:r>
            <a:endParaRPr sz="2200">
              <a:solidFill>
                <a:srgbClr val="888888"/>
              </a:solidFill>
              <a:latin typeface="Manrope SemiBold"/>
              <a:ea typeface="Manrope SemiBold"/>
              <a:cs typeface="Manrope SemiBold"/>
              <a:sym typeface="Manrope SemiBold"/>
            </a:endParaRPr>
          </a:p>
        </p:txBody>
      </p:sp>
      <p:pic>
        <p:nvPicPr>
          <p:cNvPr id="100" name="Google Shape;100;p16"/>
          <p:cNvPicPr preferRelativeResize="0"/>
          <p:nvPr/>
        </p:nvPicPr>
        <p:blipFill rotWithShape="1">
          <a:blip r:embed="rId3">
            <a:alphaModFix/>
          </a:blip>
          <a:srcRect/>
          <a:stretch/>
        </p:blipFill>
        <p:spPr>
          <a:xfrm>
            <a:off x="103491" y="145580"/>
            <a:ext cx="626264" cy="507837"/>
          </a:xfrm>
          <a:prstGeom prst="rect">
            <a:avLst/>
          </a:prstGeom>
          <a:noFill/>
          <a:ln>
            <a:noFill/>
          </a:ln>
        </p:spPr>
      </p:pic>
      <p:sp>
        <p:nvSpPr>
          <p:cNvPr id="101" name="Google Shape;101;p16"/>
          <p:cNvSpPr txBox="1"/>
          <p:nvPr/>
        </p:nvSpPr>
        <p:spPr>
          <a:xfrm>
            <a:off x="224375" y="762341"/>
            <a:ext cx="7755300" cy="43914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1000"/>
              </a:spcBef>
              <a:spcAft>
                <a:spcPts val="0"/>
              </a:spcAft>
              <a:buClr>
                <a:srgbClr val="434343"/>
              </a:buClr>
              <a:buSzPts val="1400"/>
              <a:buFont typeface="Manrope"/>
              <a:buAutoNum type="arabicPeriod"/>
            </a:pPr>
            <a:r>
              <a:rPr lang="en" b="1">
                <a:solidFill>
                  <a:srgbClr val="434343"/>
                </a:solidFill>
                <a:latin typeface="Manrope"/>
                <a:ea typeface="Manrope"/>
                <a:cs typeface="Manrope"/>
                <a:sym typeface="Manrope"/>
              </a:rPr>
              <a:t>Peanut </a:t>
            </a:r>
            <a:r>
              <a:rPr lang="en">
                <a:solidFill>
                  <a:srgbClr val="434343"/>
                </a:solidFill>
                <a:latin typeface="Manrope"/>
                <a:ea typeface="Manrope"/>
                <a:cs typeface="Manrope"/>
                <a:sym typeface="Manrope"/>
              </a:rPr>
              <a:t>packages, on average, decreased rCSI by </a:t>
            </a:r>
            <a:r>
              <a:rPr lang="en" b="1">
                <a:solidFill>
                  <a:srgbClr val="434343"/>
                </a:solidFill>
                <a:latin typeface="Manrope"/>
                <a:ea typeface="Manrope"/>
                <a:cs typeface="Manrope"/>
                <a:sym typeface="Manrope"/>
              </a:rPr>
              <a:t>1.00 in the lean season</a:t>
            </a:r>
            <a:r>
              <a:rPr lang="en">
                <a:solidFill>
                  <a:srgbClr val="434343"/>
                </a:solidFill>
                <a:latin typeface="Manrope"/>
                <a:ea typeface="Manrope"/>
                <a:cs typeface="Manrope"/>
                <a:sym typeface="Manrope"/>
              </a:rPr>
              <a:t> (6.61 per hectare) and </a:t>
            </a:r>
            <a:r>
              <a:rPr lang="en" b="1">
                <a:solidFill>
                  <a:srgbClr val="434343"/>
                </a:solidFill>
                <a:latin typeface="Manrope"/>
                <a:ea typeface="Manrope"/>
                <a:cs typeface="Manrope"/>
                <a:sym typeface="Manrope"/>
              </a:rPr>
              <a:t>0.91 year-round</a:t>
            </a:r>
            <a:r>
              <a:rPr lang="en">
                <a:solidFill>
                  <a:srgbClr val="434343"/>
                </a:solidFill>
                <a:latin typeface="Manrope"/>
                <a:ea typeface="Manrope"/>
                <a:cs typeface="Manrope"/>
                <a:sym typeface="Manrope"/>
              </a:rPr>
              <a:t> (6.45 per hectare)</a:t>
            </a:r>
            <a:endParaRPr>
              <a:solidFill>
                <a:srgbClr val="434343"/>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AutoNum type="arabicPeriod"/>
            </a:pPr>
            <a:r>
              <a:rPr lang="en">
                <a:solidFill>
                  <a:srgbClr val="434343"/>
                </a:solidFill>
                <a:latin typeface="Manrope"/>
                <a:ea typeface="Manrope"/>
                <a:cs typeface="Manrope"/>
                <a:sym typeface="Manrope"/>
              </a:rPr>
              <a:t>The ASAA-funded </a:t>
            </a:r>
            <a:r>
              <a:rPr lang="en" b="1">
                <a:solidFill>
                  <a:srgbClr val="434343"/>
                </a:solidFill>
                <a:latin typeface="Manrope"/>
                <a:ea typeface="Manrope"/>
                <a:cs typeface="Manrope"/>
                <a:sym typeface="Manrope"/>
              </a:rPr>
              <a:t>fertilizer (25kg)</a:t>
            </a:r>
            <a:r>
              <a:rPr lang="en">
                <a:solidFill>
                  <a:srgbClr val="434343"/>
                </a:solidFill>
                <a:latin typeface="Manrope"/>
                <a:ea typeface="Manrope"/>
                <a:cs typeface="Manrope"/>
                <a:sym typeface="Manrope"/>
              </a:rPr>
              <a:t> gifted to Mali farmers in 2023 decreased rCSI by </a:t>
            </a:r>
            <a:r>
              <a:rPr lang="en" b="1">
                <a:solidFill>
                  <a:srgbClr val="434343"/>
                </a:solidFill>
                <a:latin typeface="Manrope"/>
                <a:ea typeface="Manrope"/>
                <a:cs typeface="Manrope"/>
                <a:sym typeface="Manrope"/>
              </a:rPr>
              <a:t>4.04 in the lean season </a:t>
            </a:r>
            <a:r>
              <a:rPr lang="en">
                <a:solidFill>
                  <a:srgbClr val="434343"/>
                </a:solidFill>
                <a:latin typeface="Manrope"/>
                <a:ea typeface="Manrope"/>
                <a:cs typeface="Manrope"/>
                <a:sym typeface="Manrope"/>
              </a:rPr>
              <a:t>and </a:t>
            </a:r>
            <a:r>
              <a:rPr lang="en" b="1">
                <a:solidFill>
                  <a:srgbClr val="434343"/>
                </a:solidFill>
                <a:latin typeface="Manrope"/>
                <a:ea typeface="Manrope"/>
                <a:cs typeface="Manrope"/>
                <a:sym typeface="Manrope"/>
              </a:rPr>
              <a:t>5.35 year-round</a:t>
            </a:r>
            <a:endParaRPr b="1">
              <a:solidFill>
                <a:srgbClr val="434343"/>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AutoNum type="arabicPeriod"/>
            </a:pPr>
            <a:r>
              <a:rPr lang="en" b="1">
                <a:solidFill>
                  <a:srgbClr val="434343"/>
                </a:solidFill>
                <a:latin typeface="Manrope"/>
                <a:ea typeface="Manrope"/>
                <a:cs typeface="Manrope"/>
                <a:sym typeface="Manrope"/>
              </a:rPr>
              <a:t>Sorghum </a:t>
            </a:r>
            <a:r>
              <a:rPr lang="en">
                <a:solidFill>
                  <a:srgbClr val="434343"/>
                </a:solidFill>
                <a:latin typeface="Manrope"/>
                <a:ea typeface="Manrope"/>
                <a:cs typeface="Manrope"/>
                <a:sym typeface="Manrope"/>
              </a:rPr>
              <a:t>had a large, significant impact on food security in the </a:t>
            </a:r>
            <a:r>
              <a:rPr lang="en" b="1">
                <a:solidFill>
                  <a:srgbClr val="434343"/>
                </a:solidFill>
                <a:latin typeface="Manrope"/>
                <a:ea typeface="Manrope"/>
                <a:cs typeface="Manrope"/>
                <a:sym typeface="Manrope"/>
              </a:rPr>
              <a:t>lean season </a:t>
            </a:r>
            <a:r>
              <a:rPr lang="en" b="1" i="1">
                <a:solidFill>
                  <a:srgbClr val="434343"/>
                </a:solidFill>
                <a:latin typeface="Manrope"/>
                <a:ea typeface="Manrope"/>
                <a:cs typeface="Manrope"/>
                <a:sym typeface="Manrope"/>
              </a:rPr>
              <a:t>only</a:t>
            </a:r>
            <a:r>
              <a:rPr lang="en">
                <a:solidFill>
                  <a:srgbClr val="434343"/>
                </a:solidFill>
                <a:latin typeface="Manrope"/>
                <a:ea typeface="Manrope"/>
                <a:cs typeface="Manrope"/>
                <a:sym typeface="Manrope"/>
              </a:rPr>
              <a:t>, decreasing rCSI on average by </a:t>
            </a:r>
            <a:r>
              <a:rPr lang="en" b="1">
                <a:solidFill>
                  <a:srgbClr val="434343"/>
                </a:solidFill>
                <a:latin typeface="Manrope"/>
                <a:ea typeface="Manrope"/>
                <a:cs typeface="Manrope"/>
                <a:sym typeface="Manrope"/>
              </a:rPr>
              <a:t>3.79</a:t>
            </a:r>
            <a:r>
              <a:rPr lang="en">
                <a:solidFill>
                  <a:srgbClr val="434343"/>
                </a:solidFill>
                <a:latin typeface="Manrope"/>
                <a:ea typeface="Manrope"/>
                <a:cs typeface="Manrope"/>
                <a:sym typeface="Manrope"/>
              </a:rPr>
              <a:t> (30.32 per hectare)</a:t>
            </a:r>
            <a:endParaRPr>
              <a:solidFill>
                <a:srgbClr val="434343"/>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AutoNum type="arabicPeriod"/>
            </a:pPr>
            <a:r>
              <a:rPr lang="en" b="1">
                <a:solidFill>
                  <a:srgbClr val="434343"/>
                </a:solidFill>
                <a:latin typeface="Manrope"/>
                <a:ea typeface="Manrope"/>
                <a:cs typeface="Manrope"/>
                <a:sym typeface="Manrope"/>
              </a:rPr>
              <a:t>Millet and watermelon </a:t>
            </a:r>
            <a:r>
              <a:rPr lang="en">
                <a:solidFill>
                  <a:srgbClr val="434343"/>
                </a:solidFill>
                <a:latin typeface="Manrope"/>
                <a:ea typeface="Manrope"/>
                <a:cs typeface="Manrope"/>
                <a:sym typeface="Manrope"/>
              </a:rPr>
              <a:t>significantly decreased rCSI </a:t>
            </a:r>
            <a:r>
              <a:rPr lang="en" b="1">
                <a:solidFill>
                  <a:srgbClr val="434343"/>
                </a:solidFill>
                <a:latin typeface="Manrope"/>
                <a:ea typeface="Manrope"/>
                <a:cs typeface="Manrope"/>
                <a:sym typeface="Manrope"/>
              </a:rPr>
              <a:t>year-round </a:t>
            </a:r>
            <a:r>
              <a:rPr lang="en" b="1" i="1">
                <a:solidFill>
                  <a:srgbClr val="434343"/>
                </a:solidFill>
                <a:latin typeface="Manrope"/>
                <a:ea typeface="Manrope"/>
                <a:cs typeface="Manrope"/>
                <a:sym typeface="Manrope"/>
              </a:rPr>
              <a:t>only, </a:t>
            </a:r>
            <a:r>
              <a:rPr lang="en">
                <a:solidFill>
                  <a:srgbClr val="434343"/>
                </a:solidFill>
                <a:latin typeface="Manrope"/>
                <a:ea typeface="Manrope"/>
                <a:cs typeface="Manrope"/>
                <a:sym typeface="Manrope"/>
              </a:rPr>
              <a:t>on average by </a:t>
            </a:r>
            <a:r>
              <a:rPr lang="en" b="1">
                <a:solidFill>
                  <a:srgbClr val="434343"/>
                </a:solidFill>
                <a:latin typeface="Manrope"/>
                <a:ea typeface="Manrope"/>
                <a:cs typeface="Manrope"/>
                <a:sym typeface="Manrope"/>
              </a:rPr>
              <a:t>1.75 </a:t>
            </a:r>
            <a:r>
              <a:rPr lang="en">
                <a:solidFill>
                  <a:srgbClr val="434343"/>
                </a:solidFill>
                <a:latin typeface="Manrope"/>
                <a:ea typeface="Manrope"/>
                <a:cs typeface="Manrope"/>
                <a:sym typeface="Manrope"/>
              </a:rPr>
              <a:t>(5.23 per hectare) and </a:t>
            </a:r>
            <a:r>
              <a:rPr lang="en" b="1">
                <a:solidFill>
                  <a:srgbClr val="434343"/>
                </a:solidFill>
                <a:latin typeface="Manrope"/>
                <a:ea typeface="Manrope"/>
                <a:cs typeface="Manrope"/>
                <a:sym typeface="Manrope"/>
              </a:rPr>
              <a:t>1.81</a:t>
            </a:r>
            <a:r>
              <a:rPr lang="en">
                <a:solidFill>
                  <a:srgbClr val="434343"/>
                </a:solidFill>
                <a:latin typeface="Manrope"/>
                <a:ea typeface="Manrope"/>
                <a:cs typeface="Manrope"/>
                <a:sym typeface="Manrope"/>
              </a:rPr>
              <a:t> (201.05), respectively</a:t>
            </a:r>
            <a:endParaRPr>
              <a:solidFill>
                <a:srgbClr val="434343"/>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AutoNum type="arabicPeriod"/>
            </a:pPr>
            <a:r>
              <a:rPr lang="en">
                <a:solidFill>
                  <a:srgbClr val="434343"/>
                </a:solidFill>
                <a:latin typeface="Manrope"/>
                <a:ea typeface="Manrope"/>
                <a:cs typeface="Manrope"/>
                <a:sym typeface="Manrope"/>
              </a:rPr>
              <a:t>The experience of </a:t>
            </a:r>
            <a:r>
              <a:rPr lang="en" b="1">
                <a:solidFill>
                  <a:srgbClr val="434343"/>
                </a:solidFill>
                <a:latin typeface="Manrope"/>
                <a:ea typeface="Manrope"/>
                <a:cs typeface="Manrope"/>
                <a:sym typeface="Manrope"/>
              </a:rPr>
              <a:t>returning farmers</a:t>
            </a:r>
            <a:r>
              <a:rPr lang="en">
                <a:solidFill>
                  <a:srgbClr val="434343"/>
                </a:solidFill>
                <a:latin typeface="Manrope"/>
                <a:ea typeface="Manrope"/>
                <a:cs typeface="Manrope"/>
                <a:sym typeface="Manrope"/>
              </a:rPr>
              <a:t> decreased their rCSI scores on average by </a:t>
            </a:r>
            <a:r>
              <a:rPr lang="en" b="1">
                <a:solidFill>
                  <a:srgbClr val="434343"/>
                </a:solidFill>
                <a:latin typeface="Manrope"/>
                <a:ea typeface="Manrope"/>
                <a:cs typeface="Manrope"/>
                <a:sym typeface="Manrope"/>
              </a:rPr>
              <a:t>0.49 year-round </a:t>
            </a:r>
            <a:r>
              <a:rPr lang="en">
                <a:solidFill>
                  <a:srgbClr val="434343"/>
                </a:solidFill>
                <a:latin typeface="Manrope"/>
                <a:ea typeface="Manrope"/>
                <a:cs typeface="Manrope"/>
                <a:sym typeface="Manrope"/>
              </a:rPr>
              <a:t>(0.74 per hectare planted of any crop type before 2023)</a:t>
            </a:r>
            <a:endParaRPr>
              <a:solidFill>
                <a:srgbClr val="434343"/>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AutoNum type="arabicPeriod"/>
            </a:pPr>
            <a:r>
              <a:rPr lang="en">
                <a:solidFill>
                  <a:srgbClr val="434343"/>
                </a:solidFill>
                <a:latin typeface="Manrope"/>
                <a:ea typeface="Manrope"/>
                <a:cs typeface="Manrope"/>
                <a:sym typeface="Manrope"/>
              </a:rPr>
              <a:t>The rest of the products did not have a statistically significant impact on household food security in either time period, but from the confidence intervals, we can conclude that </a:t>
            </a:r>
            <a:r>
              <a:rPr lang="en" i="1">
                <a:solidFill>
                  <a:srgbClr val="434343"/>
                </a:solidFill>
                <a:latin typeface="Manrope"/>
                <a:ea typeface="Manrope"/>
                <a:cs typeface="Manrope"/>
                <a:sym typeface="Manrope"/>
              </a:rPr>
              <a:t>most </a:t>
            </a:r>
            <a:r>
              <a:rPr lang="en">
                <a:solidFill>
                  <a:srgbClr val="434343"/>
                </a:solidFill>
                <a:latin typeface="Manrope"/>
                <a:ea typeface="Manrope"/>
                <a:cs typeface="Manrope"/>
                <a:sym typeface="Manrope"/>
              </a:rPr>
              <a:t>of them </a:t>
            </a:r>
            <a:r>
              <a:rPr lang="en" i="1">
                <a:solidFill>
                  <a:srgbClr val="434343"/>
                </a:solidFill>
                <a:latin typeface="Manrope"/>
                <a:ea typeface="Manrope"/>
                <a:cs typeface="Manrope"/>
                <a:sym typeface="Manrope"/>
              </a:rPr>
              <a:t>probably </a:t>
            </a:r>
            <a:r>
              <a:rPr lang="en">
                <a:solidFill>
                  <a:srgbClr val="434343"/>
                </a:solidFill>
                <a:latin typeface="Manrope"/>
                <a:ea typeface="Manrope"/>
                <a:cs typeface="Manrope"/>
                <a:sym typeface="Manrope"/>
              </a:rPr>
              <a:t>decrease rCSI to some degree</a:t>
            </a:r>
            <a:endParaRPr>
              <a:solidFill>
                <a:srgbClr val="434343"/>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AutoNum type="arabicPeriod"/>
            </a:pPr>
            <a:r>
              <a:rPr lang="en">
                <a:solidFill>
                  <a:srgbClr val="434343"/>
                </a:solidFill>
                <a:latin typeface="Manrope"/>
                <a:ea typeface="Manrope"/>
                <a:cs typeface="Manrope"/>
                <a:sym typeface="Manrope"/>
              </a:rPr>
              <a:t>All main result figures on slides 9-10 and interpretations on slides 17-20</a:t>
            </a:r>
            <a:endParaRPr>
              <a:solidFill>
                <a:srgbClr val="434343"/>
              </a:solidFill>
              <a:latin typeface="Manrope"/>
              <a:ea typeface="Manrope"/>
              <a:cs typeface="Manrope"/>
              <a:sym typeface="Manrop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5"/>
        <p:cNvGrpSpPr/>
        <p:nvPr/>
      </p:nvGrpSpPr>
      <p:grpSpPr>
        <a:xfrm>
          <a:off x="0" y="0"/>
          <a:ext cx="0" cy="0"/>
          <a:chOff x="0" y="0"/>
          <a:chExt cx="0" cy="0"/>
        </a:xfrm>
      </p:grpSpPr>
      <p:sp>
        <p:nvSpPr>
          <p:cNvPr id="106" name="Google Shape;106;p17"/>
          <p:cNvSpPr txBox="1"/>
          <p:nvPr/>
        </p:nvSpPr>
        <p:spPr>
          <a:xfrm>
            <a:off x="1238250" y="3801740"/>
            <a:ext cx="7467600" cy="1015800"/>
          </a:xfrm>
          <a:prstGeom prst="rect">
            <a:avLst/>
          </a:prstGeom>
          <a:noFill/>
          <a:ln>
            <a:noFill/>
          </a:ln>
        </p:spPr>
        <p:txBody>
          <a:bodyPr spcFirstLastPara="1" wrap="square" lIns="45725" tIns="22850" rIns="45725" bIns="22850" anchor="t" anchorCtr="0">
            <a:spAutoFit/>
          </a:bodyPr>
          <a:lstStyle/>
          <a:p>
            <a:pPr marL="0" marR="0" lvl="0" indent="0" algn="r" rtl="0">
              <a:lnSpc>
                <a:spcPct val="100000"/>
              </a:lnSpc>
              <a:spcBef>
                <a:spcPts val="0"/>
              </a:spcBef>
              <a:spcAft>
                <a:spcPts val="0"/>
              </a:spcAft>
              <a:buClr>
                <a:srgbClr val="000000"/>
              </a:buClr>
              <a:buSzPts val="6000"/>
              <a:buFont typeface="Arial"/>
              <a:buNone/>
            </a:pPr>
            <a:r>
              <a:rPr lang="en" sz="4500">
                <a:solidFill>
                  <a:srgbClr val="197B30"/>
                </a:solidFill>
                <a:latin typeface="Lato"/>
                <a:ea typeface="Lato"/>
                <a:cs typeface="Lato"/>
                <a:sym typeface="Lato"/>
              </a:rPr>
              <a:t>Background</a:t>
            </a:r>
            <a:endParaRPr sz="4500" b="0" i="0" u="none" strike="noStrike" cap="none">
              <a:solidFill>
                <a:srgbClr val="197B30"/>
              </a:solidFill>
              <a:latin typeface="Lato"/>
              <a:ea typeface="Lato"/>
              <a:cs typeface="Lato"/>
              <a:sym typeface="Lato"/>
            </a:endParaRPr>
          </a:p>
          <a:p>
            <a:pPr marL="0" marR="0" lvl="0" indent="0" algn="r" rtl="0">
              <a:lnSpc>
                <a:spcPct val="100000"/>
              </a:lnSpc>
              <a:spcBef>
                <a:spcPts val="0"/>
              </a:spcBef>
              <a:spcAft>
                <a:spcPts val="0"/>
              </a:spcAft>
              <a:buClr>
                <a:srgbClr val="000000"/>
              </a:buClr>
              <a:buSzPts val="3600"/>
              <a:buFont typeface="Arial"/>
              <a:buNone/>
            </a:pPr>
            <a:endParaRPr sz="1800" b="0" i="0" u="none" strike="noStrike" cap="none">
              <a:solidFill>
                <a:schemeClr val="dk1"/>
              </a:solidFill>
              <a:latin typeface="Lato"/>
              <a:ea typeface="Lato"/>
              <a:cs typeface="Lato"/>
              <a:sym typeface="Lato"/>
            </a:endParaRPr>
          </a:p>
        </p:txBody>
      </p:sp>
      <p:pic>
        <p:nvPicPr>
          <p:cNvPr id="107" name="Google Shape;107;p17"/>
          <p:cNvPicPr preferRelativeResize="0"/>
          <p:nvPr/>
        </p:nvPicPr>
        <p:blipFill rotWithShape="1">
          <a:blip r:embed="rId3">
            <a:alphaModFix amt="28000"/>
          </a:blip>
          <a:srcRect l="14687" t="11876" r="-1599" b="7931"/>
          <a:stretch/>
        </p:blipFill>
        <p:spPr>
          <a:xfrm>
            <a:off x="0" y="0"/>
            <a:ext cx="5772150" cy="51435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8"/>
          <p:cNvSpPr txBox="1"/>
          <p:nvPr/>
        </p:nvSpPr>
        <p:spPr>
          <a:xfrm>
            <a:off x="854202" y="83975"/>
            <a:ext cx="82899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Background | </a:t>
            </a:r>
            <a:r>
              <a:rPr lang="en" sz="3000">
                <a:solidFill>
                  <a:srgbClr val="888888"/>
                </a:solidFill>
                <a:latin typeface="Manrope SemiBold"/>
                <a:ea typeface="Manrope SemiBold"/>
                <a:cs typeface="Manrope SemiBold"/>
                <a:sym typeface="Manrope SemiBold"/>
              </a:rPr>
              <a:t>ToC Food Security Outcome</a:t>
            </a:r>
            <a:endParaRPr sz="2200">
              <a:solidFill>
                <a:srgbClr val="888888"/>
              </a:solidFill>
              <a:latin typeface="Manrope SemiBold"/>
              <a:ea typeface="Manrope SemiBold"/>
              <a:cs typeface="Manrope SemiBold"/>
              <a:sym typeface="Manrope SemiBold"/>
            </a:endParaRPr>
          </a:p>
        </p:txBody>
      </p:sp>
      <p:sp>
        <p:nvSpPr>
          <p:cNvPr id="113" name="Google Shape;113;p18"/>
          <p:cNvSpPr txBox="1"/>
          <p:nvPr/>
        </p:nvSpPr>
        <p:spPr>
          <a:xfrm>
            <a:off x="224375" y="777925"/>
            <a:ext cx="7062600" cy="492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a:solidFill>
                  <a:schemeClr val="lt1"/>
                </a:solidFill>
                <a:highlight>
                  <a:srgbClr val="197B30"/>
                </a:highlight>
                <a:latin typeface="Manrope"/>
                <a:ea typeface="Manrope"/>
                <a:cs typeface="Manrope"/>
                <a:sym typeface="Manrope"/>
              </a:rPr>
              <a:t>ToC Metric: Increase in food security in the lean season</a:t>
            </a:r>
            <a:endParaRPr>
              <a:solidFill>
                <a:srgbClr val="434343"/>
              </a:solidFill>
              <a:highlight>
                <a:srgbClr val="197B30"/>
              </a:highlight>
              <a:latin typeface="Manrope"/>
              <a:ea typeface="Manrope"/>
              <a:cs typeface="Manrope"/>
              <a:sym typeface="Manrope"/>
            </a:endParaRPr>
          </a:p>
        </p:txBody>
      </p:sp>
      <p:sp>
        <p:nvSpPr>
          <p:cNvPr id="114" name="Google Shape;114;p18"/>
          <p:cNvSpPr txBox="1"/>
          <p:nvPr/>
        </p:nvSpPr>
        <p:spPr>
          <a:xfrm>
            <a:off x="4800625" y="1316736"/>
            <a:ext cx="3742800" cy="804406"/>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000"/>
              </a:spcBef>
              <a:spcAft>
                <a:spcPts val="0"/>
              </a:spcAft>
              <a:buNone/>
            </a:pPr>
            <a:r>
              <a:rPr lang="en" sz="1800" b="1" dirty="0">
                <a:solidFill>
                  <a:srgbClr val="197B30"/>
                </a:solidFill>
                <a:latin typeface="Manrope"/>
                <a:ea typeface="Manrope"/>
                <a:cs typeface="Manrope"/>
                <a:sym typeface="Manrope"/>
              </a:rPr>
              <a:t>Standard IPC Phases*</a:t>
            </a:r>
            <a:endParaRPr sz="1800" b="1" dirty="0">
              <a:solidFill>
                <a:srgbClr val="197B30"/>
              </a:solidFill>
              <a:latin typeface="Manrope"/>
              <a:ea typeface="Manrope"/>
              <a:cs typeface="Manrope"/>
              <a:sym typeface="Manrope"/>
            </a:endParaRPr>
          </a:p>
          <a:p>
            <a:pPr marL="0" lvl="0" indent="0" algn="ctr" rtl="0">
              <a:lnSpc>
                <a:spcPct val="115000"/>
              </a:lnSpc>
              <a:spcBef>
                <a:spcPts val="0"/>
              </a:spcBef>
              <a:spcAft>
                <a:spcPts val="0"/>
              </a:spcAft>
              <a:buNone/>
            </a:pPr>
            <a:r>
              <a:rPr lang="en" b="1" dirty="0">
                <a:solidFill>
                  <a:srgbClr val="434343"/>
                </a:solidFill>
                <a:latin typeface="Manrope"/>
                <a:ea typeface="Manrope"/>
                <a:cs typeface="Manrope"/>
                <a:sym typeface="Manrope"/>
              </a:rPr>
              <a:t>Categories To Help Interpret Scores</a:t>
            </a:r>
            <a:endParaRPr b="1" dirty="0">
              <a:solidFill>
                <a:srgbClr val="434343"/>
              </a:solidFill>
              <a:latin typeface="Manrope"/>
              <a:ea typeface="Manrope"/>
              <a:cs typeface="Manrope"/>
              <a:sym typeface="Manrope"/>
            </a:endParaRPr>
          </a:p>
          <a:p>
            <a:pPr marL="0" lvl="0" indent="0" algn="ctr" rtl="0">
              <a:lnSpc>
                <a:spcPct val="115000"/>
              </a:lnSpc>
              <a:spcBef>
                <a:spcPts val="1000"/>
              </a:spcBef>
              <a:spcAft>
                <a:spcPts val="0"/>
              </a:spcAft>
              <a:buNone/>
            </a:pPr>
            <a:endParaRPr sz="1800" b="1" dirty="0">
              <a:solidFill>
                <a:srgbClr val="197B30"/>
              </a:solidFill>
              <a:latin typeface="Manrope"/>
              <a:ea typeface="Manrope"/>
              <a:cs typeface="Manrope"/>
              <a:sym typeface="Manrope"/>
            </a:endParaRPr>
          </a:p>
          <a:p>
            <a:pPr marL="0" lvl="0" indent="0" algn="ctr" rtl="0">
              <a:lnSpc>
                <a:spcPct val="115000"/>
              </a:lnSpc>
              <a:spcBef>
                <a:spcPts val="1000"/>
              </a:spcBef>
              <a:spcAft>
                <a:spcPts val="0"/>
              </a:spcAft>
              <a:buNone/>
            </a:pPr>
            <a:endParaRPr sz="1800" b="1" dirty="0">
              <a:solidFill>
                <a:srgbClr val="197B30"/>
              </a:solidFill>
              <a:latin typeface="Manrope"/>
              <a:ea typeface="Manrope"/>
              <a:cs typeface="Manrope"/>
              <a:sym typeface="Manrope"/>
            </a:endParaRPr>
          </a:p>
          <a:p>
            <a:pPr marL="0" lvl="0" indent="0" algn="ctr" rtl="0">
              <a:lnSpc>
                <a:spcPct val="115000"/>
              </a:lnSpc>
              <a:spcBef>
                <a:spcPts val="1000"/>
              </a:spcBef>
              <a:spcAft>
                <a:spcPts val="0"/>
              </a:spcAft>
              <a:buNone/>
            </a:pPr>
            <a:endParaRPr sz="1800" b="1" dirty="0">
              <a:solidFill>
                <a:srgbClr val="197B30"/>
              </a:solidFill>
              <a:latin typeface="Manrope"/>
              <a:ea typeface="Manrope"/>
              <a:cs typeface="Manrope"/>
              <a:sym typeface="Manrope"/>
            </a:endParaRPr>
          </a:p>
          <a:p>
            <a:pPr marL="0" lvl="0" indent="0" algn="ctr" rtl="0">
              <a:lnSpc>
                <a:spcPct val="115000"/>
              </a:lnSpc>
              <a:spcBef>
                <a:spcPts val="1000"/>
              </a:spcBef>
              <a:spcAft>
                <a:spcPts val="0"/>
              </a:spcAft>
              <a:buNone/>
            </a:pPr>
            <a:endParaRPr sz="1800" b="1" dirty="0">
              <a:solidFill>
                <a:srgbClr val="197B30"/>
              </a:solidFill>
              <a:latin typeface="Manrope"/>
              <a:ea typeface="Manrope"/>
              <a:cs typeface="Manrope"/>
              <a:sym typeface="Manrope"/>
            </a:endParaRPr>
          </a:p>
          <a:p>
            <a:pPr marL="0" lvl="0" indent="0" algn="ctr" rtl="0">
              <a:lnSpc>
                <a:spcPct val="115000"/>
              </a:lnSpc>
              <a:spcBef>
                <a:spcPts val="1000"/>
              </a:spcBef>
              <a:spcAft>
                <a:spcPts val="0"/>
              </a:spcAft>
              <a:buNone/>
            </a:pPr>
            <a:endParaRPr sz="1800" b="1" dirty="0">
              <a:solidFill>
                <a:srgbClr val="197B30"/>
              </a:solidFill>
              <a:latin typeface="Manrope"/>
              <a:ea typeface="Manrope"/>
              <a:cs typeface="Manrope"/>
              <a:sym typeface="Manrope"/>
            </a:endParaRPr>
          </a:p>
          <a:p>
            <a:pPr marL="0" lvl="0" indent="0" algn="r" rtl="0">
              <a:lnSpc>
                <a:spcPct val="115000"/>
              </a:lnSpc>
              <a:spcBef>
                <a:spcPts val="1000"/>
              </a:spcBef>
              <a:spcAft>
                <a:spcPts val="0"/>
              </a:spcAft>
              <a:buClr>
                <a:schemeClr val="dk1"/>
              </a:buClr>
              <a:buSzPts val="1100"/>
              <a:buFont typeface="Arial"/>
              <a:buNone/>
            </a:pPr>
            <a:r>
              <a:rPr lang="en" sz="1100" dirty="0">
                <a:solidFill>
                  <a:srgbClr val="666666"/>
                </a:solidFill>
                <a:latin typeface="Manrope"/>
                <a:ea typeface="Manrope"/>
                <a:cs typeface="Manrope"/>
                <a:sym typeface="Manrope"/>
              </a:rPr>
              <a:t>*</a:t>
            </a:r>
            <a:r>
              <a:rPr lang="en" sz="1100" u="sng" dirty="0">
                <a:solidFill>
                  <a:schemeClr val="hlink"/>
                </a:solidFill>
                <a:latin typeface="Manrope"/>
                <a:ea typeface="Manrope"/>
                <a:cs typeface="Manrope"/>
                <a:sym typeface="Manrope"/>
                <a:hlinkClick r:id="rId3"/>
              </a:rPr>
              <a:t>Integrated Food Security Phase Classification</a:t>
            </a:r>
            <a:endParaRPr sz="1800" b="1" dirty="0">
              <a:solidFill>
                <a:srgbClr val="197B30"/>
              </a:solidFill>
              <a:latin typeface="Manrope"/>
              <a:ea typeface="Manrope"/>
              <a:cs typeface="Manrope"/>
              <a:sym typeface="Manrope"/>
            </a:endParaRPr>
          </a:p>
        </p:txBody>
      </p:sp>
      <p:pic>
        <p:nvPicPr>
          <p:cNvPr id="115" name="Google Shape;115;p18"/>
          <p:cNvPicPr preferRelativeResize="0"/>
          <p:nvPr/>
        </p:nvPicPr>
        <p:blipFill rotWithShape="1">
          <a:blip r:embed="rId4">
            <a:alphaModFix/>
          </a:blip>
          <a:srcRect/>
          <a:stretch/>
        </p:blipFill>
        <p:spPr>
          <a:xfrm>
            <a:off x="103491" y="145580"/>
            <a:ext cx="626264" cy="507837"/>
          </a:xfrm>
          <a:prstGeom prst="rect">
            <a:avLst/>
          </a:prstGeom>
          <a:noFill/>
          <a:ln>
            <a:noFill/>
          </a:ln>
        </p:spPr>
      </p:pic>
      <p:graphicFrame>
        <p:nvGraphicFramePr>
          <p:cNvPr id="116" name="Google Shape;116;p18"/>
          <p:cNvGraphicFramePr/>
          <p:nvPr/>
        </p:nvGraphicFramePr>
        <p:xfrm>
          <a:off x="4800588" y="2188001"/>
          <a:ext cx="3742825" cy="1849120"/>
        </p:xfrm>
        <a:graphic>
          <a:graphicData uri="http://schemas.openxmlformats.org/drawingml/2006/table">
            <a:tbl>
              <a:tblPr>
                <a:noFill/>
                <a:tableStyleId>{30DB1E6E-BAFB-4045-8679-1D4DE15F8355}</a:tableStyleId>
              </a:tblPr>
              <a:tblGrid>
                <a:gridCol w="1025525">
                  <a:extLst>
                    <a:ext uri="{9D8B030D-6E8A-4147-A177-3AD203B41FA5}">
                      <a16:colId xmlns:a16="http://schemas.microsoft.com/office/drawing/2014/main" val="20000"/>
                    </a:ext>
                  </a:extLst>
                </a:gridCol>
                <a:gridCol w="1522225">
                  <a:extLst>
                    <a:ext uri="{9D8B030D-6E8A-4147-A177-3AD203B41FA5}">
                      <a16:colId xmlns:a16="http://schemas.microsoft.com/office/drawing/2014/main" val="20001"/>
                    </a:ext>
                  </a:extLst>
                </a:gridCol>
                <a:gridCol w="1195075">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Phase</a:t>
                      </a:r>
                      <a:endParaRPr sz="11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Category</a:t>
                      </a:r>
                      <a:endParaRPr sz="11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rCSI Score Range</a:t>
                      </a:r>
                      <a:endParaRPr sz="11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1</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No to minimal food insecurity</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0-3</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2</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“Stressed” phase; some food insecurity</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4-18</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3</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Severe or crisis food insecurity</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≥19</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17" name="Google Shape;117;p18"/>
          <p:cNvSpPr txBox="1"/>
          <p:nvPr/>
        </p:nvSpPr>
        <p:spPr>
          <a:xfrm>
            <a:off x="224375" y="1429100"/>
            <a:ext cx="4119000" cy="3603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a:solidFill>
                  <a:srgbClr val="197B30"/>
                </a:solidFill>
                <a:latin typeface="Manrope"/>
                <a:ea typeface="Manrope"/>
                <a:cs typeface="Manrope"/>
                <a:sym typeface="Manrope"/>
              </a:rPr>
              <a:t>How we measure food security: </a:t>
            </a:r>
            <a:r>
              <a:rPr lang="en" sz="1800" b="1">
                <a:solidFill>
                  <a:srgbClr val="197B30"/>
                </a:solidFill>
                <a:latin typeface="Manrope"/>
                <a:ea typeface="Manrope"/>
                <a:cs typeface="Manrope"/>
                <a:sym typeface="Manrope"/>
              </a:rPr>
              <a:t>Reduced Coping Strategies Index (rCSI)</a:t>
            </a:r>
            <a:endParaRPr sz="1800" b="1">
              <a:solidFill>
                <a:srgbClr val="197B30"/>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Char char="●"/>
            </a:pPr>
            <a:r>
              <a:rPr lang="en">
                <a:solidFill>
                  <a:srgbClr val="434343"/>
                </a:solidFill>
                <a:latin typeface="Manrope"/>
                <a:ea typeface="Manrope"/>
                <a:cs typeface="Manrope"/>
                <a:sym typeface="Manrope"/>
              </a:rPr>
              <a:t>Proxy indicator of household food insecurity based on a list of hunger coping strategies</a:t>
            </a:r>
            <a:endParaRPr>
              <a:solidFill>
                <a:srgbClr val="434343"/>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Char char="●"/>
            </a:pPr>
            <a:r>
              <a:rPr lang="en">
                <a:solidFill>
                  <a:srgbClr val="434343"/>
                </a:solidFill>
                <a:latin typeface="Manrope"/>
                <a:ea typeface="Manrope"/>
                <a:cs typeface="Manrope"/>
                <a:sym typeface="Manrope"/>
              </a:rPr>
              <a:t>rCSI score range: 0 - 56</a:t>
            </a:r>
            <a:endParaRPr>
              <a:solidFill>
                <a:srgbClr val="434343"/>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Char char="●"/>
            </a:pPr>
            <a:r>
              <a:rPr lang="en">
                <a:solidFill>
                  <a:srgbClr val="434343"/>
                </a:solidFill>
                <a:latin typeface="Manrope"/>
                <a:ea typeface="Manrope"/>
                <a:cs typeface="Manrope"/>
                <a:sym typeface="Manrope"/>
              </a:rPr>
              <a:t>Lower score = more food secure household</a:t>
            </a:r>
            <a:endParaRPr>
              <a:solidFill>
                <a:srgbClr val="434343"/>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Char char="●"/>
            </a:pPr>
            <a:r>
              <a:rPr lang="en" b="1">
                <a:solidFill>
                  <a:srgbClr val="434343"/>
                </a:solidFill>
                <a:latin typeface="Manrope"/>
                <a:ea typeface="Manrope"/>
                <a:cs typeface="Manrope"/>
                <a:sym typeface="Manrope"/>
              </a:rPr>
              <a:t>Hypothesis: myAgro decreases household rCSI</a:t>
            </a:r>
            <a:endParaRPr>
              <a:solidFill>
                <a:srgbClr val="434343"/>
              </a:solidFill>
              <a:latin typeface="Manrope"/>
              <a:ea typeface="Manrope"/>
              <a:cs typeface="Manrope"/>
              <a:sym typeface="Manrop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p:nvPr/>
        </p:nvSpPr>
        <p:spPr>
          <a:xfrm>
            <a:off x="6355575" y="621791"/>
            <a:ext cx="2636400" cy="536371"/>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000"/>
              </a:spcBef>
              <a:spcAft>
                <a:spcPts val="0"/>
              </a:spcAft>
              <a:buNone/>
            </a:pPr>
            <a:r>
              <a:rPr lang="en" b="1" dirty="0">
                <a:solidFill>
                  <a:srgbClr val="197B30"/>
                </a:solidFill>
                <a:latin typeface="Manrope"/>
                <a:ea typeface="Manrope"/>
                <a:cs typeface="Manrope"/>
                <a:sym typeface="Manrope"/>
              </a:rPr>
              <a:t>Annual Food Security Cycle</a:t>
            </a:r>
            <a:endParaRPr b="1" dirty="0">
              <a:solidFill>
                <a:srgbClr val="197B30"/>
              </a:solidFill>
              <a:latin typeface="Manrope"/>
              <a:ea typeface="Manrope"/>
              <a:cs typeface="Manrope"/>
              <a:sym typeface="Manrope"/>
            </a:endParaRPr>
          </a:p>
        </p:txBody>
      </p:sp>
      <p:sp>
        <p:nvSpPr>
          <p:cNvPr id="123" name="Google Shape;123;p19"/>
          <p:cNvSpPr txBox="1"/>
          <p:nvPr/>
        </p:nvSpPr>
        <p:spPr>
          <a:xfrm>
            <a:off x="854200" y="83975"/>
            <a:ext cx="55452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Background | </a:t>
            </a:r>
            <a:r>
              <a:rPr lang="en" sz="3000">
                <a:solidFill>
                  <a:srgbClr val="888888"/>
                </a:solidFill>
                <a:latin typeface="Manrope SemiBold"/>
                <a:ea typeface="Manrope SemiBold"/>
                <a:cs typeface="Manrope SemiBold"/>
                <a:sym typeface="Manrope SemiBold"/>
              </a:rPr>
              <a:t>Data Collection</a:t>
            </a:r>
            <a:endParaRPr sz="2200">
              <a:solidFill>
                <a:srgbClr val="888888"/>
              </a:solidFill>
              <a:latin typeface="Manrope SemiBold"/>
              <a:ea typeface="Manrope SemiBold"/>
              <a:cs typeface="Manrope SemiBold"/>
              <a:sym typeface="Manrope SemiBold"/>
            </a:endParaRPr>
          </a:p>
        </p:txBody>
      </p:sp>
      <p:sp>
        <p:nvSpPr>
          <p:cNvPr id="124" name="Google Shape;124;p19"/>
          <p:cNvSpPr txBox="1"/>
          <p:nvPr/>
        </p:nvSpPr>
        <p:spPr>
          <a:xfrm>
            <a:off x="224375" y="777925"/>
            <a:ext cx="6085500" cy="446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a:solidFill>
                  <a:srgbClr val="197B30"/>
                </a:solidFill>
                <a:latin typeface="Manrope"/>
                <a:ea typeface="Manrope"/>
                <a:cs typeface="Manrope"/>
                <a:sym typeface="Manrope"/>
              </a:rPr>
              <a:t>October 2023 - September 2024</a:t>
            </a:r>
            <a:endParaRPr sz="2000" b="1">
              <a:solidFill>
                <a:srgbClr val="197B30"/>
              </a:solidFill>
              <a:latin typeface="Manrope"/>
              <a:ea typeface="Manrope"/>
              <a:cs typeface="Manrope"/>
              <a:sym typeface="Manrope"/>
            </a:endParaRPr>
          </a:p>
          <a:p>
            <a:pPr marL="457200" lvl="0" indent="-311150" algn="l" rtl="0">
              <a:lnSpc>
                <a:spcPct val="115000"/>
              </a:lnSpc>
              <a:spcBef>
                <a:spcPts val="1000"/>
              </a:spcBef>
              <a:spcAft>
                <a:spcPts val="0"/>
              </a:spcAft>
              <a:buClr>
                <a:srgbClr val="434343"/>
              </a:buClr>
              <a:buSzPts val="1300"/>
              <a:buFont typeface="Manrope"/>
              <a:buChar char="●"/>
            </a:pPr>
            <a:r>
              <a:rPr lang="en" sz="1300">
                <a:solidFill>
                  <a:srgbClr val="434343"/>
                </a:solidFill>
                <a:latin typeface="Manrope"/>
                <a:ea typeface="Manrope"/>
                <a:cs typeface="Manrope"/>
                <a:sym typeface="Manrope"/>
              </a:rPr>
              <a:t>Post-harvest to lean season (one full food security cycle)</a:t>
            </a:r>
            <a:endParaRPr sz="1300">
              <a:solidFill>
                <a:srgbClr val="434343"/>
              </a:solidFill>
              <a:latin typeface="Manrope"/>
              <a:ea typeface="Manrope"/>
              <a:cs typeface="Manrope"/>
              <a:sym typeface="Manrope"/>
            </a:endParaRPr>
          </a:p>
          <a:p>
            <a:pPr marL="457200" lvl="0" indent="-311150" algn="l" rtl="0">
              <a:lnSpc>
                <a:spcPct val="115000"/>
              </a:lnSpc>
              <a:spcBef>
                <a:spcPts val="1000"/>
              </a:spcBef>
              <a:spcAft>
                <a:spcPts val="0"/>
              </a:spcAft>
              <a:buClr>
                <a:srgbClr val="434343"/>
              </a:buClr>
              <a:buSzPts val="1300"/>
              <a:buFont typeface="Manrope"/>
              <a:buChar char="●"/>
            </a:pPr>
            <a:r>
              <a:rPr lang="en" sz="1300">
                <a:solidFill>
                  <a:srgbClr val="434343"/>
                </a:solidFill>
                <a:latin typeface="Manrope"/>
                <a:ea typeface="Manrope"/>
                <a:cs typeface="Manrope"/>
                <a:sym typeface="Manrope"/>
              </a:rPr>
              <a:t>Nearly </a:t>
            </a:r>
            <a:r>
              <a:rPr lang="en" sz="1300" b="1">
                <a:solidFill>
                  <a:srgbClr val="434343"/>
                </a:solidFill>
                <a:latin typeface="Manrope"/>
                <a:ea typeface="Manrope"/>
                <a:cs typeface="Manrope"/>
                <a:sym typeface="Manrope"/>
              </a:rPr>
              <a:t>12,000</a:t>
            </a:r>
            <a:r>
              <a:rPr lang="en" sz="1300">
                <a:solidFill>
                  <a:srgbClr val="434343"/>
                </a:solidFill>
                <a:latin typeface="Manrope"/>
                <a:ea typeface="Manrope"/>
                <a:cs typeface="Manrope"/>
                <a:sym typeface="Manrope"/>
              </a:rPr>
              <a:t> surveys were conducted from a total of </a:t>
            </a:r>
            <a:r>
              <a:rPr lang="en" sz="1300" b="1">
                <a:solidFill>
                  <a:srgbClr val="434343"/>
                </a:solidFill>
                <a:latin typeface="Manrope"/>
                <a:ea typeface="Manrope"/>
                <a:cs typeface="Manrope"/>
                <a:sym typeface="Manrope"/>
              </a:rPr>
              <a:t>4,731</a:t>
            </a:r>
            <a:r>
              <a:rPr lang="en" sz="1300">
                <a:solidFill>
                  <a:srgbClr val="434343"/>
                </a:solidFill>
                <a:latin typeface="Manrope"/>
                <a:ea typeface="Manrope"/>
                <a:cs typeface="Manrope"/>
                <a:sym typeface="Manrope"/>
              </a:rPr>
              <a:t> control and treatment (myAgro) households in </a:t>
            </a:r>
            <a:r>
              <a:rPr lang="en" sz="1300" b="1">
                <a:solidFill>
                  <a:srgbClr val="434343"/>
                </a:solidFill>
                <a:latin typeface="Manrope"/>
                <a:ea typeface="Manrope"/>
                <a:cs typeface="Manrope"/>
                <a:sym typeface="Manrope"/>
              </a:rPr>
              <a:t>245</a:t>
            </a:r>
            <a:r>
              <a:rPr lang="en" sz="1300">
                <a:solidFill>
                  <a:srgbClr val="434343"/>
                </a:solidFill>
                <a:latin typeface="Manrope"/>
                <a:ea typeface="Manrope"/>
                <a:cs typeface="Manrope"/>
                <a:sym typeface="Manrope"/>
              </a:rPr>
              <a:t> villages</a:t>
            </a:r>
            <a:endParaRPr sz="1300">
              <a:solidFill>
                <a:srgbClr val="434343"/>
              </a:solidFill>
              <a:latin typeface="Manrope"/>
              <a:ea typeface="Manrope"/>
              <a:cs typeface="Manrope"/>
              <a:sym typeface="Manrope"/>
            </a:endParaRPr>
          </a:p>
          <a:p>
            <a:pPr marL="457200" lvl="0" indent="-311150" algn="l" rtl="0">
              <a:lnSpc>
                <a:spcPct val="115000"/>
              </a:lnSpc>
              <a:spcBef>
                <a:spcPts val="1000"/>
              </a:spcBef>
              <a:spcAft>
                <a:spcPts val="0"/>
              </a:spcAft>
              <a:buClr>
                <a:srgbClr val="434343"/>
              </a:buClr>
              <a:buSzPts val="1300"/>
              <a:buFont typeface="Manrope"/>
              <a:buChar char="●"/>
            </a:pPr>
            <a:r>
              <a:rPr lang="en" sz="1300">
                <a:solidFill>
                  <a:srgbClr val="434343"/>
                </a:solidFill>
                <a:latin typeface="Manrope"/>
                <a:ea typeface="Manrope"/>
                <a:cs typeface="Manrope"/>
                <a:sym typeface="Manrope"/>
              </a:rPr>
              <a:t>Sample villages were selected across </a:t>
            </a:r>
            <a:r>
              <a:rPr lang="en" sz="1300" b="1">
                <a:solidFill>
                  <a:srgbClr val="434343"/>
                </a:solidFill>
                <a:latin typeface="Manrope"/>
                <a:ea typeface="Manrope"/>
                <a:cs typeface="Manrope"/>
                <a:sym typeface="Manrope"/>
              </a:rPr>
              <a:t>geographically clustered zones</a:t>
            </a:r>
            <a:r>
              <a:rPr lang="en" sz="1300">
                <a:solidFill>
                  <a:srgbClr val="434343"/>
                </a:solidFill>
                <a:latin typeface="Manrope"/>
                <a:ea typeface="Manrope"/>
                <a:cs typeface="Manrope"/>
                <a:sym typeface="Manrope"/>
              </a:rPr>
              <a:t> in each country.</a:t>
            </a:r>
            <a:endParaRPr sz="1300">
              <a:solidFill>
                <a:srgbClr val="434343"/>
              </a:solidFill>
              <a:latin typeface="Manrope"/>
              <a:ea typeface="Manrope"/>
              <a:cs typeface="Manrope"/>
              <a:sym typeface="Manrope"/>
            </a:endParaRPr>
          </a:p>
          <a:p>
            <a:pPr marL="914400" lvl="1" indent="-311150" algn="l" rtl="0">
              <a:lnSpc>
                <a:spcPct val="115000"/>
              </a:lnSpc>
              <a:spcBef>
                <a:spcPts val="1000"/>
              </a:spcBef>
              <a:spcAft>
                <a:spcPts val="0"/>
              </a:spcAft>
              <a:buClr>
                <a:srgbClr val="434343"/>
              </a:buClr>
              <a:buSzPts val="1300"/>
              <a:buFont typeface="Manrope"/>
              <a:buChar char="○"/>
            </a:pPr>
            <a:r>
              <a:rPr lang="en" sz="1300" b="1">
                <a:solidFill>
                  <a:srgbClr val="434343"/>
                </a:solidFill>
                <a:latin typeface="Manrope"/>
                <a:ea typeface="Manrope"/>
                <a:cs typeface="Manrope"/>
                <a:sym typeface="Manrope"/>
              </a:rPr>
              <a:t>Mali: </a:t>
            </a:r>
            <a:r>
              <a:rPr lang="en" sz="1300">
                <a:solidFill>
                  <a:srgbClr val="434343"/>
                </a:solidFill>
                <a:latin typeface="Manrope"/>
                <a:ea typeface="Manrope"/>
                <a:cs typeface="Manrope"/>
                <a:sym typeface="Manrope"/>
              </a:rPr>
              <a:t>Lobougoula, Niena, Koumantou, and Kadiolo</a:t>
            </a:r>
            <a:endParaRPr sz="1300">
              <a:solidFill>
                <a:srgbClr val="434343"/>
              </a:solidFill>
              <a:latin typeface="Manrope"/>
              <a:ea typeface="Manrope"/>
              <a:cs typeface="Manrope"/>
              <a:sym typeface="Manrope"/>
            </a:endParaRPr>
          </a:p>
          <a:p>
            <a:pPr marL="914400" lvl="1" indent="-311150" algn="l" rtl="0">
              <a:lnSpc>
                <a:spcPct val="115000"/>
              </a:lnSpc>
              <a:spcBef>
                <a:spcPts val="1000"/>
              </a:spcBef>
              <a:spcAft>
                <a:spcPts val="0"/>
              </a:spcAft>
              <a:buClr>
                <a:srgbClr val="434343"/>
              </a:buClr>
              <a:buSzPts val="1300"/>
              <a:buFont typeface="Manrope"/>
              <a:buChar char="○"/>
            </a:pPr>
            <a:r>
              <a:rPr lang="en" sz="1300" b="1">
                <a:solidFill>
                  <a:srgbClr val="434343"/>
                </a:solidFill>
                <a:latin typeface="Manrope"/>
                <a:ea typeface="Manrope"/>
                <a:cs typeface="Manrope"/>
                <a:sym typeface="Manrope"/>
              </a:rPr>
              <a:t>Senegal:</a:t>
            </a:r>
            <a:r>
              <a:rPr lang="en" sz="1300">
                <a:solidFill>
                  <a:srgbClr val="434343"/>
                </a:solidFill>
                <a:latin typeface="Manrope"/>
                <a:ea typeface="Manrope"/>
                <a:cs typeface="Manrope"/>
                <a:sym typeface="Manrope"/>
              </a:rPr>
              <a:t> Passi, Ndoffane, Kaolack, Gossas, and Kaffrine</a:t>
            </a:r>
            <a:endParaRPr sz="1300">
              <a:solidFill>
                <a:srgbClr val="434343"/>
              </a:solidFill>
              <a:latin typeface="Manrope"/>
              <a:ea typeface="Manrope"/>
              <a:cs typeface="Manrope"/>
              <a:sym typeface="Manrope"/>
            </a:endParaRPr>
          </a:p>
          <a:p>
            <a:pPr marL="457200" lvl="0" indent="-311150" algn="l" rtl="0">
              <a:lnSpc>
                <a:spcPct val="115000"/>
              </a:lnSpc>
              <a:spcBef>
                <a:spcPts val="1000"/>
              </a:spcBef>
              <a:spcAft>
                <a:spcPts val="0"/>
              </a:spcAft>
              <a:buClr>
                <a:srgbClr val="434343"/>
              </a:buClr>
              <a:buSzPts val="1300"/>
              <a:buFont typeface="Manrope"/>
              <a:buChar char="●"/>
            </a:pPr>
            <a:r>
              <a:rPr lang="en" sz="1300">
                <a:solidFill>
                  <a:srgbClr val="434343"/>
                </a:solidFill>
                <a:latin typeface="Manrope"/>
                <a:ea typeface="Manrope"/>
                <a:cs typeface="Manrope"/>
                <a:sym typeface="Manrope"/>
              </a:rPr>
              <a:t>As the data represents one geographic area in each country, the results do not reflect all areas of myAgro operation. Therefore, </a:t>
            </a:r>
            <a:r>
              <a:rPr lang="en" sz="1300" b="1">
                <a:solidFill>
                  <a:srgbClr val="434343"/>
                </a:solidFill>
                <a:latin typeface="Manrope"/>
                <a:ea typeface="Manrope"/>
                <a:cs typeface="Manrope"/>
                <a:sym typeface="Manrope"/>
              </a:rPr>
              <a:t>the conclusions drawn from this analysis are limited to the research areas only. </a:t>
            </a:r>
            <a:r>
              <a:rPr lang="en" sz="1300">
                <a:solidFill>
                  <a:srgbClr val="434343"/>
                </a:solidFill>
                <a:latin typeface="Manrope"/>
                <a:ea typeface="Manrope"/>
                <a:cs typeface="Manrope"/>
                <a:sym typeface="Manrope"/>
              </a:rPr>
              <a:t>This is important to disclose in results reporting.</a:t>
            </a:r>
            <a:endParaRPr sz="1300">
              <a:solidFill>
                <a:srgbClr val="434343"/>
              </a:solidFill>
              <a:latin typeface="Manrope"/>
              <a:ea typeface="Manrope"/>
              <a:cs typeface="Manrope"/>
              <a:sym typeface="Manrope"/>
            </a:endParaRPr>
          </a:p>
          <a:p>
            <a:pPr marL="0" lvl="0" indent="0" algn="l" rtl="0">
              <a:lnSpc>
                <a:spcPct val="115000"/>
              </a:lnSpc>
              <a:spcBef>
                <a:spcPts val="1000"/>
              </a:spcBef>
              <a:spcAft>
                <a:spcPts val="0"/>
              </a:spcAft>
              <a:buNone/>
            </a:pPr>
            <a:endParaRPr sz="1300">
              <a:solidFill>
                <a:srgbClr val="434343"/>
              </a:solidFill>
              <a:latin typeface="Manrope"/>
              <a:ea typeface="Manrope"/>
              <a:cs typeface="Manrope"/>
              <a:sym typeface="Manrope"/>
            </a:endParaRPr>
          </a:p>
          <a:p>
            <a:pPr marL="0" lvl="0" indent="0" algn="l" rtl="0">
              <a:lnSpc>
                <a:spcPct val="115000"/>
              </a:lnSpc>
              <a:spcBef>
                <a:spcPts val="1000"/>
              </a:spcBef>
              <a:spcAft>
                <a:spcPts val="0"/>
              </a:spcAft>
              <a:buNone/>
            </a:pPr>
            <a:r>
              <a:rPr lang="en" sz="900">
                <a:solidFill>
                  <a:srgbClr val="434343"/>
                </a:solidFill>
                <a:latin typeface="Manrope"/>
                <a:ea typeface="Manrope"/>
                <a:cs typeface="Manrope"/>
                <a:sym typeface="Manrope"/>
              </a:rPr>
              <a:t>For more context and methodology details, see the </a:t>
            </a:r>
            <a:r>
              <a:rPr lang="en" sz="900" i="1">
                <a:solidFill>
                  <a:srgbClr val="434343"/>
                </a:solidFill>
                <a:latin typeface="Manrope"/>
                <a:ea typeface="Manrope"/>
                <a:cs typeface="Manrope"/>
                <a:sym typeface="Manrope"/>
              </a:rPr>
              <a:t>Current Impact Measurement Initiatives </a:t>
            </a:r>
            <a:r>
              <a:rPr lang="en" sz="900" i="1" u="sng">
                <a:solidFill>
                  <a:schemeClr val="hlink"/>
                </a:solidFill>
                <a:latin typeface="Manrope"/>
                <a:ea typeface="Manrope"/>
                <a:cs typeface="Manrope"/>
                <a:sym typeface="Manrope"/>
                <a:hlinkClick r:id="rId3"/>
              </a:rPr>
              <a:t>document</a:t>
            </a:r>
            <a:endParaRPr sz="900" i="1">
              <a:solidFill>
                <a:srgbClr val="434343"/>
              </a:solidFill>
              <a:latin typeface="Manrope"/>
              <a:ea typeface="Manrope"/>
              <a:cs typeface="Manrope"/>
              <a:sym typeface="Manrope"/>
            </a:endParaRPr>
          </a:p>
        </p:txBody>
      </p:sp>
      <p:graphicFrame>
        <p:nvGraphicFramePr>
          <p:cNvPr id="125" name="Google Shape;125;p19"/>
          <p:cNvGraphicFramePr/>
          <p:nvPr/>
        </p:nvGraphicFramePr>
        <p:xfrm>
          <a:off x="6355563" y="1158150"/>
          <a:ext cx="2636375" cy="2984775"/>
        </p:xfrm>
        <a:graphic>
          <a:graphicData uri="http://schemas.openxmlformats.org/drawingml/2006/table">
            <a:tbl>
              <a:tblPr>
                <a:noFill/>
                <a:tableStyleId>{30DB1E6E-BAFB-4045-8679-1D4DE15F8355}</a:tableStyleId>
              </a:tblPr>
              <a:tblGrid>
                <a:gridCol w="625150">
                  <a:extLst>
                    <a:ext uri="{9D8B030D-6E8A-4147-A177-3AD203B41FA5}">
                      <a16:colId xmlns:a16="http://schemas.microsoft.com/office/drawing/2014/main" val="20000"/>
                    </a:ext>
                  </a:extLst>
                </a:gridCol>
                <a:gridCol w="787125">
                  <a:extLst>
                    <a:ext uri="{9D8B030D-6E8A-4147-A177-3AD203B41FA5}">
                      <a16:colId xmlns:a16="http://schemas.microsoft.com/office/drawing/2014/main" val="20001"/>
                    </a:ext>
                  </a:extLst>
                </a:gridCol>
                <a:gridCol w="1224100">
                  <a:extLst>
                    <a:ext uri="{9D8B030D-6E8A-4147-A177-3AD203B41FA5}">
                      <a16:colId xmlns:a16="http://schemas.microsoft.com/office/drawing/2014/main" val="20002"/>
                    </a:ext>
                  </a:extLst>
                </a:gridCol>
              </a:tblGrid>
              <a:tr h="501200">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Phase</a:t>
                      </a:r>
                      <a:endParaRPr sz="11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Months</a:t>
                      </a:r>
                      <a:endParaRPr sz="11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Characteristics</a:t>
                      </a:r>
                      <a:endParaRPr sz="11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extLst>
                  <a:ext uri="{0D108BD9-81ED-4DB2-BD59-A6C34878D82A}">
                    <a16:rowId xmlns:a16="http://schemas.microsoft.com/office/drawing/2014/main" val="10000"/>
                  </a:ext>
                </a:extLst>
              </a:tr>
              <a:tr h="550950">
                <a:tc>
                  <a:txBody>
                    <a:bodyPr/>
                    <a:lstStyle/>
                    <a:p>
                      <a:pPr marL="0" lvl="0" indent="0" algn="ctr" rtl="0">
                        <a:spcBef>
                          <a:spcPts val="0"/>
                        </a:spcBef>
                        <a:spcAft>
                          <a:spcPts val="0"/>
                        </a:spcAft>
                        <a:buNone/>
                      </a:pPr>
                      <a:r>
                        <a:rPr lang="en" sz="1000">
                          <a:solidFill>
                            <a:srgbClr val="434343"/>
                          </a:solidFill>
                          <a:latin typeface="Manrope"/>
                          <a:ea typeface="Manrope"/>
                          <a:cs typeface="Manrope"/>
                          <a:sym typeface="Manrope"/>
                        </a:rPr>
                        <a:t>Peak</a:t>
                      </a:r>
                      <a:endParaRPr sz="10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434343"/>
                          </a:solidFill>
                          <a:latin typeface="Manrope"/>
                          <a:ea typeface="Manrope"/>
                          <a:cs typeface="Manrope"/>
                          <a:sym typeface="Manrope"/>
                        </a:rPr>
                        <a:t>October - January</a:t>
                      </a:r>
                      <a:endParaRPr sz="10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000">
                          <a:solidFill>
                            <a:srgbClr val="434343"/>
                          </a:solidFill>
                          <a:latin typeface="Manrope"/>
                          <a:ea typeface="Manrope"/>
                          <a:cs typeface="Manrope"/>
                          <a:sym typeface="Manrope"/>
                        </a:rPr>
                        <a:t>Harvests are plentiful</a:t>
                      </a:r>
                      <a:endParaRPr sz="10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798575">
                <a:tc>
                  <a:txBody>
                    <a:bodyPr/>
                    <a:lstStyle/>
                    <a:p>
                      <a:pPr marL="0" lvl="0" indent="0" algn="ctr" rtl="0">
                        <a:spcBef>
                          <a:spcPts val="0"/>
                        </a:spcBef>
                        <a:spcAft>
                          <a:spcPts val="0"/>
                        </a:spcAft>
                        <a:buNone/>
                      </a:pPr>
                      <a:r>
                        <a:rPr lang="en" sz="1000">
                          <a:solidFill>
                            <a:srgbClr val="434343"/>
                          </a:solidFill>
                          <a:latin typeface="Manrope"/>
                          <a:ea typeface="Manrope"/>
                          <a:cs typeface="Manrope"/>
                          <a:sym typeface="Manrope"/>
                        </a:rPr>
                        <a:t>Gradual decline</a:t>
                      </a:r>
                      <a:endParaRPr sz="10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434343"/>
                          </a:solidFill>
                          <a:latin typeface="Manrope"/>
                          <a:ea typeface="Manrope"/>
                          <a:cs typeface="Manrope"/>
                          <a:sym typeface="Manrope"/>
                        </a:rPr>
                        <a:t>February - May</a:t>
                      </a:r>
                      <a:endParaRPr sz="10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434343"/>
                          </a:solidFill>
                          <a:latin typeface="Manrope"/>
                          <a:ea typeface="Manrope"/>
                          <a:cs typeface="Manrope"/>
                          <a:sym typeface="Manrope"/>
                        </a:rPr>
                        <a:t>Food stocks and monetary resources dwindle</a:t>
                      </a:r>
                      <a:endParaRPr sz="10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34050">
                <a:tc>
                  <a:txBody>
                    <a:bodyPr/>
                    <a:lstStyle/>
                    <a:p>
                      <a:pPr marL="0" lvl="0" indent="0" algn="ctr" rtl="0">
                        <a:spcBef>
                          <a:spcPts val="0"/>
                        </a:spcBef>
                        <a:spcAft>
                          <a:spcPts val="0"/>
                        </a:spcAft>
                        <a:buNone/>
                      </a:pPr>
                      <a:r>
                        <a:rPr lang="en" sz="1000">
                          <a:solidFill>
                            <a:srgbClr val="434343"/>
                          </a:solidFill>
                          <a:latin typeface="Manrope"/>
                          <a:ea typeface="Manrope"/>
                          <a:cs typeface="Manrope"/>
                          <a:sym typeface="Manrope"/>
                        </a:rPr>
                        <a:t>Lean season</a:t>
                      </a:r>
                      <a:endParaRPr sz="10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434343"/>
                          </a:solidFill>
                          <a:latin typeface="Manrope"/>
                          <a:ea typeface="Manrope"/>
                          <a:cs typeface="Manrope"/>
                          <a:sym typeface="Manrope"/>
                        </a:rPr>
                        <a:t>June - September</a:t>
                      </a:r>
                      <a:endParaRPr sz="10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434343"/>
                          </a:solidFill>
                          <a:latin typeface="Manrope"/>
                          <a:ea typeface="Manrope"/>
                          <a:cs typeface="Manrope"/>
                          <a:sym typeface="Manrope"/>
                        </a:rPr>
                        <a:t>Supplies from the previous harvest are lowest; the most difficult period</a:t>
                      </a:r>
                      <a:endParaRPr sz="10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126" name="Google Shape;126;p19"/>
          <p:cNvPicPr preferRelativeResize="0"/>
          <p:nvPr/>
        </p:nvPicPr>
        <p:blipFill rotWithShape="1">
          <a:blip r:embed="rId4">
            <a:alphaModFix/>
          </a:blip>
          <a:srcRect/>
          <a:stretch/>
        </p:blipFill>
        <p:spPr>
          <a:xfrm>
            <a:off x="103491" y="145580"/>
            <a:ext cx="626264" cy="50783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0"/>
          <p:cNvSpPr txBox="1"/>
          <p:nvPr/>
        </p:nvSpPr>
        <p:spPr>
          <a:xfrm>
            <a:off x="854202" y="83975"/>
            <a:ext cx="82899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Background | </a:t>
            </a:r>
            <a:r>
              <a:rPr lang="en" sz="3000">
                <a:solidFill>
                  <a:srgbClr val="888888"/>
                </a:solidFill>
                <a:latin typeface="Manrope SemiBold"/>
                <a:ea typeface="Manrope SemiBold"/>
                <a:cs typeface="Manrope SemiBold"/>
                <a:sym typeface="Manrope SemiBold"/>
              </a:rPr>
              <a:t>Analysis Method</a:t>
            </a:r>
            <a:endParaRPr sz="2200">
              <a:solidFill>
                <a:srgbClr val="888888"/>
              </a:solidFill>
              <a:latin typeface="Manrope SemiBold"/>
              <a:ea typeface="Manrope SemiBold"/>
              <a:cs typeface="Manrope SemiBold"/>
              <a:sym typeface="Manrope SemiBold"/>
            </a:endParaRPr>
          </a:p>
        </p:txBody>
      </p:sp>
      <p:sp>
        <p:nvSpPr>
          <p:cNvPr id="132" name="Google Shape;132;p20"/>
          <p:cNvSpPr txBox="1"/>
          <p:nvPr/>
        </p:nvSpPr>
        <p:spPr>
          <a:xfrm>
            <a:off x="224375" y="777925"/>
            <a:ext cx="8332800" cy="3506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i="1">
                <a:solidFill>
                  <a:srgbClr val="197B30"/>
                </a:solidFill>
                <a:latin typeface="Manrope"/>
                <a:ea typeface="Manrope"/>
                <a:cs typeface="Manrope"/>
                <a:sym typeface="Manrope"/>
              </a:rPr>
              <a:t>Causation</a:t>
            </a:r>
            <a:r>
              <a:rPr lang="en" sz="2000" b="1">
                <a:solidFill>
                  <a:srgbClr val="197B30"/>
                </a:solidFill>
                <a:latin typeface="Manrope"/>
                <a:ea typeface="Manrope"/>
                <a:cs typeface="Manrope"/>
                <a:sym typeface="Manrope"/>
              </a:rPr>
              <a:t>,</a:t>
            </a:r>
            <a:r>
              <a:rPr lang="en" sz="2000" b="1" i="1">
                <a:solidFill>
                  <a:srgbClr val="197B30"/>
                </a:solidFill>
                <a:latin typeface="Manrope"/>
                <a:ea typeface="Manrope"/>
                <a:cs typeface="Manrope"/>
                <a:sym typeface="Manrope"/>
              </a:rPr>
              <a:t> </a:t>
            </a:r>
            <a:r>
              <a:rPr lang="en" sz="2000" b="1">
                <a:solidFill>
                  <a:srgbClr val="197B30"/>
                </a:solidFill>
                <a:latin typeface="Manrope"/>
                <a:ea typeface="Manrope"/>
                <a:cs typeface="Manrope"/>
                <a:sym typeface="Manrope"/>
              </a:rPr>
              <a:t>NOT Correlation</a:t>
            </a:r>
            <a:endParaRPr>
              <a:solidFill>
                <a:srgbClr val="197B30"/>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Char char="●"/>
            </a:pPr>
            <a:r>
              <a:rPr lang="en">
                <a:solidFill>
                  <a:srgbClr val="434343"/>
                </a:solidFill>
                <a:latin typeface="Manrope"/>
                <a:ea typeface="Manrope"/>
                <a:cs typeface="Manrope"/>
                <a:sym typeface="Manrope"/>
              </a:rPr>
              <a:t>Using advanced </a:t>
            </a:r>
            <a:r>
              <a:rPr lang="en" b="1">
                <a:solidFill>
                  <a:srgbClr val="434343"/>
                </a:solidFill>
                <a:latin typeface="Manrope"/>
                <a:ea typeface="Manrope"/>
                <a:cs typeface="Manrope"/>
                <a:sym typeface="Manrope"/>
              </a:rPr>
              <a:t>data science</a:t>
            </a:r>
            <a:r>
              <a:rPr lang="en">
                <a:solidFill>
                  <a:srgbClr val="434343"/>
                </a:solidFill>
                <a:latin typeface="Manrope"/>
                <a:ea typeface="Manrope"/>
                <a:cs typeface="Manrope"/>
                <a:sym typeface="Manrope"/>
              </a:rPr>
              <a:t> and statistical techniques, our results reflect the </a:t>
            </a:r>
            <a:r>
              <a:rPr lang="en" b="1">
                <a:solidFill>
                  <a:srgbClr val="434343"/>
                </a:solidFill>
                <a:latin typeface="Manrope"/>
                <a:ea typeface="Manrope"/>
                <a:cs typeface="Manrope"/>
                <a:sym typeface="Manrope"/>
              </a:rPr>
              <a:t>causal effect </a:t>
            </a:r>
            <a:r>
              <a:rPr lang="en">
                <a:solidFill>
                  <a:srgbClr val="434343"/>
                </a:solidFill>
                <a:latin typeface="Manrope"/>
                <a:ea typeface="Manrope"/>
                <a:cs typeface="Manrope"/>
                <a:sym typeface="Manrope"/>
              </a:rPr>
              <a:t>of myAgro intervention on household food security (with all other variables held constant).</a:t>
            </a:r>
            <a:endParaRPr>
              <a:solidFill>
                <a:srgbClr val="434343"/>
              </a:solidFill>
              <a:latin typeface="Manrope"/>
              <a:ea typeface="Manrope"/>
              <a:cs typeface="Manrope"/>
              <a:sym typeface="Manrope"/>
            </a:endParaRPr>
          </a:p>
          <a:p>
            <a:pPr marL="914400" lvl="1" indent="-317500" algn="l" rtl="0">
              <a:lnSpc>
                <a:spcPct val="115000"/>
              </a:lnSpc>
              <a:spcBef>
                <a:spcPts val="1000"/>
              </a:spcBef>
              <a:spcAft>
                <a:spcPts val="0"/>
              </a:spcAft>
              <a:buClr>
                <a:srgbClr val="434343"/>
              </a:buClr>
              <a:buSzPts val="1400"/>
              <a:buFont typeface="Manrope"/>
              <a:buChar char="○"/>
            </a:pPr>
            <a:r>
              <a:rPr lang="en">
                <a:solidFill>
                  <a:srgbClr val="434343"/>
                </a:solidFill>
                <a:latin typeface="Manrope"/>
                <a:ea typeface="Manrope"/>
                <a:cs typeface="Manrope"/>
                <a:sym typeface="Manrope"/>
              </a:rPr>
              <a:t>This is much more powerful in reporting than the simple correlation (used in the past).</a:t>
            </a:r>
            <a:endParaRPr>
              <a:solidFill>
                <a:srgbClr val="434343"/>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Char char="●"/>
            </a:pPr>
            <a:r>
              <a:rPr lang="en" u="sng">
                <a:solidFill>
                  <a:schemeClr val="hlink"/>
                </a:solidFill>
                <a:latin typeface="Manrope"/>
                <a:ea typeface="Manrope"/>
                <a:cs typeface="Manrope"/>
                <a:sym typeface="Manrope"/>
                <a:hlinkClick r:id="rId3"/>
              </a:rPr>
              <a:t>Annual impact reporting</a:t>
            </a:r>
            <a:r>
              <a:rPr lang="en">
                <a:solidFill>
                  <a:srgbClr val="434343"/>
                </a:solidFill>
                <a:latin typeface="Manrope"/>
                <a:ea typeface="Manrope"/>
                <a:cs typeface="Manrope"/>
                <a:sym typeface="Manrope"/>
              </a:rPr>
              <a:t> tells us that each product has different levels of economic impact on clients. We therefore expect the same to be true for household food security impact.</a:t>
            </a:r>
            <a:endParaRPr>
              <a:solidFill>
                <a:srgbClr val="434343"/>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Char char="●"/>
            </a:pPr>
            <a:r>
              <a:rPr lang="en">
                <a:solidFill>
                  <a:srgbClr val="434343"/>
                </a:solidFill>
                <a:latin typeface="Manrope"/>
                <a:ea typeface="Manrope"/>
                <a:cs typeface="Manrope"/>
                <a:sym typeface="Manrope"/>
              </a:rPr>
              <a:t>Critically, our analytical approach allows us </a:t>
            </a:r>
            <a:r>
              <a:rPr lang="en" i="1">
                <a:solidFill>
                  <a:srgbClr val="434343"/>
                </a:solidFill>
                <a:latin typeface="Manrope"/>
                <a:ea typeface="Manrope"/>
                <a:cs typeface="Manrope"/>
                <a:sym typeface="Manrope"/>
              </a:rPr>
              <a:t>for the first time</a:t>
            </a:r>
            <a:r>
              <a:rPr lang="en">
                <a:solidFill>
                  <a:srgbClr val="434343"/>
                </a:solidFill>
                <a:latin typeface="Manrope"/>
                <a:ea typeface="Manrope"/>
                <a:cs typeface="Manrope"/>
                <a:sym typeface="Manrope"/>
              </a:rPr>
              <a:t> to get:</a:t>
            </a:r>
            <a:endParaRPr>
              <a:solidFill>
                <a:srgbClr val="434343"/>
              </a:solidFill>
              <a:latin typeface="Manrope"/>
              <a:ea typeface="Manrope"/>
              <a:cs typeface="Manrope"/>
              <a:sym typeface="Manrope"/>
            </a:endParaRPr>
          </a:p>
          <a:p>
            <a:pPr marL="914400" lvl="1" indent="-317500" algn="l" rtl="0">
              <a:lnSpc>
                <a:spcPct val="115000"/>
              </a:lnSpc>
              <a:spcBef>
                <a:spcPts val="1000"/>
              </a:spcBef>
              <a:spcAft>
                <a:spcPts val="0"/>
              </a:spcAft>
              <a:buClr>
                <a:srgbClr val="434343"/>
              </a:buClr>
              <a:buSzPts val="1400"/>
              <a:buFont typeface="Manrope"/>
              <a:buChar char="○"/>
            </a:pPr>
            <a:r>
              <a:rPr lang="en" b="1">
                <a:solidFill>
                  <a:srgbClr val="434343"/>
                </a:solidFill>
                <a:latin typeface="Manrope"/>
                <a:ea typeface="Manrope"/>
                <a:cs typeface="Manrope"/>
                <a:sym typeface="Manrope"/>
              </a:rPr>
              <a:t>The impact of </a:t>
            </a:r>
            <a:r>
              <a:rPr lang="en" b="1">
                <a:solidFill>
                  <a:srgbClr val="197B30"/>
                </a:solidFill>
                <a:latin typeface="Manrope"/>
                <a:ea typeface="Manrope"/>
                <a:cs typeface="Manrope"/>
                <a:sym typeface="Manrope"/>
              </a:rPr>
              <a:t>each individual product</a:t>
            </a:r>
            <a:r>
              <a:rPr lang="en" b="1">
                <a:solidFill>
                  <a:srgbClr val="434343"/>
                </a:solidFill>
                <a:latin typeface="Manrope"/>
                <a:ea typeface="Manrope"/>
                <a:cs typeface="Manrope"/>
                <a:sym typeface="Manrope"/>
              </a:rPr>
              <a:t> on food security</a:t>
            </a:r>
            <a:endParaRPr b="1">
              <a:solidFill>
                <a:srgbClr val="434343"/>
              </a:solidFill>
              <a:latin typeface="Manrope"/>
              <a:ea typeface="Manrope"/>
              <a:cs typeface="Manrope"/>
              <a:sym typeface="Manrope"/>
            </a:endParaRPr>
          </a:p>
          <a:p>
            <a:pPr marL="914400" lvl="1" indent="-317500" algn="l" rtl="0">
              <a:lnSpc>
                <a:spcPct val="115000"/>
              </a:lnSpc>
              <a:spcBef>
                <a:spcPts val="1000"/>
              </a:spcBef>
              <a:spcAft>
                <a:spcPts val="0"/>
              </a:spcAft>
              <a:buClr>
                <a:srgbClr val="434343"/>
              </a:buClr>
              <a:buSzPts val="1400"/>
              <a:buFont typeface="Manrope"/>
              <a:buChar char="○"/>
            </a:pPr>
            <a:r>
              <a:rPr lang="en" b="1">
                <a:solidFill>
                  <a:srgbClr val="434343"/>
                </a:solidFill>
                <a:latin typeface="Manrope"/>
                <a:ea typeface="Manrope"/>
                <a:cs typeface="Manrope"/>
                <a:sym typeface="Manrope"/>
              </a:rPr>
              <a:t>The impact of being a </a:t>
            </a:r>
            <a:r>
              <a:rPr lang="en" b="1">
                <a:solidFill>
                  <a:srgbClr val="197B30"/>
                </a:solidFill>
                <a:latin typeface="Manrope"/>
                <a:ea typeface="Manrope"/>
                <a:cs typeface="Manrope"/>
                <a:sym typeface="Manrope"/>
              </a:rPr>
              <a:t>returning client</a:t>
            </a:r>
            <a:r>
              <a:rPr lang="en" b="1">
                <a:solidFill>
                  <a:srgbClr val="434343"/>
                </a:solidFill>
                <a:latin typeface="Manrope"/>
                <a:ea typeface="Manrope"/>
                <a:cs typeface="Manrope"/>
                <a:sym typeface="Manrope"/>
              </a:rPr>
              <a:t> on food security </a:t>
            </a:r>
            <a:r>
              <a:rPr lang="en">
                <a:solidFill>
                  <a:srgbClr val="434343"/>
                </a:solidFill>
                <a:latin typeface="Manrope"/>
                <a:ea typeface="Manrope"/>
                <a:cs typeface="Manrope"/>
                <a:sym typeface="Manrope"/>
              </a:rPr>
              <a:t>(the impact of farming with myAgro for more than one season)</a:t>
            </a:r>
            <a:endParaRPr>
              <a:solidFill>
                <a:srgbClr val="434343"/>
              </a:solidFill>
              <a:latin typeface="Manrope"/>
              <a:ea typeface="Manrope"/>
              <a:cs typeface="Manrope"/>
              <a:sym typeface="Manrope"/>
            </a:endParaRPr>
          </a:p>
        </p:txBody>
      </p:sp>
      <p:pic>
        <p:nvPicPr>
          <p:cNvPr id="133" name="Google Shape;133;p20"/>
          <p:cNvPicPr preferRelativeResize="0"/>
          <p:nvPr/>
        </p:nvPicPr>
        <p:blipFill rotWithShape="1">
          <a:blip r:embed="rId4">
            <a:alphaModFix/>
          </a:blip>
          <a:srcRect/>
          <a:stretch/>
        </p:blipFill>
        <p:spPr>
          <a:xfrm>
            <a:off x="103491" y="145580"/>
            <a:ext cx="626264" cy="507837"/>
          </a:xfrm>
          <a:prstGeom prst="rect">
            <a:avLst/>
          </a:prstGeom>
          <a:noFill/>
          <a:ln>
            <a:noFill/>
          </a:ln>
        </p:spPr>
      </p:pic>
      <p:pic>
        <p:nvPicPr>
          <p:cNvPr id="134" name="Google Shape;134;p20"/>
          <p:cNvPicPr preferRelativeResize="0"/>
          <p:nvPr/>
        </p:nvPicPr>
        <p:blipFill>
          <a:blip r:embed="rId5">
            <a:alphaModFix/>
          </a:blip>
          <a:stretch>
            <a:fillRect/>
          </a:stretch>
        </p:blipFill>
        <p:spPr>
          <a:xfrm>
            <a:off x="3841625" y="735925"/>
            <a:ext cx="449300" cy="449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8"/>
        <p:cNvGrpSpPr/>
        <p:nvPr/>
      </p:nvGrpSpPr>
      <p:grpSpPr>
        <a:xfrm>
          <a:off x="0" y="0"/>
          <a:ext cx="0" cy="0"/>
          <a:chOff x="0" y="0"/>
          <a:chExt cx="0" cy="0"/>
        </a:xfrm>
      </p:grpSpPr>
      <p:sp>
        <p:nvSpPr>
          <p:cNvPr id="139" name="Google Shape;139;p21"/>
          <p:cNvSpPr txBox="1"/>
          <p:nvPr/>
        </p:nvSpPr>
        <p:spPr>
          <a:xfrm>
            <a:off x="1238250" y="3801740"/>
            <a:ext cx="7467600" cy="1015800"/>
          </a:xfrm>
          <a:prstGeom prst="rect">
            <a:avLst/>
          </a:prstGeom>
          <a:noFill/>
          <a:ln>
            <a:noFill/>
          </a:ln>
        </p:spPr>
        <p:txBody>
          <a:bodyPr spcFirstLastPara="1" wrap="square" lIns="45725" tIns="22850" rIns="45725" bIns="22850" anchor="t" anchorCtr="0">
            <a:spAutoFit/>
          </a:bodyPr>
          <a:lstStyle/>
          <a:p>
            <a:pPr marL="0" marR="0" lvl="0" indent="0" algn="r" rtl="0">
              <a:lnSpc>
                <a:spcPct val="100000"/>
              </a:lnSpc>
              <a:spcBef>
                <a:spcPts val="0"/>
              </a:spcBef>
              <a:spcAft>
                <a:spcPts val="0"/>
              </a:spcAft>
              <a:buClr>
                <a:srgbClr val="000000"/>
              </a:buClr>
              <a:buSzPts val="6000"/>
              <a:buFont typeface="Arial"/>
              <a:buNone/>
            </a:pPr>
            <a:r>
              <a:rPr lang="en" sz="4500">
                <a:solidFill>
                  <a:srgbClr val="197B30"/>
                </a:solidFill>
                <a:latin typeface="Lato"/>
                <a:ea typeface="Lato"/>
                <a:cs typeface="Lato"/>
                <a:sym typeface="Lato"/>
              </a:rPr>
              <a:t>Results</a:t>
            </a:r>
            <a:endParaRPr sz="4500" b="0" i="0" u="none" strike="noStrike" cap="none">
              <a:solidFill>
                <a:srgbClr val="197B30"/>
              </a:solidFill>
              <a:latin typeface="Lato"/>
              <a:ea typeface="Lato"/>
              <a:cs typeface="Lato"/>
              <a:sym typeface="Lato"/>
            </a:endParaRPr>
          </a:p>
          <a:p>
            <a:pPr marL="0" marR="0" lvl="0" indent="0" algn="r" rtl="0">
              <a:lnSpc>
                <a:spcPct val="100000"/>
              </a:lnSpc>
              <a:spcBef>
                <a:spcPts val="0"/>
              </a:spcBef>
              <a:spcAft>
                <a:spcPts val="0"/>
              </a:spcAft>
              <a:buClr>
                <a:srgbClr val="000000"/>
              </a:buClr>
              <a:buSzPts val="3600"/>
              <a:buFont typeface="Arial"/>
              <a:buNone/>
            </a:pPr>
            <a:endParaRPr sz="1800" b="0" i="0" u="none" strike="noStrike" cap="none">
              <a:solidFill>
                <a:schemeClr val="dk1"/>
              </a:solidFill>
              <a:latin typeface="Lato"/>
              <a:ea typeface="Lato"/>
              <a:cs typeface="Lato"/>
              <a:sym typeface="Lato"/>
            </a:endParaRPr>
          </a:p>
        </p:txBody>
      </p:sp>
      <p:pic>
        <p:nvPicPr>
          <p:cNvPr id="140" name="Google Shape;140;p21"/>
          <p:cNvPicPr preferRelativeResize="0"/>
          <p:nvPr/>
        </p:nvPicPr>
        <p:blipFill rotWithShape="1">
          <a:blip r:embed="rId3">
            <a:alphaModFix amt="28000"/>
          </a:blip>
          <a:srcRect l="14687" t="11876" r="-1599" b="7931"/>
          <a:stretch/>
        </p:blipFill>
        <p:spPr>
          <a:xfrm>
            <a:off x="0" y="0"/>
            <a:ext cx="5772150" cy="514350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graphicFrame>
        <p:nvGraphicFramePr>
          <p:cNvPr id="145" name="Google Shape;145;p22"/>
          <p:cNvGraphicFramePr/>
          <p:nvPr/>
        </p:nvGraphicFramePr>
        <p:xfrm>
          <a:off x="600677" y="2453008"/>
          <a:ext cx="7942650" cy="2661920"/>
        </p:xfrm>
        <a:graphic>
          <a:graphicData uri="http://schemas.openxmlformats.org/drawingml/2006/table">
            <a:tbl>
              <a:tblPr>
                <a:noFill/>
                <a:tableStyleId>{30DB1E6E-BAFB-4045-8679-1D4DE15F8355}</a:tableStyleId>
              </a:tblPr>
              <a:tblGrid>
                <a:gridCol w="1685650">
                  <a:extLst>
                    <a:ext uri="{9D8B030D-6E8A-4147-A177-3AD203B41FA5}">
                      <a16:colId xmlns:a16="http://schemas.microsoft.com/office/drawing/2014/main" val="20000"/>
                    </a:ext>
                  </a:extLst>
                </a:gridCol>
                <a:gridCol w="1008025">
                  <a:extLst>
                    <a:ext uri="{9D8B030D-6E8A-4147-A177-3AD203B41FA5}">
                      <a16:colId xmlns:a16="http://schemas.microsoft.com/office/drawing/2014/main" val="20001"/>
                    </a:ext>
                  </a:extLst>
                </a:gridCol>
                <a:gridCol w="1064700">
                  <a:extLst>
                    <a:ext uri="{9D8B030D-6E8A-4147-A177-3AD203B41FA5}">
                      <a16:colId xmlns:a16="http://schemas.microsoft.com/office/drawing/2014/main" val="20002"/>
                    </a:ext>
                  </a:extLst>
                </a:gridCol>
                <a:gridCol w="952775">
                  <a:extLst>
                    <a:ext uri="{9D8B030D-6E8A-4147-A177-3AD203B41FA5}">
                      <a16:colId xmlns:a16="http://schemas.microsoft.com/office/drawing/2014/main" val="20003"/>
                    </a:ext>
                  </a:extLst>
                </a:gridCol>
                <a:gridCol w="1086000">
                  <a:extLst>
                    <a:ext uri="{9D8B030D-6E8A-4147-A177-3AD203B41FA5}">
                      <a16:colId xmlns:a16="http://schemas.microsoft.com/office/drawing/2014/main" val="20004"/>
                    </a:ext>
                  </a:extLst>
                </a:gridCol>
                <a:gridCol w="1025575">
                  <a:extLst>
                    <a:ext uri="{9D8B030D-6E8A-4147-A177-3AD203B41FA5}">
                      <a16:colId xmlns:a16="http://schemas.microsoft.com/office/drawing/2014/main" val="20005"/>
                    </a:ext>
                  </a:extLst>
                </a:gridCol>
                <a:gridCol w="1119925">
                  <a:extLst>
                    <a:ext uri="{9D8B030D-6E8A-4147-A177-3AD203B41FA5}">
                      <a16:colId xmlns:a16="http://schemas.microsoft.com/office/drawing/2014/main" val="20006"/>
                    </a:ext>
                  </a:extLst>
                </a:gridCol>
              </a:tblGrid>
              <a:tr h="306775">
                <a:tc>
                  <a:txBody>
                    <a:bodyPr/>
                    <a:lstStyle/>
                    <a:p>
                      <a:pPr marL="0" lvl="0" indent="0" algn="ctr" rtl="0">
                        <a:spcBef>
                          <a:spcPts val="0"/>
                        </a:spcBef>
                        <a:spcAft>
                          <a:spcPts val="0"/>
                        </a:spcAft>
                        <a:buNone/>
                      </a:pPr>
                      <a:endParaRPr sz="1200" b="1">
                        <a:solidFill>
                          <a:srgbClr val="FFFFFF"/>
                        </a:solidFill>
                        <a:latin typeface="Manrope"/>
                        <a:ea typeface="Manrope"/>
                        <a:cs typeface="Manrope"/>
                        <a:sym typeface="Manrope"/>
                      </a:endParaRPr>
                    </a:p>
                  </a:txBody>
                  <a:tcPr marL="63500" marR="63500" marT="63500" marB="63500">
                    <a:lnL w="12700" cap="flat" cmpd="sng">
                      <a:solidFill>
                        <a:srgbClr val="434343">
                          <a:alpha val="0"/>
                        </a:srgbClr>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434343">
                          <a:alpha val="0"/>
                        </a:srgbClr>
                      </a:solidFill>
                      <a:prstDash val="solid"/>
                      <a:round/>
                      <a:headEnd type="none" w="sm" len="sm"/>
                      <a:tailEnd type="none" w="sm" len="sm"/>
                    </a:lnT>
                    <a:lnB w="12700" cap="flat" cmpd="sng">
                      <a:solidFill>
                        <a:srgbClr val="434343">
                          <a:alpha val="0"/>
                        </a:srgbClr>
                      </a:solidFill>
                      <a:prstDash val="solid"/>
                      <a:round/>
                      <a:headEnd type="none" w="sm" len="sm"/>
                      <a:tailEnd type="none" w="sm" len="sm"/>
                    </a:lnB>
                  </a:tcPr>
                </a:tc>
                <a:tc gridSpan="2">
                  <a:txBody>
                    <a:bodyPr/>
                    <a:lstStyle/>
                    <a:p>
                      <a:pPr marL="0" lvl="0" indent="0" algn="ctr" rtl="0">
                        <a:spcBef>
                          <a:spcPts val="0"/>
                        </a:spcBef>
                        <a:spcAft>
                          <a:spcPts val="0"/>
                        </a:spcAft>
                        <a:buNone/>
                      </a:pPr>
                      <a:r>
                        <a:rPr lang="en" sz="1200" b="1">
                          <a:solidFill>
                            <a:srgbClr val="FFFFFF"/>
                          </a:solidFill>
                          <a:latin typeface="Manrope"/>
                          <a:ea typeface="Manrope"/>
                          <a:cs typeface="Manrope"/>
                          <a:sym typeface="Manrope"/>
                        </a:rPr>
                        <a:t>All</a:t>
                      </a:r>
                      <a:endParaRPr sz="12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D4119"/>
                    </a:solidFill>
                  </a:tcPr>
                </a:tc>
                <a:tc hMerge="1">
                  <a:txBody>
                    <a:bodyPr/>
                    <a:lstStyle/>
                    <a:p>
                      <a:endParaRPr lang="en-US"/>
                    </a:p>
                  </a:txBody>
                  <a:tcPr/>
                </a:tc>
                <a:tc gridSpan="2">
                  <a:txBody>
                    <a:bodyPr/>
                    <a:lstStyle/>
                    <a:p>
                      <a:pPr marL="0" lvl="0" indent="0" algn="ctr" rtl="0">
                        <a:spcBef>
                          <a:spcPts val="0"/>
                        </a:spcBef>
                        <a:spcAft>
                          <a:spcPts val="0"/>
                        </a:spcAft>
                        <a:buNone/>
                      </a:pPr>
                      <a:r>
                        <a:rPr lang="en" sz="1200" b="1">
                          <a:solidFill>
                            <a:schemeClr val="lt1"/>
                          </a:solidFill>
                          <a:latin typeface="Manrope"/>
                          <a:ea typeface="Manrope"/>
                          <a:cs typeface="Manrope"/>
                          <a:sym typeface="Manrope"/>
                        </a:rPr>
                        <a:t>Treatment</a:t>
                      </a:r>
                      <a:endParaRPr sz="12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D4119"/>
                    </a:solidFill>
                  </a:tcPr>
                </a:tc>
                <a:tc hMerge="1">
                  <a:txBody>
                    <a:bodyPr/>
                    <a:lstStyle/>
                    <a:p>
                      <a:endParaRPr lang="en-US"/>
                    </a:p>
                  </a:txBody>
                  <a:tcPr/>
                </a:tc>
                <a:tc gridSpan="2">
                  <a:txBody>
                    <a:bodyPr/>
                    <a:lstStyle/>
                    <a:p>
                      <a:pPr marL="0" lvl="0" indent="0" algn="ctr" rtl="0">
                        <a:spcBef>
                          <a:spcPts val="0"/>
                        </a:spcBef>
                        <a:spcAft>
                          <a:spcPts val="0"/>
                        </a:spcAft>
                        <a:buNone/>
                      </a:pPr>
                      <a:r>
                        <a:rPr lang="en" sz="1200" b="1">
                          <a:solidFill>
                            <a:schemeClr val="lt1"/>
                          </a:solidFill>
                          <a:latin typeface="Manrope"/>
                          <a:ea typeface="Manrope"/>
                          <a:cs typeface="Manrope"/>
                          <a:sym typeface="Manrope"/>
                        </a:rPr>
                        <a:t>Control</a:t>
                      </a:r>
                      <a:endParaRPr sz="12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D4119"/>
                    </a:solidFill>
                  </a:tcPr>
                </a:tc>
                <a:tc hMerge="1">
                  <a:txBody>
                    <a:bodyPr/>
                    <a:lstStyle/>
                    <a:p>
                      <a:endParaRPr lang="en-US"/>
                    </a:p>
                  </a:txBody>
                  <a:tcPr/>
                </a:tc>
                <a:extLst>
                  <a:ext uri="{0D108BD9-81ED-4DB2-BD59-A6C34878D82A}">
                    <a16:rowId xmlns:a16="http://schemas.microsoft.com/office/drawing/2014/main" val="10000"/>
                  </a:ext>
                </a:extLst>
              </a:tr>
              <a:tr h="306775">
                <a:tc>
                  <a:txBody>
                    <a:bodyPr/>
                    <a:lstStyle/>
                    <a:p>
                      <a:pPr marL="0" lvl="0" indent="0" algn="ctr" rtl="0">
                        <a:spcBef>
                          <a:spcPts val="0"/>
                        </a:spcBef>
                        <a:spcAft>
                          <a:spcPts val="0"/>
                        </a:spcAft>
                        <a:buNone/>
                      </a:pPr>
                      <a:endParaRPr sz="1200" b="1">
                        <a:solidFill>
                          <a:srgbClr val="FFFFFF"/>
                        </a:solidFill>
                        <a:latin typeface="Manrope"/>
                        <a:ea typeface="Manrope"/>
                        <a:cs typeface="Manrope"/>
                        <a:sym typeface="Manrope"/>
                      </a:endParaRPr>
                    </a:p>
                  </a:txBody>
                  <a:tcPr marL="63500" marR="63500" marT="63500" marB="63500">
                    <a:lnL w="12700" cap="flat" cmpd="sng">
                      <a:solidFill>
                        <a:srgbClr val="434343">
                          <a:alpha val="0"/>
                        </a:srgbClr>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434343">
                          <a:alpha val="0"/>
                        </a:srgbClr>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b="1">
                          <a:solidFill>
                            <a:srgbClr val="FFFFFF"/>
                          </a:solidFill>
                          <a:latin typeface="Manrope"/>
                          <a:ea typeface="Manrope"/>
                          <a:cs typeface="Manrope"/>
                          <a:sym typeface="Manrope"/>
                        </a:rPr>
                        <a:t>Year-round</a:t>
                      </a:r>
                      <a:endParaRPr sz="12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200" b="1">
                          <a:solidFill>
                            <a:srgbClr val="FFFFFF"/>
                          </a:solidFill>
                          <a:latin typeface="Manrope"/>
                          <a:ea typeface="Manrope"/>
                          <a:cs typeface="Manrope"/>
                          <a:sym typeface="Manrope"/>
                        </a:rPr>
                        <a:t>Lean Season</a:t>
                      </a:r>
                      <a:endParaRPr sz="12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200" b="1">
                          <a:solidFill>
                            <a:srgbClr val="FFFFFF"/>
                          </a:solidFill>
                          <a:latin typeface="Manrope"/>
                          <a:ea typeface="Manrope"/>
                          <a:cs typeface="Manrope"/>
                          <a:sym typeface="Manrope"/>
                        </a:rPr>
                        <a:t>Year-round</a:t>
                      </a:r>
                      <a:endParaRPr sz="12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200" b="1">
                          <a:solidFill>
                            <a:srgbClr val="FFFFFF"/>
                          </a:solidFill>
                          <a:latin typeface="Manrope"/>
                          <a:ea typeface="Manrope"/>
                          <a:cs typeface="Manrope"/>
                          <a:sym typeface="Manrope"/>
                        </a:rPr>
                        <a:t>Lean Season</a:t>
                      </a:r>
                      <a:endParaRPr sz="12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200" b="1">
                          <a:solidFill>
                            <a:srgbClr val="FFFFFF"/>
                          </a:solidFill>
                          <a:latin typeface="Manrope"/>
                          <a:ea typeface="Manrope"/>
                          <a:cs typeface="Manrope"/>
                          <a:sym typeface="Manrope"/>
                        </a:rPr>
                        <a:t>Year-round</a:t>
                      </a:r>
                      <a:endParaRPr sz="12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200" b="1">
                          <a:solidFill>
                            <a:srgbClr val="FFFFFF"/>
                          </a:solidFill>
                          <a:latin typeface="Manrope"/>
                          <a:ea typeface="Manrope"/>
                          <a:cs typeface="Manrope"/>
                          <a:sym typeface="Manrope"/>
                        </a:rPr>
                        <a:t>Lean Season</a:t>
                      </a:r>
                      <a:endParaRPr sz="12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extLst>
                  <a:ext uri="{0D108BD9-81ED-4DB2-BD59-A6C34878D82A}">
                    <a16:rowId xmlns:a16="http://schemas.microsoft.com/office/drawing/2014/main" val="10001"/>
                  </a:ext>
                </a:extLst>
              </a:tr>
              <a:tr h="306775">
                <a:tc>
                  <a:txBody>
                    <a:bodyPr/>
                    <a:lstStyle/>
                    <a:p>
                      <a:pPr marL="0" lvl="0" indent="0" algn="ctr" rtl="0">
                        <a:spcBef>
                          <a:spcPts val="0"/>
                        </a:spcBef>
                        <a:spcAft>
                          <a:spcPts val="0"/>
                        </a:spcAft>
                        <a:buNone/>
                      </a:pPr>
                      <a:r>
                        <a:rPr lang="en" sz="1200" b="1">
                          <a:solidFill>
                            <a:srgbClr val="FFFFFF"/>
                          </a:solidFill>
                          <a:latin typeface="Manrope"/>
                          <a:ea typeface="Manrope"/>
                          <a:cs typeface="Manrope"/>
                          <a:sym typeface="Manrope"/>
                        </a:rPr>
                        <a:t>Mean</a:t>
                      </a:r>
                      <a:endParaRPr sz="12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7.06</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8.29</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4.74</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6.47</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9.39</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10.11</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2"/>
                  </a:ext>
                </a:extLst>
              </a:tr>
              <a:tr h="306775">
                <a:tc>
                  <a:txBody>
                    <a:bodyPr/>
                    <a:lstStyle/>
                    <a:p>
                      <a:pPr marL="0" lvl="0" indent="0" algn="ctr" rtl="0">
                        <a:spcBef>
                          <a:spcPts val="0"/>
                        </a:spcBef>
                        <a:spcAft>
                          <a:spcPts val="0"/>
                        </a:spcAft>
                        <a:buNone/>
                      </a:pPr>
                      <a:r>
                        <a:rPr lang="en" sz="1200" b="1">
                          <a:solidFill>
                            <a:srgbClr val="FFFFFF"/>
                          </a:solidFill>
                          <a:latin typeface="Manrope"/>
                          <a:ea typeface="Manrope"/>
                          <a:cs typeface="Manrope"/>
                          <a:sym typeface="Manrope"/>
                        </a:rPr>
                        <a:t>Median (50%)</a:t>
                      </a:r>
                      <a:endParaRPr sz="12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4</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5</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1</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3</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6</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6</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3"/>
                  </a:ext>
                </a:extLst>
              </a:tr>
              <a:tr h="306775">
                <a:tc>
                  <a:txBody>
                    <a:bodyPr/>
                    <a:lstStyle/>
                    <a:p>
                      <a:pPr marL="0" lvl="0" indent="0" algn="ctr" rtl="0">
                        <a:spcBef>
                          <a:spcPts val="0"/>
                        </a:spcBef>
                        <a:spcAft>
                          <a:spcPts val="0"/>
                        </a:spcAft>
                        <a:buNone/>
                      </a:pPr>
                      <a:r>
                        <a:rPr lang="en" sz="1200" b="1">
                          <a:solidFill>
                            <a:srgbClr val="FFFFFF"/>
                          </a:solidFill>
                          <a:latin typeface="Manrope"/>
                          <a:ea typeface="Manrope"/>
                          <a:cs typeface="Manrope"/>
                          <a:sym typeface="Manrope"/>
                        </a:rPr>
                        <a:t>Minimum</a:t>
                      </a:r>
                      <a:endParaRPr sz="12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0</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0</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0</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0</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0</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0</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4"/>
                  </a:ext>
                </a:extLst>
              </a:tr>
              <a:tr h="306775">
                <a:tc>
                  <a:txBody>
                    <a:bodyPr/>
                    <a:lstStyle/>
                    <a:p>
                      <a:pPr marL="0" lvl="0" indent="0" algn="ctr" rtl="0">
                        <a:spcBef>
                          <a:spcPts val="0"/>
                        </a:spcBef>
                        <a:spcAft>
                          <a:spcPts val="0"/>
                        </a:spcAft>
                        <a:buNone/>
                      </a:pPr>
                      <a:r>
                        <a:rPr lang="en" sz="1200" b="1">
                          <a:solidFill>
                            <a:srgbClr val="FFFFFF"/>
                          </a:solidFill>
                          <a:latin typeface="Manrope"/>
                          <a:ea typeface="Manrope"/>
                          <a:cs typeface="Manrope"/>
                          <a:sym typeface="Manrope"/>
                        </a:rPr>
                        <a:t>Maximum</a:t>
                      </a:r>
                      <a:endParaRPr sz="12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56</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56</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51</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50</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56</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56</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5"/>
                  </a:ext>
                </a:extLst>
              </a:tr>
              <a:tr h="306775">
                <a:tc>
                  <a:txBody>
                    <a:bodyPr/>
                    <a:lstStyle/>
                    <a:p>
                      <a:pPr marL="0" lvl="0" indent="0" algn="ctr" rtl="0">
                        <a:spcBef>
                          <a:spcPts val="0"/>
                        </a:spcBef>
                        <a:spcAft>
                          <a:spcPts val="0"/>
                        </a:spcAft>
                        <a:buNone/>
                      </a:pPr>
                      <a:r>
                        <a:rPr lang="en" sz="1200" b="1">
                          <a:solidFill>
                            <a:srgbClr val="FFFFFF"/>
                          </a:solidFill>
                          <a:latin typeface="Manrope"/>
                          <a:ea typeface="Manrope"/>
                          <a:cs typeface="Manrope"/>
                          <a:sym typeface="Manrope"/>
                        </a:rPr>
                        <a:t>25th Percentile</a:t>
                      </a:r>
                      <a:endParaRPr sz="12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0</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0</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0</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0</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0</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0</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6"/>
                  </a:ext>
                </a:extLst>
              </a:tr>
              <a:tr h="306775">
                <a:tc>
                  <a:txBody>
                    <a:bodyPr/>
                    <a:lstStyle/>
                    <a:p>
                      <a:pPr marL="0" lvl="0" indent="0" algn="ctr" rtl="0">
                        <a:spcBef>
                          <a:spcPts val="0"/>
                        </a:spcBef>
                        <a:spcAft>
                          <a:spcPts val="0"/>
                        </a:spcAft>
                        <a:buNone/>
                      </a:pPr>
                      <a:r>
                        <a:rPr lang="en" sz="1200" b="1">
                          <a:solidFill>
                            <a:srgbClr val="FFFFFF"/>
                          </a:solidFill>
                          <a:latin typeface="Manrope"/>
                          <a:ea typeface="Manrope"/>
                          <a:cs typeface="Manrope"/>
                          <a:sym typeface="Manrope"/>
                        </a:rPr>
                        <a:t>75th Percentile</a:t>
                      </a:r>
                      <a:endParaRPr sz="12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11</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13</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7</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11</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15</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16</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7"/>
                  </a:ext>
                </a:extLst>
              </a:tr>
            </a:tbl>
          </a:graphicData>
        </a:graphic>
      </p:graphicFrame>
      <p:sp>
        <p:nvSpPr>
          <p:cNvPr id="146" name="Google Shape;146;p22"/>
          <p:cNvSpPr txBox="1"/>
          <p:nvPr/>
        </p:nvSpPr>
        <p:spPr>
          <a:xfrm>
            <a:off x="854191" y="83972"/>
            <a:ext cx="67791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Results | </a:t>
            </a:r>
            <a:r>
              <a:rPr lang="en" sz="3000">
                <a:solidFill>
                  <a:srgbClr val="888888"/>
                </a:solidFill>
                <a:latin typeface="Manrope SemiBold"/>
                <a:ea typeface="Manrope SemiBold"/>
                <a:cs typeface="Manrope SemiBold"/>
                <a:sym typeface="Manrope SemiBold"/>
              </a:rPr>
              <a:t>Context for Interpretation</a:t>
            </a:r>
            <a:endParaRPr sz="2200">
              <a:solidFill>
                <a:srgbClr val="888888"/>
              </a:solidFill>
              <a:latin typeface="Manrope SemiBold"/>
              <a:ea typeface="Manrope SemiBold"/>
              <a:cs typeface="Manrope SemiBold"/>
              <a:sym typeface="Manrope SemiBold"/>
            </a:endParaRPr>
          </a:p>
        </p:txBody>
      </p:sp>
      <p:pic>
        <p:nvPicPr>
          <p:cNvPr id="147" name="Google Shape;147;p22"/>
          <p:cNvPicPr preferRelativeResize="0"/>
          <p:nvPr/>
        </p:nvPicPr>
        <p:blipFill rotWithShape="1">
          <a:blip r:embed="rId3">
            <a:alphaModFix/>
          </a:blip>
          <a:srcRect/>
          <a:stretch/>
        </p:blipFill>
        <p:spPr>
          <a:xfrm>
            <a:off x="103491" y="145580"/>
            <a:ext cx="626264" cy="507837"/>
          </a:xfrm>
          <a:prstGeom prst="rect">
            <a:avLst/>
          </a:prstGeom>
          <a:noFill/>
          <a:ln>
            <a:noFill/>
          </a:ln>
        </p:spPr>
      </p:pic>
      <p:sp>
        <p:nvSpPr>
          <p:cNvPr id="148" name="Google Shape;148;p22"/>
          <p:cNvSpPr txBox="1"/>
          <p:nvPr/>
        </p:nvSpPr>
        <p:spPr>
          <a:xfrm>
            <a:off x="224375" y="677339"/>
            <a:ext cx="8319600" cy="1701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a:solidFill>
                  <a:srgbClr val="197B30"/>
                </a:solidFill>
                <a:latin typeface="Manrope"/>
                <a:ea typeface="Manrope"/>
                <a:cs typeface="Manrope"/>
                <a:sym typeface="Manrope"/>
              </a:rPr>
              <a:t>Understand sample rCSI outcomes to help interpret the results</a:t>
            </a:r>
            <a:endParaRPr sz="2000" b="1">
              <a:solidFill>
                <a:srgbClr val="197B30"/>
              </a:solidFill>
              <a:latin typeface="Manrope"/>
              <a:ea typeface="Manrope"/>
              <a:cs typeface="Manrope"/>
              <a:sym typeface="Manrope"/>
            </a:endParaRPr>
          </a:p>
          <a:p>
            <a:pPr marL="457200" lvl="0" indent="-304800" algn="l" rtl="0">
              <a:lnSpc>
                <a:spcPct val="115000"/>
              </a:lnSpc>
              <a:spcBef>
                <a:spcPts val="1000"/>
              </a:spcBef>
              <a:spcAft>
                <a:spcPts val="0"/>
              </a:spcAft>
              <a:buClr>
                <a:srgbClr val="434343"/>
              </a:buClr>
              <a:buSzPts val="1200"/>
              <a:buFont typeface="Manrope"/>
              <a:buChar char="●"/>
            </a:pPr>
            <a:r>
              <a:rPr lang="en" sz="1200" b="1">
                <a:solidFill>
                  <a:srgbClr val="434343"/>
                </a:solidFill>
                <a:latin typeface="Manrope"/>
                <a:ea typeface="Manrope"/>
                <a:cs typeface="Manrope"/>
                <a:sym typeface="Manrope"/>
              </a:rPr>
              <a:t>The results in the following slides reflect the change (decrease) in rCSI that myAgro products cause</a:t>
            </a:r>
            <a:endParaRPr sz="1200" b="1">
              <a:solidFill>
                <a:srgbClr val="434343"/>
              </a:solidFill>
              <a:latin typeface="Manrope"/>
              <a:ea typeface="Manrope"/>
              <a:cs typeface="Manrope"/>
              <a:sym typeface="Manrope"/>
            </a:endParaRPr>
          </a:p>
          <a:p>
            <a:pPr marL="457200" lvl="0" indent="-304800" algn="l" rtl="0">
              <a:lnSpc>
                <a:spcPct val="115000"/>
              </a:lnSpc>
              <a:spcBef>
                <a:spcPts val="0"/>
              </a:spcBef>
              <a:spcAft>
                <a:spcPts val="0"/>
              </a:spcAft>
              <a:buClr>
                <a:srgbClr val="434343"/>
              </a:buClr>
              <a:buSzPts val="1200"/>
              <a:buFont typeface="Manrope"/>
              <a:buChar char="●"/>
            </a:pPr>
            <a:r>
              <a:rPr lang="en" sz="1200">
                <a:solidFill>
                  <a:srgbClr val="434343"/>
                </a:solidFill>
                <a:latin typeface="Manrope"/>
                <a:ea typeface="Manrope"/>
                <a:cs typeface="Manrope"/>
                <a:sym typeface="Manrope"/>
              </a:rPr>
              <a:t>Before looking at results, we look at the sample’s rCSI outcomes (below) so we can </a:t>
            </a:r>
            <a:r>
              <a:rPr lang="en" sz="1200" b="1">
                <a:solidFill>
                  <a:srgbClr val="434343"/>
                </a:solidFill>
                <a:latin typeface="Manrope"/>
                <a:ea typeface="Manrope"/>
                <a:cs typeface="Manrope"/>
                <a:sym typeface="Manrope"/>
              </a:rPr>
              <a:t>interpret the significance of a results’ magnitude</a:t>
            </a:r>
            <a:r>
              <a:rPr lang="en" sz="1200">
                <a:solidFill>
                  <a:srgbClr val="434343"/>
                </a:solidFill>
                <a:latin typeface="Manrope"/>
                <a:ea typeface="Manrope"/>
                <a:cs typeface="Manrope"/>
                <a:sym typeface="Manrope"/>
              </a:rPr>
              <a:t>, and therefore the meaning of the change for a household’s food security*</a:t>
            </a:r>
            <a:endParaRPr sz="1200">
              <a:solidFill>
                <a:srgbClr val="434343"/>
              </a:solidFill>
              <a:latin typeface="Manrope"/>
              <a:ea typeface="Manrope"/>
              <a:cs typeface="Manrope"/>
              <a:sym typeface="Manrope"/>
            </a:endParaRPr>
          </a:p>
          <a:p>
            <a:pPr marL="457200" lvl="0" indent="-304800" algn="l" rtl="0">
              <a:lnSpc>
                <a:spcPct val="115000"/>
              </a:lnSpc>
              <a:spcBef>
                <a:spcPts val="0"/>
              </a:spcBef>
              <a:spcAft>
                <a:spcPts val="0"/>
              </a:spcAft>
              <a:buClr>
                <a:srgbClr val="434343"/>
              </a:buClr>
              <a:buSzPts val="1200"/>
              <a:buFont typeface="Manrope"/>
              <a:buChar char="●"/>
            </a:pPr>
            <a:r>
              <a:rPr lang="en" sz="1200">
                <a:solidFill>
                  <a:srgbClr val="434343"/>
                </a:solidFill>
                <a:latin typeface="Manrope"/>
                <a:ea typeface="Manrope"/>
                <a:cs typeface="Manrope"/>
                <a:sym typeface="Manrope"/>
              </a:rPr>
              <a:t>Ex. A median control household (rCSI = 6) would move from Phase 2 food security to Phase 1 (rCSI ≤ 4 ) with a myAgro package that decreases rCSI by 3</a:t>
            </a:r>
            <a:endParaRPr sz="1200">
              <a:solidFill>
                <a:srgbClr val="434343"/>
              </a:solidFill>
              <a:latin typeface="Manrope"/>
              <a:ea typeface="Manrope"/>
              <a:cs typeface="Manrope"/>
              <a:sym typeface="Manrop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graphicFrame>
        <p:nvGraphicFramePr>
          <p:cNvPr id="153" name="Google Shape;153;p23"/>
          <p:cNvGraphicFramePr/>
          <p:nvPr/>
        </p:nvGraphicFramePr>
        <p:xfrm>
          <a:off x="600675" y="1643160"/>
          <a:ext cx="7942650" cy="2072640"/>
        </p:xfrm>
        <a:graphic>
          <a:graphicData uri="http://schemas.openxmlformats.org/drawingml/2006/table">
            <a:tbl>
              <a:tblPr>
                <a:noFill/>
                <a:tableStyleId>{30DB1E6E-BAFB-4045-8679-1D4DE15F8355}</a:tableStyleId>
              </a:tblPr>
              <a:tblGrid>
                <a:gridCol w="3162275">
                  <a:extLst>
                    <a:ext uri="{9D8B030D-6E8A-4147-A177-3AD203B41FA5}">
                      <a16:colId xmlns:a16="http://schemas.microsoft.com/office/drawing/2014/main" val="20000"/>
                    </a:ext>
                  </a:extLst>
                </a:gridCol>
                <a:gridCol w="2390200">
                  <a:extLst>
                    <a:ext uri="{9D8B030D-6E8A-4147-A177-3AD203B41FA5}">
                      <a16:colId xmlns:a16="http://schemas.microsoft.com/office/drawing/2014/main" val="20001"/>
                    </a:ext>
                  </a:extLst>
                </a:gridCol>
                <a:gridCol w="2390175">
                  <a:extLst>
                    <a:ext uri="{9D8B030D-6E8A-4147-A177-3AD203B41FA5}">
                      <a16:colId xmlns:a16="http://schemas.microsoft.com/office/drawing/2014/main" val="20002"/>
                    </a:ext>
                  </a:extLst>
                </a:gridCol>
              </a:tblGrid>
              <a:tr h="397250">
                <a:tc>
                  <a:txBody>
                    <a:bodyPr/>
                    <a:lstStyle/>
                    <a:p>
                      <a:pPr marL="0" lvl="0" indent="0" algn="ctr" rtl="0">
                        <a:spcBef>
                          <a:spcPts val="0"/>
                        </a:spcBef>
                        <a:spcAft>
                          <a:spcPts val="0"/>
                        </a:spcAft>
                        <a:buNone/>
                      </a:pPr>
                      <a:r>
                        <a:rPr lang="en" sz="1200" b="1">
                          <a:solidFill>
                            <a:srgbClr val="FFFFFF"/>
                          </a:solidFill>
                          <a:latin typeface="Manrope"/>
                          <a:ea typeface="Manrope"/>
                          <a:cs typeface="Manrope"/>
                          <a:sym typeface="Manrope"/>
                        </a:rPr>
                        <a:t>RESULT</a:t>
                      </a:r>
                      <a:endParaRPr sz="12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D4119"/>
                    </a:solidFill>
                  </a:tcPr>
                </a:tc>
                <a:tc>
                  <a:txBody>
                    <a:bodyPr/>
                    <a:lstStyle/>
                    <a:p>
                      <a:pPr marL="0" lvl="0" indent="0" algn="ctr" rtl="0">
                        <a:spcBef>
                          <a:spcPts val="0"/>
                        </a:spcBef>
                        <a:spcAft>
                          <a:spcPts val="0"/>
                        </a:spcAft>
                        <a:buNone/>
                      </a:pPr>
                      <a:r>
                        <a:rPr lang="en" sz="1100" b="1" i="1">
                          <a:solidFill>
                            <a:srgbClr val="FFFFFF"/>
                          </a:solidFill>
                          <a:latin typeface="Manrope"/>
                          <a:ea typeface="Manrope"/>
                          <a:cs typeface="Manrope"/>
                          <a:sym typeface="Manrope"/>
                        </a:rPr>
                        <a:t>On average</a:t>
                      </a:r>
                      <a:r>
                        <a:rPr lang="en" sz="1100" b="1">
                          <a:solidFill>
                            <a:srgbClr val="FFFFFF"/>
                          </a:solidFill>
                          <a:latin typeface="Manrope"/>
                          <a:ea typeface="Manrope"/>
                          <a:cs typeface="Manrope"/>
                          <a:sym typeface="Manrope"/>
                        </a:rPr>
                        <a:t>, myAgro sample clients planted… (hectares)</a:t>
                      </a:r>
                      <a:endParaRPr sz="11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And </a:t>
                      </a:r>
                      <a:r>
                        <a:rPr lang="en" sz="1100" b="1" i="1">
                          <a:solidFill>
                            <a:srgbClr val="FFFFFF"/>
                          </a:solidFill>
                          <a:latin typeface="Manrope"/>
                          <a:ea typeface="Manrope"/>
                          <a:cs typeface="Manrope"/>
                          <a:sym typeface="Manrope"/>
                        </a:rPr>
                        <a:t>decreased</a:t>
                      </a:r>
                      <a:r>
                        <a:rPr lang="en" sz="1100" b="1">
                          <a:solidFill>
                            <a:srgbClr val="FFFFFF"/>
                          </a:solidFill>
                          <a:latin typeface="Manrope"/>
                          <a:ea typeface="Manrope"/>
                          <a:cs typeface="Manrope"/>
                          <a:sym typeface="Manrope"/>
                        </a:rPr>
                        <a:t> household food insecurity (rCSI) by…</a:t>
                      </a:r>
                      <a:endParaRPr sz="11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extLst>
                  <a:ext uri="{0D108BD9-81ED-4DB2-BD59-A6C34878D82A}">
                    <a16:rowId xmlns:a16="http://schemas.microsoft.com/office/drawing/2014/main" val="10000"/>
                  </a:ext>
                </a:extLst>
              </a:tr>
              <a:tr h="253175">
                <a:tc>
                  <a:txBody>
                    <a:bodyPr/>
                    <a:lstStyle/>
                    <a:p>
                      <a:pPr marL="0" lvl="0" indent="0" algn="ctr" rtl="0">
                        <a:spcBef>
                          <a:spcPts val="0"/>
                        </a:spcBef>
                        <a:spcAft>
                          <a:spcPts val="0"/>
                        </a:spcAft>
                        <a:buNone/>
                      </a:pPr>
                      <a:r>
                        <a:rPr lang="en" sz="1100" b="1">
                          <a:solidFill>
                            <a:schemeClr val="lt1"/>
                          </a:solidFill>
                          <a:latin typeface="Manrope"/>
                          <a:ea typeface="Manrope"/>
                          <a:cs typeface="Manrope"/>
                          <a:sym typeface="Manrope"/>
                        </a:rPr>
                        <a:t>Millet</a:t>
                      </a:r>
                      <a:endParaRPr sz="1100" b="1">
                        <a:solidFill>
                          <a:schemeClr val="lt1"/>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0.335</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1.75</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53175">
                <a:tc>
                  <a:txBody>
                    <a:bodyPr/>
                    <a:lstStyle/>
                    <a:p>
                      <a:pPr marL="0" lvl="0" indent="0" algn="ctr" rtl="0">
                        <a:spcBef>
                          <a:spcPts val="0"/>
                        </a:spcBef>
                        <a:spcAft>
                          <a:spcPts val="0"/>
                        </a:spcAft>
                        <a:buNone/>
                      </a:pPr>
                      <a:r>
                        <a:rPr lang="en" sz="1100" b="1">
                          <a:solidFill>
                            <a:schemeClr val="lt1"/>
                          </a:solidFill>
                          <a:latin typeface="Manrope"/>
                          <a:ea typeface="Manrope"/>
                          <a:cs typeface="Manrope"/>
                          <a:sym typeface="Manrope"/>
                        </a:rPr>
                        <a:t>Peanut</a:t>
                      </a:r>
                      <a:endParaRPr sz="1100" b="1">
                        <a:solidFill>
                          <a:schemeClr val="lt1"/>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0.141</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0.91</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53175">
                <a:tc>
                  <a:txBody>
                    <a:bodyPr/>
                    <a:lstStyle/>
                    <a:p>
                      <a:pPr marL="0" lvl="0" indent="0" algn="ctr" rtl="0">
                        <a:spcBef>
                          <a:spcPts val="0"/>
                        </a:spcBef>
                        <a:spcAft>
                          <a:spcPts val="0"/>
                        </a:spcAft>
                        <a:buNone/>
                      </a:pPr>
                      <a:r>
                        <a:rPr lang="en" sz="1100" b="1">
                          <a:solidFill>
                            <a:schemeClr val="lt1"/>
                          </a:solidFill>
                          <a:latin typeface="Manrope"/>
                          <a:ea typeface="Manrope"/>
                          <a:cs typeface="Manrope"/>
                          <a:sym typeface="Manrope"/>
                        </a:rPr>
                        <a:t>Watermelon</a:t>
                      </a:r>
                      <a:endParaRPr sz="1100" b="1">
                        <a:solidFill>
                          <a:schemeClr val="lt1"/>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0.009</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1.81</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53175">
                <a:tc>
                  <a:txBody>
                    <a:bodyPr/>
                    <a:lstStyle/>
                    <a:p>
                      <a:pPr marL="0" lvl="0" indent="0" algn="ctr" rtl="0">
                        <a:spcBef>
                          <a:spcPts val="0"/>
                        </a:spcBef>
                        <a:spcAft>
                          <a:spcPts val="0"/>
                        </a:spcAft>
                        <a:buNone/>
                      </a:pPr>
                      <a:r>
                        <a:rPr lang="en" sz="1100" b="1">
                          <a:solidFill>
                            <a:schemeClr val="lt1"/>
                          </a:solidFill>
                          <a:latin typeface="Manrope"/>
                          <a:ea typeface="Manrope"/>
                          <a:cs typeface="Manrope"/>
                          <a:sym typeface="Manrope"/>
                        </a:rPr>
                        <a:t>myAgro Packages Planted in Past Seasons*</a:t>
                      </a:r>
                      <a:endParaRPr sz="1100" b="1">
                        <a:solidFill>
                          <a:schemeClr val="lt1"/>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0.656</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0.49</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71050">
                <a:tc>
                  <a:txBody>
                    <a:bodyPr/>
                    <a:lstStyle/>
                    <a:p>
                      <a:pPr marL="0" lvl="0" indent="0" algn="ctr" rtl="0">
                        <a:spcBef>
                          <a:spcPts val="0"/>
                        </a:spcBef>
                        <a:spcAft>
                          <a:spcPts val="0"/>
                        </a:spcAft>
                        <a:buNone/>
                      </a:pPr>
                      <a:r>
                        <a:rPr lang="en" sz="1100" b="1">
                          <a:solidFill>
                            <a:schemeClr val="lt1"/>
                          </a:solidFill>
                          <a:latin typeface="Manrope"/>
                          <a:ea typeface="Manrope"/>
                          <a:cs typeface="Manrope"/>
                          <a:sym typeface="Manrope"/>
                        </a:rPr>
                        <a:t>25kg Fertilizer Gift**</a:t>
                      </a:r>
                      <a:endParaRPr sz="1100" b="1">
                        <a:solidFill>
                          <a:schemeClr val="lt1"/>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0.250</a:t>
                      </a:r>
                      <a:endParaRPr sz="1100">
                        <a:solidFill>
                          <a:srgbClr val="434343"/>
                        </a:solidFill>
                        <a:latin typeface="Manrope"/>
                        <a:ea typeface="Manrope"/>
                        <a:cs typeface="Manrope"/>
                        <a:sym typeface="Manrope"/>
                      </a:endParaRPr>
                    </a:p>
                    <a:p>
                      <a:pPr marL="0" lvl="0" indent="0" algn="ctr" rtl="0">
                        <a:spcBef>
                          <a:spcPts val="0"/>
                        </a:spcBef>
                        <a:spcAft>
                          <a:spcPts val="0"/>
                        </a:spcAft>
                        <a:buNone/>
                      </a:pPr>
                      <a:r>
                        <a:rPr lang="en" sz="900">
                          <a:solidFill>
                            <a:srgbClr val="434343"/>
                          </a:solidFill>
                          <a:latin typeface="Manrope"/>
                          <a:ea typeface="Manrope"/>
                          <a:cs typeface="Manrope"/>
                          <a:sym typeface="Manrope"/>
                        </a:rPr>
                        <a:t>(assumption)</a:t>
                      </a:r>
                      <a:endParaRPr sz="9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5.35</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54" name="Google Shape;154;p23"/>
          <p:cNvSpPr txBox="1"/>
          <p:nvPr/>
        </p:nvSpPr>
        <p:spPr>
          <a:xfrm>
            <a:off x="854191" y="83972"/>
            <a:ext cx="67791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Results | </a:t>
            </a:r>
            <a:r>
              <a:rPr lang="en" sz="3000">
                <a:solidFill>
                  <a:srgbClr val="888888"/>
                </a:solidFill>
                <a:latin typeface="Manrope SemiBold"/>
                <a:ea typeface="Manrope SemiBold"/>
                <a:cs typeface="Manrope SemiBold"/>
                <a:sym typeface="Manrope SemiBold"/>
              </a:rPr>
              <a:t>Full Year Conclusions</a:t>
            </a:r>
            <a:endParaRPr sz="2200">
              <a:solidFill>
                <a:srgbClr val="888888"/>
              </a:solidFill>
              <a:latin typeface="Manrope SemiBold"/>
              <a:ea typeface="Manrope SemiBold"/>
              <a:cs typeface="Manrope SemiBold"/>
              <a:sym typeface="Manrope SemiBold"/>
            </a:endParaRPr>
          </a:p>
        </p:txBody>
      </p:sp>
      <p:pic>
        <p:nvPicPr>
          <p:cNvPr id="155" name="Google Shape;155;p23"/>
          <p:cNvPicPr preferRelativeResize="0"/>
          <p:nvPr/>
        </p:nvPicPr>
        <p:blipFill rotWithShape="1">
          <a:blip r:embed="rId3">
            <a:alphaModFix/>
          </a:blip>
          <a:srcRect/>
          <a:stretch/>
        </p:blipFill>
        <p:spPr>
          <a:xfrm>
            <a:off x="103491" y="145580"/>
            <a:ext cx="626264" cy="507837"/>
          </a:xfrm>
          <a:prstGeom prst="rect">
            <a:avLst/>
          </a:prstGeom>
          <a:noFill/>
          <a:ln>
            <a:noFill/>
          </a:ln>
        </p:spPr>
      </p:pic>
      <p:graphicFrame>
        <p:nvGraphicFramePr>
          <p:cNvPr id="156" name="Google Shape;156;p23"/>
          <p:cNvGraphicFramePr/>
          <p:nvPr/>
        </p:nvGraphicFramePr>
        <p:xfrm>
          <a:off x="600663" y="3925070"/>
          <a:ext cx="7965900" cy="1066710"/>
        </p:xfrm>
        <a:graphic>
          <a:graphicData uri="http://schemas.openxmlformats.org/drawingml/2006/table">
            <a:tbl>
              <a:tblPr>
                <a:noFill/>
                <a:tableStyleId>{30DB1E6E-BAFB-4045-8679-1D4DE15F8355}</a:tableStyleId>
              </a:tblPr>
              <a:tblGrid>
                <a:gridCol w="3494600">
                  <a:extLst>
                    <a:ext uri="{9D8B030D-6E8A-4147-A177-3AD203B41FA5}">
                      <a16:colId xmlns:a16="http://schemas.microsoft.com/office/drawing/2014/main" val="20000"/>
                    </a:ext>
                  </a:extLst>
                </a:gridCol>
                <a:gridCol w="690300">
                  <a:extLst>
                    <a:ext uri="{9D8B030D-6E8A-4147-A177-3AD203B41FA5}">
                      <a16:colId xmlns:a16="http://schemas.microsoft.com/office/drawing/2014/main" val="20001"/>
                    </a:ext>
                  </a:extLst>
                </a:gridCol>
                <a:gridCol w="874650">
                  <a:extLst>
                    <a:ext uri="{9D8B030D-6E8A-4147-A177-3AD203B41FA5}">
                      <a16:colId xmlns:a16="http://schemas.microsoft.com/office/drawing/2014/main" val="20002"/>
                    </a:ext>
                  </a:extLst>
                </a:gridCol>
                <a:gridCol w="1028600">
                  <a:extLst>
                    <a:ext uri="{9D8B030D-6E8A-4147-A177-3AD203B41FA5}">
                      <a16:colId xmlns:a16="http://schemas.microsoft.com/office/drawing/2014/main" val="20003"/>
                    </a:ext>
                  </a:extLst>
                </a:gridCol>
                <a:gridCol w="1877750">
                  <a:extLst>
                    <a:ext uri="{9D8B030D-6E8A-4147-A177-3AD203B41FA5}">
                      <a16:colId xmlns:a16="http://schemas.microsoft.com/office/drawing/2014/main" val="20004"/>
                    </a:ext>
                  </a:extLst>
                </a:gridCol>
              </a:tblGrid>
              <a:tr h="291375">
                <a:tc gridSpan="5">
                  <a:txBody>
                    <a:bodyPr/>
                    <a:lstStyle/>
                    <a:p>
                      <a:pPr marL="0" lvl="0" indent="0" algn="ctr" rtl="0">
                        <a:spcBef>
                          <a:spcPts val="0"/>
                        </a:spcBef>
                        <a:spcAft>
                          <a:spcPts val="0"/>
                        </a:spcAft>
                        <a:buNone/>
                      </a:pPr>
                      <a:r>
                        <a:rPr lang="en" sz="1200" b="1">
                          <a:solidFill>
                            <a:schemeClr val="lt1"/>
                          </a:solidFill>
                          <a:latin typeface="Manrope"/>
                          <a:ea typeface="Manrope"/>
                          <a:cs typeface="Manrope"/>
                          <a:sym typeface="Manrope"/>
                        </a:rPr>
                        <a:t>REFERENCE (Product Potential)</a:t>
                      </a:r>
                      <a:endParaRPr sz="1200" b="1">
                        <a:solidFill>
                          <a:schemeClr val="lt1"/>
                        </a:solidFill>
                        <a:latin typeface="Manrope"/>
                        <a:ea typeface="Manrope"/>
                        <a:cs typeface="Manrope"/>
                        <a:sym typeface="Manrope"/>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D411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79225">
                <a:tc>
                  <a:txBody>
                    <a:bodyPr/>
                    <a:lstStyle/>
                    <a:p>
                      <a:pPr marL="0" lvl="0" indent="0" algn="ctr" rtl="0">
                        <a:spcBef>
                          <a:spcPts val="0"/>
                        </a:spcBef>
                        <a:spcAft>
                          <a:spcPts val="0"/>
                        </a:spcAft>
                        <a:buClr>
                          <a:schemeClr val="dk1"/>
                        </a:buClr>
                        <a:buSzPts val="1100"/>
                        <a:buFont typeface="Arial"/>
                        <a:buNone/>
                      </a:pPr>
                      <a:r>
                        <a:rPr lang="en" sz="1100" b="1">
                          <a:solidFill>
                            <a:schemeClr val="lt1"/>
                          </a:solidFill>
                          <a:latin typeface="Manrope"/>
                          <a:ea typeface="Manrope"/>
                          <a:cs typeface="Manrope"/>
                          <a:sym typeface="Manrope"/>
                        </a:rPr>
                        <a:t>With every </a:t>
                      </a:r>
                      <a:r>
                        <a:rPr lang="en" sz="1100" b="1" i="1">
                          <a:solidFill>
                            <a:schemeClr val="lt1"/>
                          </a:solidFill>
                          <a:latin typeface="Manrope"/>
                          <a:ea typeface="Manrope"/>
                          <a:cs typeface="Manrope"/>
                          <a:sym typeface="Manrope"/>
                        </a:rPr>
                        <a:t>hectare </a:t>
                      </a:r>
                      <a:r>
                        <a:rPr lang="en" sz="1100" b="1">
                          <a:solidFill>
                            <a:schemeClr val="lt1"/>
                          </a:solidFill>
                          <a:latin typeface="Manrope"/>
                          <a:ea typeface="Manrope"/>
                          <a:cs typeface="Manrope"/>
                          <a:sym typeface="Manrope"/>
                        </a:rPr>
                        <a:t>planted of…</a:t>
                      </a:r>
                      <a:endParaRPr sz="1100" b="1">
                        <a:solidFill>
                          <a:schemeClr val="lt1"/>
                        </a:solidFill>
                        <a:latin typeface="Manrope"/>
                        <a:ea typeface="Manrope"/>
                        <a:cs typeface="Manrope"/>
                        <a:sym typeface="Manrope"/>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chemeClr val="lt1"/>
                          </a:solidFill>
                          <a:latin typeface="Manrope"/>
                          <a:ea typeface="Manrope"/>
                          <a:cs typeface="Manrope"/>
                          <a:sym typeface="Manrope"/>
                        </a:rPr>
                        <a:t>Millet</a:t>
                      </a:r>
                      <a:endParaRPr sz="1100" b="1">
                        <a:solidFill>
                          <a:schemeClr val="lt1"/>
                        </a:solidFill>
                        <a:latin typeface="Manrope"/>
                        <a:ea typeface="Manrope"/>
                        <a:cs typeface="Manrope"/>
                        <a:sym typeface="Manrope"/>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chemeClr val="lt1"/>
                          </a:solidFill>
                          <a:latin typeface="Manrope"/>
                          <a:ea typeface="Manrope"/>
                          <a:cs typeface="Manrope"/>
                          <a:sym typeface="Manrope"/>
                        </a:rPr>
                        <a:t>Peanut</a:t>
                      </a:r>
                      <a:endParaRPr sz="1100" b="1">
                        <a:solidFill>
                          <a:schemeClr val="lt1"/>
                        </a:solidFill>
                        <a:latin typeface="Manrope"/>
                        <a:ea typeface="Manrope"/>
                        <a:cs typeface="Manrope"/>
                        <a:sym typeface="Manrope"/>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chemeClr val="lt1"/>
                          </a:solidFill>
                          <a:latin typeface="Manrope"/>
                          <a:ea typeface="Manrope"/>
                          <a:cs typeface="Manrope"/>
                          <a:sym typeface="Manrope"/>
                        </a:rPr>
                        <a:t>Watermelon</a:t>
                      </a:r>
                      <a:endParaRPr sz="1100" b="1">
                        <a:solidFill>
                          <a:schemeClr val="lt1"/>
                        </a:solidFill>
                        <a:latin typeface="Manrope"/>
                        <a:ea typeface="Manrope"/>
                        <a:cs typeface="Manrope"/>
                        <a:sym typeface="Manrope"/>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chemeClr val="lt1"/>
                          </a:solidFill>
                          <a:latin typeface="Manrope"/>
                          <a:ea typeface="Manrope"/>
                          <a:cs typeface="Manrope"/>
                          <a:sym typeface="Manrope"/>
                        </a:rPr>
                        <a:t>Any Product Before 2023</a:t>
                      </a:r>
                      <a:endParaRPr sz="1100" b="1">
                        <a:solidFill>
                          <a:schemeClr val="lt1"/>
                        </a:solidFill>
                        <a:latin typeface="Manrope"/>
                        <a:ea typeface="Manrope"/>
                        <a:cs typeface="Manrope"/>
                        <a:sym typeface="Manrope"/>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97B30"/>
                    </a:solidFill>
                  </a:tcPr>
                </a:tc>
                <a:extLst>
                  <a:ext uri="{0D108BD9-81ED-4DB2-BD59-A6C34878D82A}">
                    <a16:rowId xmlns:a16="http://schemas.microsoft.com/office/drawing/2014/main" val="10001"/>
                  </a:ext>
                </a:extLst>
              </a:tr>
              <a:tr h="279225">
                <a:tc>
                  <a:txBody>
                    <a:bodyPr/>
                    <a:lstStyle/>
                    <a:p>
                      <a:pPr marL="0" lvl="0" indent="0" algn="ctr" rtl="0">
                        <a:spcBef>
                          <a:spcPts val="0"/>
                        </a:spcBef>
                        <a:spcAft>
                          <a:spcPts val="0"/>
                        </a:spcAft>
                        <a:buNone/>
                      </a:pPr>
                      <a:r>
                        <a:rPr lang="en" sz="1100" b="1">
                          <a:solidFill>
                            <a:srgbClr val="197B30"/>
                          </a:solidFill>
                          <a:latin typeface="Manrope"/>
                          <a:ea typeface="Manrope"/>
                          <a:cs typeface="Manrope"/>
                          <a:sym typeface="Manrope"/>
                        </a:rPr>
                        <a:t>Household food insecurity (rCSI) </a:t>
                      </a:r>
                      <a:r>
                        <a:rPr lang="en" sz="1100" b="1" i="1">
                          <a:solidFill>
                            <a:srgbClr val="197B30"/>
                          </a:solidFill>
                          <a:latin typeface="Manrope"/>
                          <a:ea typeface="Manrope"/>
                          <a:cs typeface="Manrope"/>
                          <a:sym typeface="Manrope"/>
                        </a:rPr>
                        <a:t>decreases </a:t>
                      </a:r>
                      <a:r>
                        <a:rPr lang="en" sz="1100" b="1">
                          <a:solidFill>
                            <a:srgbClr val="197B30"/>
                          </a:solidFill>
                          <a:latin typeface="Manrope"/>
                          <a:ea typeface="Manrope"/>
                          <a:cs typeface="Manrope"/>
                          <a:sym typeface="Manrope"/>
                        </a:rPr>
                        <a:t>by…</a:t>
                      </a:r>
                      <a:endParaRPr sz="1100" b="1">
                        <a:solidFill>
                          <a:srgbClr val="197B30"/>
                        </a:solidFill>
                        <a:latin typeface="Manrope"/>
                        <a:ea typeface="Manrope"/>
                        <a:cs typeface="Manrope"/>
                        <a:sym typeface="Manrope"/>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5.23</a:t>
                      </a:r>
                      <a:endParaRPr sz="1100">
                        <a:solidFill>
                          <a:srgbClr val="434343"/>
                        </a:solidFill>
                        <a:latin typeface="Manrope"/>
                        <a:ea typeface="Manrope"/>
                        <a:cs typeface="Manrope"/>
                        <a:sym typeface="Manrope"/>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6.45</a:t>
                      </a:r>
                      <a:endParaRPr sz="1100">
                        <a:solidFill>
                          <a:srgbClr val="434343"/>
                        </a:solidFill>
                        <a:latin typeface="Manrope"/>
                        <a:ea typeface="Manrope"/>
                        <a:cs typeface="Manrope"/>
                        <a:sym typeface="Manrope"/>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201.05</a:t>
                      </a:r>
                      <a:endParaRPr sz="1100">
                        <a:solidFill>
                          <a:srgbClr val="434343"/>
                        </a:solidFill>
                        <a:latin typeface="Manrope"/>
                        <a:ea typeface="Manrope"/>
                        <a:cs typeface="Manrope"/>
                        <a:sym typeface="Manrope"/>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0.74</a:t>
                      </a:r>
                      <a:endParaRPr sz="1100">
                        <a:solidFill>
                          <a:srgbClr val="434343"/>
                        </a:solidFill>
                        <a:latin typeface="Manrope"/>
                        <a:ea typeface="Manrope"/>
                        <a:cs typeface="Manrope"/>
                        <a:sym typeface="Manrope"/>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57" name="Google Shape;157;p23"/>
          <p:cNvSpPr txBox="1"/>
          <p:nvPr/>
        </p:nvSpPr>
        <p:spPr>
          <a:xfrm>
            <a:off x="224375" y="684275"/>
            <a:ext cx="7755300" cy="882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a:solidFill>
                  <a:srgbClr val="197B30"/>
                </a:solidFill>
                <a:latin typeface="Manrope"/>
                <a:ea typeface="Manrope"/>
                <a:cs typeface="Manrope"/>
                <a:sym typeface="Manrope"/>
              </a:rPr>
              <a:t>Statistically Significant Impact (</a:t>
            </a:r>
            <a:r>
              <a:rPr lang="en" sz="2000" b="1" i="1">
                <a:solidFill>
                  <a:srgbClr val="197B30"/>
                </a:solidFill>
                <a:latin typeface="Manrope"/>
                <a:ea typeface="Manrope"/>
                <a:cs typeface="Manrope"/>
                <a:sym typeface="Manrope"/>
              </a:rPr>
              <a:t>P</a:t>
            </a:r>
            <a:r>
              <a:rPr lang="en" sz="2000" b="1">
                <a:solidFill>
                  <a:srgbClr val="197B30"/>
                </a:solidFill>
                <a:latin typeface="Manrope"/>
                <a:ea typeface="Manrope"/>
                <a:cs typeface="Manrope"/>
                <a:sym typeface="Manrope"/>
              </a:rPr>
              <a:t>≤.05)</a:t>
            </a:r>
            <a:endParaRPr sz="2000" b="1">
              <a:solidFill>
                <a:srgbClr val="197B30"/>
              </a:solidFill>
              <a:latin typeface="Manrope"/>
              <a:ea typeface="Manrope"/>
              <a:cs typeface="Manrope"/>
              <a:sym typeface="Manrope"/>
            </a:endParaRPr>
          </a:p>
          <a:p>
            <a:pPr marL="0" lvl="0" indent="0" algn="l" rtl="0">
              <a:lnSpc>
                <a:spcPct val="115000"/>
              </a:lnSpc>
              <a:spcBef>
                <a:spcPts val="1000"/>
              </a:spcBef>
              <a:spcAft>
                <a:spcPts val="0"/>
              </a:spcAft>
              <a:buNone/>
            </a:pPr>
            <a:r>
              <a:rPr lang="en">
                <a:solidFill>
                  <a:srgbClr val="434343"/>
                </a:solidFill>
                <a:latin typeface="Manrope"/>
                <a:ea typeface="Manrope"/>
                <a:cs typeface="Manrope"/>
                <a:sym typeface="Manrope"/>
              </a:rPr>
              <a:t>Of myAgro products on </a:t>
            </a:r>
            <a:r>
              <a:rPr lang="en" b="1">
                <a:solidFill>
                  <a:srgbClr val="434343"/>
                </a:solidFill>
                <a:latin typeface="Manrope"/>
                <a:ea typeface="Manrope"/>
                <a:cs typeface="Manrope"/>
                <a:sym typeface="Manrope"/>
              </a:rPr>
              <a:t>year-round</a:t>
            </a:r>
            <a:r>
              <a:rPr lang="en">
                <a:solidFill>
                  <a:srgbClr val="434343"/>
                </a:solidFill>
                <a:latin typeface="Manrope"/>
                <a:ea typeface="Manrope"/>
                <a:cs typeface="Manrope"/>
                <a:sym typeface="Manrope"/>
              </a:rPr>
              <a:t> household rCSI</a:t>
            </a:r>
            <a:endParaRPr sz="1100" i="1">
              <a:solidFill>
                <a:srgbClr val="434343"/>
              </a:solidFill>
              <a:latin typeface="Manrope"/>
              <a:ea typeface="Manrope"/>
              <a:cs typeface="Manrope"/>
              <a:sym typeface="Manrop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4"/>
          <p:cNvSpPr txBox="1"/>
          <p:nvPr/>
        </p:nvSpPr>
        <p:spPr>
          <a:xfrm>
            <a:off x="854191" y="83972"/>
            <a:ext cx="67791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Results | </a:t>
            </a:r>
            <a:r>
              <a:rPr lang="en" sz="3000">
                <a:solidFill>
                  <a:srgbClr val="888888"/>
                </a:solidFill>
                <a:latin typeface="Manrope SemiBold"/>
                <a:ea typeface="Manrope SemiBold"/>
                <a:cs typeface="Manrope SemiBold"/>
                <a:sym typeface="Manrope SemiBold"/>
              </a:rPr>
              <a:t>Lean Season Conclusions</a:t>
            </a:r>
            <a:endParaRPr sz="2200">
              <a:solidFill>
                <a:srgbClr val="888888"/>
              </a:solidFill>
              <a:latin typeface="Manrope SemiBold"/>
              <a:ea typeface="Manrope SemiBold"/>
              <a:cs typeface="Manrope SemiBold"/>
              <a:sym typeface="Manrope SemiBold"/>
            </a:endParaRPr>
          </a:p>
        </p:txBody>
      </p:sp>
      <p:pic>
        <p:nvPicPr>
          <p:cNvPr id="163" name="Google Shape;163;p24"/>
          <p:cNvPicPr preferRelativeResize="0"/>
          <p:nvPr/>
        </p:nvPicPr>
        <p:blipFill rotWithShape="1">
          <a:blip r:embed="rId3">
            <a:alphaModFix/>
          </a:blip>
          <a:srcRect/>
          <a:stretch/>
        </p:blipFill>
        <p:spPr>
          <a:xfrm>
            <a:off x="103491" y="145580"/>
            <a:ext cx="626264" cy="507837"/>
          </a:xfrm>
          <a:prstGeom prst="rect">
            <a:avLst/>
          </a:prstGeom>
          <a:noFill/>
          <a:ln>
            <a:noFill/>
          </a:ln>
        </p:spPr>
      </p:pic>
      <p:sp>
        <p:nvSpPr>
          <p:cNvPr id="164" name="Google Shape;164;p24"/>
          <p:cNvSpPr txBox="1"/>
          <p:nvPr/>
        </p:nvSpPr>
        <p:spPr>
          <a:xfrm>
            <a:off x="224375" y="684275"/>
            <a:ext cx="7755300" cy="882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a:solidFill>
                  <a:srgbClr val="197B30"/>
                </a:solidFill>
                <a:latin typeface="Manrope"/>
                <a:ea typeface="Manrope"/>
                <a:cs typeface="Manrope"/>
                <a:sym typeface="Manrope"/>
              </a:rPr>
              <a:t>Statistically Significant Impact (</a:t>
            </a:r>
            <a:r>
              <a:rPr lang="en" sz="2000" b="1" i="1">
                <a:solidFill>
                  <a:srgbClr val="197B30"/>
                </a:solidFill>
                <a:latin typeface="Manrope"/>
                <a:ea typeface="Manrope"/>
                <a:cs typeface="Manrope"/>
                <a:sym typeface="Manrope"/>
              </a:rPr>
              <a:t>P</a:t>
            </a:r>
            <a:r>
              <a:rPr lang="en" sz="2000" b="1">
                <a:solidFill>
                  <a:srgbClr val="197B30"/>
                </a:solidFill>
                <a:latin typeface="Manrope"/>
                <a:ea typeface="Manrope"/>
                <a:cs typeface="Manrope"/>
                <a:sym typeface="Manrope"/>
              </a:rPr>
              <a:t>≤.05)</a:t>
            </a:r>
            <a:endParaRPr sz="2000" b="1">
              <a:solidFill>
                <a:srgbClr val="197B30"/>
              </a:solidFill>
              <a:latin typeface="Manrope"/>
              <a:ea typeface="Manrope"/>
              <a:cs typeface="Manrope"/>
              <a:sym typeface="Manrope"/>
            </a:endParaRPr>
          </a:p>
          <a:p>
            <a:pPr marL="0" lvl="0" indent="0" algn="l" rtl="0">
              <a:lnSpc>
                <a:spcPct val="115000"/>
              </a:lnSpc>
              <a:spcBef>
                <a:spcPts val="1000"/>
              </a:spcBef>
              <a:spcAft>
                <a:spcPts val="0"/>
              </a:spcAft>
              <a:buNone/>
            </a:pPr>
            <a:r>
              <a:rPr lang="en">
                <a:solidFill>
                  <a:srgbClr val="434343"/>
                </a:solidFill>
                <a:latin typeface="Manrope"/>
                <a:ea typeface="Manrope"/>
                <a:cs typeface="Manrope"/>
                <a:sym typeface="Manrope"/>
              </a:rPr>
              <a:t>Of myAgro products on </a:t>
            </a:r>
            <a:r>
              <a:rPr lang="en" b="1">
                <a:solidFill>
                  <a:srgbClr val="434343"/>
                </a:solidFill>
                <a:latin typeface="Manrope"/>
                <a:ea typeface="Manrope"/>
                <a:cs typeface="Manrope"/>
                <a:sym typeface="Manrope"/>
              </a:rPr>
              <a:t>lean season</a:t>
            </a:r>
            <a:r>
              <a:rPr lang="en">
                <a:solidFill>
                  <a:srgbClr val="434343"/>
                </a:solidFill>
                <a:latin typeface="Manrope"/>
                <a:ea typeface="Manrope"/>
                <a:cs typeface="Manrope"/>
                <a:sym typeface="Manrope"/>
              </a:rPr>
              <a:t> household rCSI</a:t>
            </a:r>
            <a:endParaRPr sz="1100" i="1">
              <a:solidFill>
                <a:srgbClr val="434343"/>
              </a:solidFill>
              <a:latin typeface="Manrope"/>
              <a:ea typeface="Manrope"/>
              <a:cs typeface="Manrope"/>
              <a:sym typeface="Manrope"/>
            </a:endParaRPr>
          </a:p>
        </p:txBody>
      </p:sp>
      <p:graphicFrame>
        <p:nvGraphicFramePr>
          <p:cNvPr id="165" name="Google Shape;165;p24"/>
          <p:cNvGraphicFramePr/>
          <p:nvPr/>
        </p:nvGraphicFramePr>
        <p:xfrm>
          <a:off x="600663" y="3712930"/>
          <a:ext cx="7942650" cy="1066710"/>
        </p:xfrm>
        <a:graphic>
          <a:graphicData uri="http://schemas.openxmlformats.org/drawingml/2006/table">
            <a:tbl>
              <a:tblPr>
                <a:noFill/>
                <a:tableStyleId>{30DB1E6E-BAFB-4045-8679-1D4DE15F8355}</a:tableStyleId>
              </a:tblPr>
              <a:tblGrid>
                <a:gridCol w="3494600">
                  <a:extLst>
                    <a:ext uri="{9D8B030D-6E8A-4147-A177-3AD203B41FA5}">
                      <a16:colId xmlns:a16="http://schemas.microsoft.com/office/drawing/2014/main" val="20000"/>
                    </a:ext>
                  </a:extLst>
                </a:gridCol>
                <a:gridCol w="2057875">
                  <a:extLst>
                    <a:ext uri="{9D8B030D-6E8A-4147-A177-3AD203B41FA5}">
                      <a16:colId xmlns:a16="http://schemas.microsoft.com/office/drawing/2014/main" val="20001"/>
                    </a:ext>
                  </a:extLst>
                </a:gridCol>
                <a:gridCol w="2390175">
                  <a:extLst>
                    <a:ext uri="{9D8B030D-6E8A-4147-A177-3AD203B41FA5}">
                      <a16:colId xmlns:a16="http://schemas.microsoft.com/office/drawing/2014/main" val="20002"/>
                    </a:ext>
                  </a:extLst>
                </a:gridCol>
              </a:tblGrid>
              <a:tr h="324700">
                <a:tc gridSpan="3">
                  <a:txBody>
                    <a:bodyPr/>
                    <a:lstStyle/>
                    <a:p>
                      <a:pPr marL="0" lvl="0" indent="0" algn="ctr" rtl="0">
                        <a:spcBef>
                          <a:spcPts val="0"/>
                        </a:spcBef>
                        <a:spcAft>
                          <a:spcPts val="0"/>
                        </a:spcAft>
                        <a:buNone/>
                      </a:pPr>
                      <a:r>
                        <a:rPr lang="en" sz="1200" b="1">
                          <a:solidFill>
                            <a:schemeClr val="lt1"/>
                          </a:solidFill>
                          <a:latin typeface="Manrope"/>
                          <a:ea typeface="Manrope"/>
                          <a:cs typeface="Manrope"/>
                          <a:sym typeface="Manrope"/>
                        </a:rPr>
                        <a:t>REFERENCE (Product Potential)</a:t>
                      </a:r>
                      <a:endParaRPr sz="1200" b="1">
                        <a:solidFill>
                          <a:schemeClr val="lt1"/>
                        </a:solidFill>
                        <a:latin typeface="Manrope"/>
                        <a:ea typeface="Manrope"/>
                        <a:cs typeface="Manrope"/>
                        <a:sym typeface="Manrope"/>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D411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11175">
                <a:tc>
                  <a:txBody>
                    <a:bodyPr/>
                    <a:lstStyle/>
                    <a:p>
                      <a:pPr marL="0" lvl="0" indent="0" algn="ctr" rtl="0">
                        <a:spcBef>
                          <a:spcPts val="0"/>
                        </a:spcBef>
                        <a:spcAft>
                          <a:spcPts val="0"/>
                        </a:spcAft>
                        <a:buClr>
                          <a:schemeClr val="dk1"/>
                        </a:buClr>
                        <a:buSzPts val="1100"/>
                        <a:buFont typeface="Arial"/>
                        <a:buNone/>
                      </a:pPr>
                      <a:r>
                        <a:rPr lang="en" sz="1100" b="1">
                          <a:solidFill>
                            <a:schemeClr val="lt1"/>
                          </a:solidFill>
                          <a:latin typeface="Manrope"/>
                          <a:ea typeface="Manrope"/>
                          <a:cs typeface="Manrope"/>
                          <a:sym typeface="Manrope"/>
                        </a:rPr>
                        <a:t>With every </a:t>
                      </a:r>
                      <a:r>
                        <a:rPr lang="en" sz="1100" b="1" i="1">
                          <a:solidFill>
                            <a:schemeClr val="lt1"/>
                          </a:solidFill>
                          <a:latin typeface="Manrope"/>
                          <a:ea typeface="Manrope"/>
                          <a:cs typeface="Manrope"/>
                          <a:sym typeface="Manrope"/>
                        </a:rPr>
                        <a:t>hectare </a:t>
                      </a:r>
                      <a:r>
                        <a:rPr lang="en" sz="1100" b="1">
                          <a:solidFill>
                            <a:schemeClr val="lt1"/>
                          </a:solidFill>
                          <a:latin typeface="Manrope"/>
                          <a:ea typeface="Manrope"/>
                          <a:cs typeface="Manrope"/>
                          <a:sym typeface="Manrope"/>
                        </a:rPr>
                        <a:t>planted of…</a:t>
                      </a:r>
                      <a:endParaRPr sz="1100" b="1">
                        <a:solidFill>
                          <a:schemeClr val="lt1"/>
                        </a:solidFill>
                        <a:latin typeface="Manrope"/>
                        <a:ea typeface="Manrope"/>
                        <a:cs typeface="Manrope"/>
                        <a:sym typeface="Manrope"/>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chemeClr val="lt1"/>
                          </a:solidFill>
                          <a:latin typeface="Manrope"/>
                          <a:ea typeface="Manrope"/>
                          <a:cs typeface="Manrope"/>
                          <a:sym typeface="Manrope"/>
                        </a:rPr>
                        <a:t>Peanut</a:t>
                      </a:r>
                      <a:endParaRPr sz="1100" b="1">
                        <a:solidFill>
                          <a:schemeClr val="lt1"/>
                        </a:solidFill>
                        <a:latin typeface="Manrope"/>
                        <a:ea typeface="Manrope"/>
                        <a:cs typeface="Manrope"/>
                        <a:sym typeface="Manrope"/>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chemeClr val="lt1"/>
                          </a:solidFill>
                          <a:latin typeface="Manrope"/>
                          <a:ea typeface="Manrope"/>
                          <a:cs typeface="Manrope"/>
                          <a:sym typeface="Manrope"/>
                        </a:rPr>
                        <a:t>Sorghum</a:t>
                      </a:r>
                      <a:endParaRPr sz="1100" b="1">
                        <a:solidFill>
                          <a:schemeClr val="lt1"/>
                        </a:solidFill>
                        <a:latin typeface="Manrope"/>
                        <a:ea typeface="Manrope"/>
                        <a:cs typeface="Manrope"/>
                        <a:sym typeface="Manrope"/>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97B30"/>
                    </a:solidFill>
                  </a:tcPr>
                </a:tc>
                <a:extLst>
                  <a:ext uri="{0D108BD9-81ED-4DB2-BD59-A6C34878D82A}">
                    <a16:rowId xmlns:a16="http://schemas.microsoft.com/office/drawing/2014/main" val="10001"/>
                  </a:ext>
                </a:extLst>
              </a:tr>
              <a:tr h="311175">
                <a:tc>
                  <a:txBody>
                    <a:bodyPr/>
                    <a:lstStyle/>
                    <a:p>
                      <a:pPr marL="0" lvl="0" indent="0" algn="ctr" rtl="0">
                        <a:spcBef>
                          <a:spcPts val="0"/>
                        </a:spcBef>
                        <a:spcAft>
                          <a:spcPts val="0"/>
                        </a:spcAft>
                        <a:buNone/>
                      </a:pPr>
                      <a:r>
                        <a:rPr lang="en" sz="1100" b="1">
                          <a:solidFill>
                            <a:srgbClr val="197B30"/>
                          </a:solidFill>
                          <a:latin typeface="Manrope"/>
                          <a:ea typeface="Manrope"/>
                          <a:cs typeface="Manrope"/>
                          <a:sym typeface="Manrope"/>
                        </a:rPr>
                        <a:t>Household food insecurity (rCSI) </a:t>
                      </a:r>
                      <a:r>
                        <a:rPr lang="en" sz="1100" b="1" i="1">
                          <a:solidFill>
                            <a:srgbClr val="197B30"/>
                          </a:solidFill>
                          <a:latin typeface="Manrope"/>
                          <a:ea typeface="Manrope"/>
                          <a:cs typeface="Manrope"/>
                          <a:sym typeface="Manrope"/>
                        </a:rPr>
                        <a:t>decreases </a:t>
                      </a:r>
                      <a:r>
                        <a:rPr lang="en" sz="1100" b="1">
                          <a:solidFill>
                            <a:srgbClr val="197B30"/>
                          </a:solidFill>
                          <a:latin typeface="Manrope"/>
                          <a:ea typeface="Manrope"/>
                          <a:cs typeface="Manrope"/>
                          <a:sym typeface="Manrope"/>
                        </a:rPr>
                        <a:t>by…</a:t>
                      </a:r>
                      <a:endParaRPr sz="1100" b="1">
                        <a:solidFill>
                          <a:srgbClr val="197B30"/>
                        </a:solidFill>
                        <a:latin typeface="Manrope"/>
                        <a:ea typeface="Manrope"/>
                        <a:cs typeface="Manrope"/>
                        <a:sym typeface="Manrope"/>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6.61</a:t>
                      </a:r>
                      <a:endParaRPr sz="1100">
                        <a:solidFill>
                          <a:srgbClr val="434343"/>
                        </a:solidFill>
                        <a:latin typeface="Manrope"/>
                        <a:ea typeface="Manrope"/>
                        <a:cs typeface="Manrope"/>
                        <a:sym typeface="Manrope"/>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30.32</a:t>
                      </a:r>
                      <a:endParaRPr sz="1100">
                        <a:solidFill>
                          <a:srgbClr val="434343"/>
                        </a:solidFill>
                        <a:latin typeface="Manrope"/>
                        <a:ea typeface="Manrope"/>
                        <a:cs typeface="Manrope"/>
                        <a:sym typeface="Manrope"/>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aphicFrame>
        <p:nvGraphicFramePr>
          <p:cNvPr id="166" name="Google Shape;166;p24"/>
          <p:cNvGraphicFramePr/>
          <p:nvPr/>
        </p:nvGraphicFramePr>
        <p:xfrm>
          <a:off x="600675" y="1826333"/>
          <a:ext cx="7942650" cy="1483360"/>
        </p:xfrm>
        <a:graphic>
          <a:graphicData uri="http://schemas.openxmlformats.org/drawingml/2006/table">
            <a:tbl>
              <a:tblPr>
                <a:noFill/>
                <a:tableStyleId>{30DB1E6E-BAFB-4045-8679-1D4DE15F8355}</a:tableStyleId>
              </a:tblPr>
              <a:tblGrid>
                <a:gridCol w="3162275">
                  <a:extLst>
                    <a:ext uri="{9D8B030D-6E8A-4147-A177-3AD203B41FA5}">
                      <a16:colId xmlns:a16="http://schemas.microsoft.com/office/drawing/2014/main" val="20000"/>
                    </a:ext>
                  </a:extLst>
                </a:gridCol>
                <a:gridCol w="2390200">
                  <a:extLst>
                    <a:ext uri="{9D8B030D-6E8A-4147-A177-3AD203B41FA5}">
                      <a16:colId xmlns:a16="http://schemas.microsoft.com/office/drawing/2014/main" val="20001"/>
                    </a:ext>
                  </a:extLst>
                </a:gridCol>
                <a:gridCol w="2390175">
                  <a:extLst>
                    <a:ext uri="{9D8B030D-6E8A-4147-A177-3AD203B41FA5}">
                      <a16:colId xmlns:a16="http://schemas.microsoft.com/office/drawing/2014/main" val="20002"/>
                    </a:ext>
                  </a:extLst>
                </a:gridCol>
              </a:tblGrid>
              <a:tr h="427325">
                <a:tc>
                  <a:txBody>
                    <a:bodyPr/>
                    <a:lstStyle/>
                    <a:p>
                      <a:pPr marL="0" lvl="0" indent="0" algn="ctr" rtl="0">
                        <a:spcBef>
                          <a:spcPts val="0"/>
                        </a:spcBef>
                        <a:spcAft>
                          <a:spcPts val="0"/>
                        </a:spcAft>
                        <a:buNone/>
                      </a:pPr>
                      <a:r>
                        <a:rPr lang="en" sz="1200" b="1">
                          <a:solidFill>
                            <a:srgbClr val="FFFFFF"/>
                          </a:solidFill>
                          <a:latin typeface="Manrope"/>
                          <a:ea typeface="Manrope"/>
                          <a:cs typeface="Manrope"/>
                          <a:sym typeface="Manrope"/>
                        </a:rPr>
                        <a:t>RESULT</a:t>
                      </a:r>
                      <a:endParaRPr sz="12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D4119"/>
                    </a:solidFill>
                  </a:tcPr>
                </a:tc>
                <a:tc>
                  <a:txBody>
                    <a:bodyPr/>
                    <a:lstStyle/>
                    <a:p>
                      <a:pPr marL="0" lvl="0" indent="0" algn="ctr" rtl="0">
                        <a:spcBef>
                          <a:spcPts val="0"/>
                        </a:spcBef>
                        <a:spcAft>
                          <a:spcPts val="0"/>
                        </a:spcAft>
                        <a:buNone/>
                      </a:pPr>
                      <a:r>
                        <a:rPr lang="en" sz="1100" b="1" i="1">
                          <a:solidFill>
                            <a:srgbClr val="FFFFFF"/>
                          </a:solidFill>
                          <a:latin typeface="Manrope"/>
                          <a:ea typeface="Manrope"/>
                          <a:cs typeface="Manrope"/>
                          <a:sym typeface="Manrope"/>
                        </a:rPr>
                        <a:t>On average</a:t>
                      </a:r>
                      <a:r>
                        <a:rPr lang="en" sz="1100" b="1">
                          <a:solidFill>
                            <a:srgbClr val="FFFFFF"/>
                          </a:solidFill>
                          <a:latin typeface="Manrope"/>
                          <a:ea typeface="Manrope"/>
                          <a:cs typeface="Manrope"/>
                          <a:sym typeface="Manrope"/>
                        </a:rPr>
                        <a:t>, myAgro sample clients planted… (hectares)</a:t>
                      </a:r>
                      <a:endParaRPr sz="11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And </a:t>
                      </a:r>
                      <a:r>
                        <a:rPr lang="en" sz="1100" b="1" i="1">
                          <a:solidFill>
                            <a:srgbClr val="FFFFFF"/>
                          </a:solidFill>
                          <a:latin typeface="Manrope"/>
                          <a:ea typeface="Manrope"/>
                          <a:cs typeface="Manrope"/>
                          <a:sym typeface="Manrope"/>
                        </a:rPr>
                        <a:t>decreased</a:t>
                      </a:r>
                      <a:r>
                        <a:rPr lang="en" sz="1100" b="1">
                          <a:solidFill>
                            <a:srgbClr val="FFFFFF"/>
                          </a:solidFill>
                          <a:latin typeface="Manrope"/>
                          <a:ea typeface="Manrope"/>
                          <a:cs typeface="Manrope"/>
                          <a:sym typeface="Manrope"/>
                        </a:rPr>
                        <a:t> household food insecurity (rCSI) by…</a:t>
                      </a:r>
                      <a:endParaRPr sz="11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extLst>
                  <a:ext uri="{0D108BD9-81ED-4DB2-BD59-A6C34878D82A}">
                    <a16:rowId xmlns:a16="http://schemas.microsoft.com/office/drawing/2014/main" val="10000"/>
                  </a:ext>
                </a:extLst>
              </a:tr>
              <a:tr h="272350">
                <a:tc>
                  <a:txBody>
                    <a:bodyPr/>
                    <a:lstStyle/>
                    <a:p>
                      <a:pPr marL="0" lvl="0" indent="0" algn="ctr" rtl="0">
                        <a:spcBef>
                          <a:spcPts val="0"/>
                        </a:spcBef>
                        <a:spcAft>
                          <a:spcPts val="0"/>
                        </a:spcAft>
                        <a:buNone/>
                      </a:pPr>
                      <a:r>
                        <a:rPr lang="en" sz="1100" b="1">
                          <a:solidFill>
                            <a:schemeClr val="lt1"/>
                          </a:solidFill>
                          <a:latin typeface="Manrope"/>
                          <a:ea typeface="Manrope"/>
                          <a:cs typeface="Manrope"/>
                          <a:sym typeface="Manrope"/>
                        </a:rPr>
                        <a:t>Peanut</a:t>
                      </a:r>
                      <a:endParaRPr sz="1100" b="1">
                        <a:solidFill>
                          <a:schemeClr val="lt1"/>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0.151</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1.00</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72350">
                <a:tc>
                  <a:txBody>
                    <a:bodyPr/>
                    <a:lstStyle/>
                    <a:p>
                      <a:pPr marL="0" lvl="0" indent="0" algn="ctr" rtl="0">
                        <a:spcBef>
                          <a:spcPts val="0"/>
                        </a:spcBef>
                        <a:spcAft>
                          <a:spcPts val="0"/>
                        </a:spcAft>
                        <a:buNone/>
                      </a:pPr>
                      <a:r>
                        <a:rPr lang="en" sz="1100" b="1">
                          <a:solidFill>
                            <a:schemeClr val="lt1"/>
                          </a:solidFill>
                          <a:latin typeface="Manrope"/>
                          <a:ea typeface="Manrope"/>
                          <a:cs typeface="Manrope"/>
                          <a:sym typeface="Manrope"/>
                        </a:rPr>
                        <a:t>Sorghum</a:t>
                      </a:r>
                      <a:endParaRPr sz="1100" b="1">
                        <a:solidFill>
                          <a:schemeClr val="lt1"/>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0.125</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3.79</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99150">
                <a:tc>
                  <a:txBody>
                    <a:bodyPr/>
                    <a:lstStyle/>
                    <a:p>
                      <a:pPr marL="0" lvl="0" indent="0" algn="ctr" rtl="0">
                        <a:spcBef>
                          <a:spcPts val="0"/>
                        </a:spcBef>
                        <a:spcAft>
                          <a:spcPts val="0"/>
                        </a:spcAft>
                        <a:buNone/>
                      </a:pPr>
                      <a:r>
                        <a:rPr lang="en" sz="1100" b="1">
                          <a:solidFill>
                            <a:schemeClr val="lt1"/>
                          </a:solidFill>
                          <a:latin typeface="Manrope"/>
                          <a:ea typeface="Manrope"/>
                          <a:cs typeface="Manrope"/>
                          <a:sym typeface="Manrope"/>
                        </a:rPr>
                        <a:t>25kg Fertilizer Gift**</a:t>
                      </a:r>
                      <a:endParaRPr sz="1100" b="1">
                        <a:solidFill>
                          <a:schemeClr val="lt1"/>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0.250</a:t>
                      </a:r>
                      <a:endParaRPr sz="1100">
                        <a:solidFill>
                          <a:srgbClr val="434343"/>
                        </a:solidFill>
                        <a:latin typeface="Manrope"/>
                        <a:ea typeface="Manrope"/>
                        <a:cs typeface="Manrope"/>
                        <a:sym typeface="Manrope"/>
                      </a:endParaRPr>
                    </a:p>
                    <a:p>
                      <a:pPr marL="0" lvl="0" indent="0" algn="ctr" rtl="0">
                        <a:spcBef>
                          <a:spcPts val="0"/>
                        </a:spcBef>
                        <a:spcAft>
                          <a:spcPts val="0"/>
                        </a:spcAft>
                        <a:buNone/>
                      </a:pPr>
                      <a:r>
                        <a:rPr lang="en" sz="900">
                          <a:solidFill>
                            <a:srgbClr val="434343"/>
                          </a:solidFill>
                          <a:latin typeface="Manrope"/>
                          <a:ea typeface="Manrope"/>
                          <a:cs typeface="Manrope"/>
                          <a:sym typeface="Manrope"/>
                        </a:rPr>
                        <a:t>(assumption)</a:t>
                      </a:r>
                      <a:endParaRPr sz="9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rgbClr val="434343"/>
                          </a:solidFill>
                          <a:latin typeface="Manrope"/>
                          <a:ea typeface="Manrope"/>
                          <a:cs typeface="Manrope"/>
                          <a:sym typeface="Manrope"/>
                        </a:rPr>
                        <a:t>4.04</a:t>
                      </a:r>
                      <a:endParaRPr sz="1100" b="1">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5"/>
          <p:cNvSpPr txBox="1"/>
          <p:nvPr/>
        </p:nvSpPr>
        <p:spPr>
          <a:xfrm>
            <a:off x="854202" y="83975"/>
            <a:ext cx="82383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Results | </a:t>
            </a:r>
            <a:r>
              <a:rPr lang="en" sz="3000">
                <a:solidFill>
                  <a:srgbClr val="888888"/>
                </a:solidFill>
                <a:latin typeface="Manrope SemiBold"/>
                <a:ea typeface="Manrope SemiBold"/>
                <a:cs typeface="Manrope SemiBold"/>
                <a:sym typeface="Manrope SemiBold"/>
              </a:rPr>
              <a:t>Full Year Not Conclusive</a:t>
            </a:r>
            <a:endParaRPr sz="2200">
              <a:solidFill>
                <a:srgbClr val="888888"/>
              </a:solidFill>
              <a:latin typeface="Manrope SemiBold"/>
              <a:ea typeface="Manrope SemiBold"/>
              <a:cs typeface="Manrope SemiBold"/>
              <a:sym typeface="Manrope SemiBold"/>
            </a:endParaRPr>
          </a:p>
        </p:txBody>
      </p:sp>
      <p:pic>
        <p:nvPicPr>
          <p:cNvPr id="172" name="Google Shape;172;p25"/>
          <p:cNvPicPr preferRelativeResize="0"/>
          <p:nvPr/>
        </p:nvPicPr>
        <p:blipFill rotWithShape="1">
          <a:blip r:embed="rId3">
            <a:alphaModFix/>
          </a:blip>
          <a:srcRect/>
          <a:stretch/>
        </p:blipFill>
        <p:spPr>
          <a:xfrm>
            <a:off x="103491" y="145580"/>
            <a:ext cx="626264" cy="507837"/>
          </a:xfrm>
          <a:prstGeom prst="rect">
            <a:avLst/>
          </a:prstGeom>
          <a:noFill/>
          <a:ln>
            <a:noFill/>
          </a:ln>
        </p:spPr>
      </p:pic>
      <p:sp>
        <p:nvSpPr>
          <p:cNvPr id="173" name="Google Shape;173;p25"/>
          <p:cNvSpPr txBox="1"/>
          <p:nvPr/>
        </p:nvSpPr>
        <p:spPr>
          <a:xfrm>
            <a:off x="224375" y="777925"/>
            <a:ext cx="8326200" cy="1484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a:solidFill>
                  <a:srgbClr val="197B30"/>
                </a:solidFill>
                <a:latin typeface="Manrope"/>
                <a:ea typeface="Manrope"/>
                <a:cs typeface="Manrope"/>
                <a:sym typeface="Manrope"/>
              </a:rPr>
              <a:t>Year-round impact for the remaining products is inconclusive, but we can say that some </a:t>
            </a:r>
            <a:r>
              <a:rPr lang="en" sz="2000" b="1" i="1">
                <a:solidFill>
                  <a:srgbClr val="197B30"/>
                </a:solidFill>
                <a:latin typeface="Manrope"/>
                <a:ea typeface="Manrope"/>
                <a:cs typeface="Manrope"/>
                <a:sym typeface="Manrope"/>
              </a:rPr>
              <a:t>probably </a:t>
            </a:r>
            <a:r>
              <a:rPr lang="en" sz="2000" b="1">
                <a:solidFill>
                  <a:srgbClr val="197B30"/>
                </a:solidFill>
                <a:latin typeface="Manrope"/>
                <a:ea typeface="Manrope"/>
                <a:cs typeface="Manrope"/>
                <a:sym typeface="Manrope"/>
              </a:rPr>
              <a:t>decrease rCSI</a:t>
            </a:r>
            <a:endParaRPr sz="2000" b="1">
              <a:solidFill>
                <a:srgbClr val="197B30"/>
              </a:solidFill>
              <a:latin typeface="Manrope"/>
              <a:ea typeface="Manrope"/>
              <a:cs typeface="Manrope"/>
              <a:sym typeface="Manrope"/>
            </a:endParaRPr>
          </a:p>
          <a:p>
            <a:pPr marL="0" lvl="0" indent="0" algn="l" rtl="0">
              <a:lnSpc>
                <a:spcPct val="115000"/>
              </a:lnSpc>
              <a:spcBef>
                <a:spcPts val="1000"/>
              </a:spcBef>
              <a:spcAft>
                <a:spcPts val="0"/>
              </a:spcAft>
              <a:buNone/>
            </a:pPr>
            <a:r>
              <a:rPr lang="en">
                <a:solidFill>
                  <a:srgbClr val="434343"/>
                </a:solidFill>
                <a:latin typeface="Manrope"/>
                <a:ea typeface="Manrope"/>
                <a:cs typeface="Manrope"/>
                <a:sym typeface="Manrope"/>
              </a:rPr>
              <a:t>For the following products, the range of possible values in which the true result likely lies (the confidence interval) is </a:t>
            </a:r>
            <a:r>
              <a:rPr lang="en" i="1">
                <a:solidFill>
                  <a:srgbClr val="434343"/>
                </a:solidFill>
                <a:latin typeface="Manrope"/>
                <a:ea typeface="Manrope"/>
                <a:cs typeface="Manrope"/>
                <a:sym typeface="Manrope"/>
              </a:rPr>
              <a:t>mostly negative</a:t>
            </a:r>
            <a:r>
              <a:rPr lang="en">
                <a:solidFill>
                  <a:srgbClr val="434343"/>
                </a:solidFill>
                <a:latin typeface="Manrope"/>
                <a:ea typeface="Manrope"/>
                <a:cs typeface="Manrope"/>
                <a:sym typeface="Manrope"/>
              </a:rPr>
              <a:t>. This means that they </a:t>
            </a:r>
            <a:r>
              <a:rPr lang="en" i="1">
                <a:solidFill>
                  <a:srgbClr val="434343"/>
                </a:solidFill>
                <a:latin typeface="Manrope"/>
                <a:ea typeface="Manrope"/>
                <a:cs typeface="Manrope"/>
                <a:sym typeface="Manrope"/>
              </a:rPr>
              <a:t>probably </a:t>
            </a:r>
            <a:r>
              <a:rPr lang="en">
                <a:solidFill>
                  <a:srgbClr val="434343"/>
                </a:solidFill>
                <a:latin typeface="Manrope"/>
                <a:ea typeface="Manrope"/>
                <a:cs typeface="Manrope"/>
                <a:sym typeface="Manrope"/>
              </a:rPr>
              <a:t>decrease rCSI </a:t>
            </a:r>
            <a:r>
              <a:rPr lang="en" b="1">
                <a:solidFill>
                  <a:srgbClr val="434343"/>
                </a:solidFill>
                <a:latin typeface="Manrope"/>
                <a:ea typeface="Manrope"/>
                <a:cs typeface="Manrope"/>
                <a:sym typeface="Manrope"/>
              </a:rPr>
              <a:t>year-round</a:t>
            </a:r>
            <a:r>
              <a:rPr lang="en">
                <a:solidFill>
                  <a:srgbClr val="434343"/>
                </a:solidFill>
                <a:latin typeface="Manrope"/>
                <a:ea typeface="Manrope"/>
                <a:cs typeface="Manrope"/>
                <a:sym typeface="Manrope"/>
              </a:rPr>
              <a:t>.</a:t>
            </a:r>
            <a:endParaRPr sz="1100" i="1">
              <a:solidFill>
                <a:srgbClr val="434343"/>
              </a:solidFill>
              <a:latin typeface="Manrope"/>
              <a:ea typeface="Manrope"/>
              <a:cs typeface="Manrope"/>
              <a:sym typeface="Manrope"/>
            </a:endParaRPr>
          </a:p>
        </p:txBody>
      </p:sp>
      <p:graphicFrame>
        <p:nvGraphicFramePr>
          <p:cNvPr id="174" name="Google Shape;174;p25"/>
          <p:cNvGraphicFramePr/>
          <p:nvPr/>
        </p:nvGraphicFramePr>
        <p:xfrm>
          <a:off x="600625" y="2328781"/>
          <a:ext cx="7942750" cy="1869440"/>
        </p:xfrm>
        <a:graphic>
          <a:graphicData uri="http://schemas.openxmlformats.org/drawingml/2006/table">
            <a:tbl>
              <a:tblPr>
                <a:noFill/>
                <a:tableStyleId>{30DB1E6E-BAFB-4045-8679-1D4DE15F8355}</a:tableStyleId>
              </a:tblPr>
              <a:tblGrid>
                <a:gridCol w="2859475">
                  <a:extLst>
                    <a:ext uri="{9D8B030D-6E8A-4147-A177-3AD203B41FA5}">
                      <a16:colId xmlns:a16="http://schemas.microsoft.com/office/drawing/2014/main" val="20000"/>
                    </a:ext>
                  </a:extLst>
                </a:gridCol>
                <a:gridCol w="1199775">
                  <a:extLst>
                    <a:ext uri="{9D8B030D-6E8A-4147-A177-3AD203B41FA5}">
                      <a16:colId xmlns:a16="http://schemas.microsoft.com/office/drawing/2014/main" val="20001"/>
                    </a:ext>
                  </a:extLst>
                </a:gridCol>
                <a:gridCol w="1297000">
                  <a:extLst>
                    <a:ext uri="{9D8B030D-6E8A-4147-A177-3AD203B41FA5}">
                      <a16:colId xmlns:a16="http://schemas.microsoft.com/office/drawing/2014/main" val="20002"/>
                    </a:ext>
                  </a:extLst>
                </a:gridCol>
                <a:gridCol w="1364275">
                  <a:extLst>
                    <a:ext uri="{9D8B030D-6E8A-4147-A177-3AD203B41FA5}">
                      <a16:colId xmlns:a16="http://schemas.microsoft.com/office/drawing/2014/main" val="20003"/>
                    </a:ext>
                  </a:extLst>
                </a:gridCol>
                <a:gridCol w="1222225">
                  <a:extLst>
                    <a:ext uri="{9D8B030D-6E8A-4147-A177-3AD203B41FA5}">
                      <a16:colId xmlns:a16="http://schemas.microsoft.com/office/drawing/2014/main" val="20004"/>
                    </a:ext>
                  </a:extLst>
                </a:gridCol>
              </a:tblGrid>
              <a:tr h="330375">
                <a:tc gridSpan="5">
                  <a:txBody>
                    <a:bodyPr/>
                    <a:lstStyle/>
                    <a:p>
                      <a:pPr marL="0" lvl="0" indent="0" algn="ctr" rtl="0">
                        <a:spcBef>
                          <a:spcPts val="0"/>
                        </a:spcBef>
                        <a:spcAft>
                          <a:spcPts val="0"/>
                        </a:spcAft>
                        <a:buNone/>
                      </a:pPr>
                      <a:r>
                        <a:rPr lang="en" sz="1200" b="1">
                          <a:solidFill>
                            <a:srgbClr val="FFFFFF"/>
                          </a:solidFill>
                          <a:latin typeface="Manrope"/>
                          <a:ea typeface="Manrope"/>
                          <a:cs typeface="Manrope"/>
                          <a:sym typeface="Manrope"/>
                        </a:rPr>
                        <a:t>REFERENCE (Product Potential per Hectare)</a:t>
                      </a:r>
                      <a:endParaRPr sz="1200" b="1">
                        <a:solidFill>
                          <a:srgbClr val="FFFFFF"/>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D411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42075">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With every </a:t>
                      </a:r>
                      <a:r>
                        <a:rPr lang="en" sz="1100" b="1" i="1">
                          <a:solidFill>
                            <a:srgbClr val="FFFFFF"/>
                          </a:solidFill>
                          <a:latin typeface="Manrope"/>
                          <a:ea typeface="Manrope"/>
                          <a:cs typeface="Manrope"/>
                          <a:sym typeface="Manrope"/>
                        </a:rPr>
                        <a:t>hectare </a:t>
                      </a:r>
                      <a:r>
                        <a:rPr lang="en" sz="1100" b="1">
                          <a:solidFill>
                            <a:srgbClr val="FFFFFF"/>
                          </a:solidFill>
                          <a:latin typeface="Manrope"/>
                          <a:ea typeface="Manrope"/>
                          <a:cs typeface="Manrope"/>
                          <a:sym typeface="Manrope"/>
                        </a:rPr>
                        <a:t>planted of…</a:t>
                      </a:r>
                      <a:endParaRPr sz="1100" b="1">
                        <a:solidFill>
                          <a:srgbClr val="FFFFFF"/>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Cowpea</a:t>
                      </a:r>
                      <a:endParaRPr sz="1100" b="1">
                        <a:solidFill>
                          <a:srgbClr val="FFFFFF"/>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Okra</a:t>
                      </a:r>
                      <a:r>
                        <a:rPr lang="en" sz="1100" b="1">
                          <a:solidFill>
                            <a:schemeClr val="lt1"/>
                          </a:solidFill>
                          <a:latin typeface="Manrope"/>
                          <a:ea typeface="Manrope"/>
                          <a:cs typeface="Manrope"/>
                          <a:sym typeface="Manrope"/>
                        </a:rPr>
                        <a:t/>
                      </a:r>
                      <a:br>
                        <a:rPr lang="en" sz="1100" b="1">
                          <a:solidFill>
                            <a:schemeClr val="lt1"/>
                          </a:solidFill>
                          <a:latin typeface="Manrope"/>
                          <a:ea typeface="Manrope"/>
                          <a:cs typeface="Manrope"/>
                          <a:sym typeface="Manrope"/>
                        </a:rPr>
                      </a:br>
                      <a:r>
                        <a:rPr lang="en" sz="900" b="1">
                          <a:solidFill>
                            <a:schemeClr val="lt1"/>
                          </a:solidFill>
                          <a:latin typeface="Manrope"/>
                          <a:ea typeface="Manrope"/>
                          <a:cs typeface="Manrope"/>
                          <a:sym typeface="Manrope"/>
                        </a:rPr>
                        <a:t>(significant </a:t>
                      </a:r>
                      <a:r>
                        <a:rPr lang="en" sz="900" b="1" i="1">
                          <a:solidFill>
                            <a:schemeClr val="lt1"/>
                          </a:solidFill>
                          <a:latin typeface="Manrope"/>
                          <a:ea typeface="Manrope"/>
                          <a:cs typeface="Manrope"/>
                          <a:sym typeface="Manrope"/>
                        </a:rPr>
                        <a:t>P</a:t>
                      </a:r>
                      <a:r>
                        <a:rPr lang="en" sz="900" b="1">
                          <a:solidFill>
                            <a:schemeClr val="lt1"/>
                          </a:solidFill>
                          <a:latin typeface="Manrope"/>
                          <a:ea typeface="Manrope"/>
                          <a:cs typeface="Manrope"/>
                          <a:sym typeface="Manrope"/>
                        </a:rPr>
                        <a:t>≤.10)</a:t>
                      </a:r>
                      <a:endParaRPr sz="1100" b="1">
                        <a:solidFill>
                          <a:srgbClr val="FFFFFF"/>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Rice</a:t>
                      </a:r>
                      <a:endParaRPr sz="1100" b="1">
                        <a:solidFill>
                          <a:srgbClr val="FFFFFF"/>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Bissap</a:t>
                      </a:r>
                      <a:endParaRPr sz="1100" b="1">
                        <a:solidFill>
                          <a:srgbClr val="FFFFFF"/>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extLst>
                  <a:ext uri="{0D108BD9-81ED-4DB2-BD59-A6C34878D82A}">
                    <a16:rowId xmlns:a16="http://schemas.microsoft.com/office/drawing/2014/main" val="10001"/>
                  </a:ext>
                </a:extLst>
              </a:tr>
              <a:tr h="469975">
                <a:tc>
                  <a:txBody>
                    <a:bodyPr/>
                    <a:lstStyle/>
                    <a:p>
                      <a:pPr marL="0" lvl="0" indent="0" algn="ctr" rtl="0">
                        <a:spcBef>
                          <a:spcPts val="0"/>
                        </a:spcBef>
                        <a:spcAft>
                          <a:spcPts val="0"/>
                        </a:spcAft>
                        <a:buNone/>
                      </a:pPr>
                      <a:r>
                        <a:rPr lang="en" sz="1100" b="1">
                          <a:solidFill>
                            <a:srgbClr val="197B30"/>
                          </a:solidFill>
                          <a:latin typeface="Manrope"/>
                          <a:ea typeface="Manrope"/>
                          <a:cs typeface="Manrope"/>
                          <a:sym typeface="Manrope"/>
                        </a:rPr>
                        <a:t>Household food insecurity (rCSI) </a:t>
                      </a:r>
                      <a:r>
                        <a:rPr lang="en" sz="1100" b="1" i="1">
                          <a:solidFill>
                            <a:srgbClr val="197B30"/>
                          </a:solidFill>
                          <a:latin typeface="Manrope"/>
                          <a:ea typeface="Manrope"/>
                          <a:cs typeface="Manrope"/>
                          <a:sym typeface="Manrope"/>
                        </a:rPr>
                        <a:t>might </a:t>
                      </a:r>
                      <a:r>
                        <a:rPr lang="en" sz="1100" b="1">
                          <a:solidFill>
                            <a:srgbClr val="197B30"/>
                          </a:solidFill>
                          <a:latin typeface="Manrope"/>
                          <a:ea typeface="Manrope"/>
                          <a:cs typeface="Manrope"/>
                          <a:sym typeface="Manrope"/>
                        </a:rPr>
                        <a:t>change</a:t>
                      </a:r>
                      <a:r>
                        <a:rPr lang="en" sz="1100" b="1" i="1">
                          <a:solidFill>
                            <a:srgbClr val="197B30"/>
                          </a:solidFill>
                          <a:latin typeface="Manrope"/>
                          <a:ea typeface="Manrope"/>
                          <a:cs typeface="Manrope"/>
                          <a:sym typeface="Manrope"/>
                        </a:rPr>
                        <a:t> </a:t>
                      </a:r>
                      <a:r>
                        <a:rPr lang="en" sz="1100" b="1">
                          <a:solidFill>
                            <a:srgbClr val="197B30"/>
                          </a:solidFill>
                          <a:latin typeface="Manrope"/>
                          <a:ea typeface="Manrope"/>
                          <a:cs typeface="Manrope"/>
                          <a:sym typeface="Manrope"/>
                        </a:rPr>
                        <a:t>by…</a:t>
                      </a:r>
                      <a:endParaRPr sz="1100" b="1">
                        <a:solidFill>
                          <a:srgbClr val="197B30"/>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-23.54</a:t>
                      </a:r>
                      <a:endParaRPr sz="1100">
                        <a:solidFill>
                          <a:srgbClr val="434343"/>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-48.77</a:t>
                      </a:r>
                      <a:endParaRPr sz="1100">
                        <a:solidFill>
                          <a:srgbClr val="434343"/>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-31.47</a:t>
                      </a:r>
                      <a:endParaRPr sz="1100">
                        <a:solidFill>
                          <a:srgbClr val="434343"/>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-21.93</a:t>
                      </a:r>
                      <a:endParaRPr sz="1100">
                        <a:solidFill>
                          <a:srgbClr val="434343"/>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69975">
                <a:tc>
                  <a:txBody>
                    <a:bodyPr/>
                    <a:lstStyle/>
                    <a:p>
                      <a:pPr marL="0" lvl="0" indent="0" algn="ctr" rtl="0">
                        <a:spcBef>
                          <a:spcPts val="0"/>
                        </a:spcBef>
                        <a:spcAft>
                          <a:spcPts val="0"/>
                        </a:spcAft>
                        <a:buNone/>
                      </a:pPr>
                      <a:r>
                        <a:rPr lang="en" sz="1100" b="1">
                          <a:solidFill>
                            <a:srgbClr val="197B30"/>
                          </a:solidFill>
                          <a:latin typeface="Manrope"/>
                          <a:ea typeface="Manrope"/>
                          <a:cs typeface="Manrope"/>
                          <a:sym typeface="Manrope"/>
                        </a:rPr>
                        <a:t>Where the true result is </a:t>
                      </a:r>
                      <a:r>
                        <a:rPr lang="en" sz="1100" b="1" i="1">
                          <a:solidFill>
                            <a:srgbClr val="197B30"/>
                          </a:solidFill>
                          <a:latin typeface="Manrope"/>
                          <a:ea typeface="Manrope"/>
                          <a:cs typeface="Manrope"/>
                          <a:sym typeface="Manrope"/>
                        </a:rPr>
                        <a:t>likely </a:t>
                      </a:r>
                      <a:r>
                        <a:rPr lang="en" sz="1100" b="1">
                          <a:solidFill>
                            <a:srgbClr val="197B30"/>
                          </a:solidFill>
                          <a:latin typeface="Manrope"/>
                          <a:ea typeface="Manrope"/>
                          <a:cs typeface="Manrope"/>
                          <a:sym typeface="Manrope"/>
                        </a:rPr>
                        <a:t>between (confidence interval)...</a:t>
                      </a:r>
                      <a:endParaRPr sz="1100" b="1">
                        <a:solidFill>
                          <a:srgbClr val="197B30"/>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[-54.65, 7.57]</a:t>
                      </a:r>
                      <a:endParaRPr sz="1100">
                        <a:solidFill>
                          <a:srgbClr val="434343"/>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[-104.64, 7.09]</a:t>
                      </a:r>
                      <a:endParaRPr sz="1100">
                        <a:solidFill>
                          <a:srgbClr val="434343"/>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[-90.59, 27.66]</a:t>
                      </a:r>
                      <a:endParaRPr sz="1100">
                        <a:solidFill>
                          <a:srgbClr val="434343"/>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dirty="0">
                          <a:solidFill>
                            <a:srgbClr val="434343"/>
                          </a:solidFill>
                          <a:latin typeface="Manrope"/>
                          <a:ea typeface="Manrope"/>
                          <a:cs typeface="Manrope"/>
                          <a:sym typeface="Manrope"/>
                        </a:rPr>
                        <a:t>[-51.38, 7.51]</a:t>
                      </a:r>
                      <a:endParaRPr sz="1100" dirty="0">
                        <a:solidFill>
                          <a:srgbClr val="434343"/>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75" name="Google Shape;175;p25"/>
          <p:cNvSpPr txBox="1"/>
          <p:nvPr/>
        </p:nvSpPr>
        <p:spPr>
          <a:xfrm>
            <a:off x="217250" y="4224528"/>
            <a:ext cx="8326200" cy="771753"/>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1000"/>
              </a:spcBef>
              <a:spcAft>
                <a:spcPts val="0"/>
              </a:spcAft>
              <a:buNone/>
            </a:pPr>
            <a:r>
              <a:rPr lang="en" sz="1200" dirty="0">
                <a:solidFill>
                  <a:srgbClr val="434343"/>
                </a:solidFill>
                <a:latin typeface="Manrope"/>
                <a:ea typeface="Manrope"/>
                <a:cs typeface="Manrope"/>
                <a:sym typeface="Manrope"/>
              </a:rPr>
              <a:t>Products with </a:t>
            </a:r>
            <a:r>
              <a:rPr lang="en" sz="1200" b="1" dirty="0">
                <a:solidFill>
                  <a:srgbClr val="434343"/>
                </a:solidFill>
                <a:latin typeface="Manrope"/>
                <a:ea typeface="Manrope"/>
                <a:cs typeface="Manrope"/>
                <a:sym typeface="Manrope"/>
              </a:rPr>
              <a:t>no impact on food security</a:t>
            </a:r>
            <a:r>
              <a:rPr lang="en" sz="1200" dirty="0">
                <a:solidFill>
                  <a:srgbClr val="434343"/>
                </a:solidFill>
                <a:latin typeface="Manrope"/>
                <a:ea typeface="Manrope"/>
                <a:cs typeface="Manrope"/>
                <a:sym typeface="Manrope"/>
              </a:rPr>
              <a:t> </a:t>
            </a:r>
            <a:r>
              <a:rPr lang="en" sz="1200" b="1" dirty="0">
                <a:solidFill>
                  <a:srgbClr val="434343"/>
                </a:solidFill>
                <a:latin typeface="Manrope"/>
                <a:ea typeface="Manrope"/>
                <a:cs typeface="Manrope"/>
                <a:sym typeface="Manrope"/>
              </a:rPr>
              <a:t>year-round </a:t>
            </a:r>
            <a:r>
              <a:rPr lang="en" sz="1200" dirty="0">
                <a:solidFill>
                  <a:srgbClr val="434343"/>
                </a:solidFill>
                <a:latin typeface="Manrope"/>
                <a:ea typeface="Manrope"/>
                <a:cs typeface="Manrope"/>
                <a:sym typeface="Manrope"/>
              </a:rPr>
              <a:t>(neutral, not significant year-round effects) are </a:t>
            </a:r>
            <a:r>
              <a:rPr lang="en" sz="1200" b="1" dirty="0">
                <a:solidFill>
                  <a:srgbClr val="434343"/>
                </a:solidFill>
                <a:latin typeface="Manrope"/>
                <a:ea typeface="Manrope"/>
                <a:cs typeface="Manrope"/>
                <a:sym typeface="Manrope"/>
              </a:rPr>
              <a:t>maize</a:t>
            </a:r>
            <a:r>
              <a:rPr lang="en" sz="1200" dirty="0">
                <a:solidFill>
                  <a:srgbClr val="434343"/>
                </a:solidFill>
                <a:latin typeface="Manrope"/>
                <a:ea typeface="Manrope"/>
                <a:cs typeface="Manrope"/>
                <a:sym typeface="Manrope"/>
              </a:rPr>
              <a:t> 1.30 [-6.04, 8.65] and </a:t>
            </a:r>
            <a:r>
              <a:rPr lang="en" sz="1200" b="1" dirty="0">
                <a:solidFill>
                  <a:srgbClr val="434343"/>
                </a:solidFill>
                <a:latin typeface="Manrope"/>
                <a:ea typeface="Manrope"/>
                <a:cs typeface="Manrope"/>
                <a:sym typeface="Manrope"/>
              </a:rPr>
              <a:t>sorghum</a:t>
            </a:r>
            <a:r>
              <a:rPr lang="en" sz="1200" dirty="0">
                <a:solidFill>
                  <a:srgbClr val="434343"/>
                </a:solidFill>
                <a:latin typeface="Manrope"/>
                <a:ea typeface="Manrope"/>
                <a:cs typeface="Manrope"/>
                <a:sym typeface="Manrope"/>
              </a:rPr>
              <a:t> -0.88 [-14.18, 12.43]</a:t>
            </a:r>
            <a:endParaRPr sz="1200" dirty="0">
              <a:solidFill>
                <a:srgbClr val="434343"/>
              </a:solidFill>
              <a:latin typeface="Manrope"/>
              <a:ea typeface="Manrope"/>
              <a:cs typeface="Manrope"/>
              <a:sym typeface="Manrop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6"/>
          <p:cNvSpPr txBox="1"/>
          <p:nvPr/>
        </p:nvSpPr>
        <p:spPr>
          <a:xfrm>
            <a:off x="854202" y="83975"/>
            <a:ext cx="82383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Results | </a:t>
            </a:r>
            <a:r>
              <a:rPr lang="en" sz="3000">
                <a:solidFill>
                  <a:srgbClr val="888888"/>
                </a:solidFill>
                <a:latin typeface="Manrope SemiBold"/>
                <a:ea typeface="Manrope SemiBold"/>
                <a:cs typeface="Manrope SemiBold"/>
                <a:sym typeface="Manrope SemiBold"/>
              </a:rPr>
              <a:t>Lean Season Not Conclusive</a:t>
            </a:r>
            <a:endParaRPr sz="2200">
              <a:solidFill>
                <a:srgbClr val="888888"/>
              </a:solidFill>
              <a:latin typeface="Manrope SemiBold"/>
              <a:ea typeface="Manrope SemiBold"/>
              <a:cs typeface="Manrope SemiBold"/>
              <a:sym typeface="Manrope SemiBold"/>
            </a:endParaRPr>
          </a:p>
        </p:txBody>
      </p:sp>
      <p:pic>
        <p:nvPicPr>
          <p:cNvPr id="181" name="Google Shape;181;p26"/>
          <p:cNvPicPr preferRelativeResize="0"/>
          <p:nvPr/>
        </p:nvPicPr>
        <p:blipFill rotWithShape="1">
          <a:blip r:embed="rId3">
            <a:alphaModFix/>
          </a:blip>
          <a:srcRect/>
          <a:stretch/>
        </p:blipFill>
        <p:spPr>
          <a:xfrm>
            <a:off x="103491" y="145580"/>
            <a:ext cx="626264" cy="507837"/>
          </a:xfrm>
          <a:prstGeom prst="rect">
            <a:avLst/>
          </a:prstGeom>
          <a:noFill/>
          <a:ln>
            <a:noFill/>
          </a:ln>
        </p:spPr>
      </p:pic>
      <p:sp>
        <p:nvSpPr>
          <p:cNvPr id="182" name="Google Shape;182;p26"/>
          <p:cNvSpPr txBox="1"/>
          <p:nvPr/>
        </p:nvSpPr>
        <p:spPr>
          <a:xfrm>
            <a:off x="217250" y="4061061"/>
            <a:ext cx="8326200" cy="1030257"/>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1000"/>
              </a:spcBef>
              <a:spcAft>
                <a:spcPts val="0"/>
              </a:spcAft>
              <a:buNone/>
            </a:pPr>
            <a:r>
              <a:rPr lang="en" sz="1200" dirty="0">
                <a:solidFill>
                  <a:srgbClr val="434343"/>
                </a:solidFill>
                <a:latin typeface="Manrope"/>
                <a:ea typeface="Manrope"/>
                <a:cs typeface="Manrope"/>
                <a:sym typeface="Manrope"/>
              </a:rPr>
              <a:t>Products with </a:t>
            </a:r>
            <a:r>
              <a:rPr lang="en" sz="1200" b="1" dirty="0">
                <a:solidFill>
                  <a:srgbClr val="434343"/>
                </a:solidFill>
                <a:latin typeface="Manrope"/>
                <a:ea typeface="Manrope"/>
                <a:cs typeface="Manrope"/>
                <a:sym typeface="Manrope"/>
              </a:rPr>
              <a:t>no impact on food security in the lean season </a:t>
            </a:r>
            <a:r>
              <a:rPr lang="en" sz="1200" dirty="0">
                <a:solidFill>
                  <a:srgbClr val="434343"/>
                </a:solidFill>
                <a:latin typeface="Manrope"/>
                <a:ea typeface="Manrope"/>
                <a:cs typeface="Manrope"/>
                <a:sym typeface="Manrope"/>
              </a:rPr>
              <a:t>(neutral, not significant year-round effects) are </a:t>
            </a:r>
            <a:r>
              <a:rPr lang="en" sz="1200" b="1" dirty="0">
                <a:solidFill>
                  <a:srgbClr val="434343"/>
                </a:solidFill>
                <a:latin typeface="Manrope"/>
                <a:ea typeface="Manrope"/>
                <a:cs typeface="Manrope"/>
                <a:sym typeface="Manrope"/>
              </a:rPr>
              <a:t>cowpea</a:t>
            </a:r>
            <a:r>
              <a:rPr lang="en" sz="1200" dirty="0">
                <a:solidFill>
                  <a:srgbClr val="434343"/>
                </a:solidFill>
                <a:latin typeface="Manrope"/>
                <a:ea typeface="Manrope"/>
                <a:cs typeface="Manrope"/>
                <a:sym typeface="Manrope"/>
              </a:rPr>
              <a:t> -1.20 [-46.20, 43.81], </a:t>
            </a:r>
            <a:r>
              <a:rPr lang="en" sz="1200" b="1" dirty="0">
                <a:solidFill>
                  <a:srgbClr val="434343"/>
                </a:solidFill>
                <a:latin typeface="Manrope"/>
                <a:ea typeface="Manrope"/>
                <a:cs typeface="Manrope"/>
                <a:sym typeface="Manrope"/>
              </a:rPr>
              <a:t>maize</a:t>
            </a:r>
            <a:r>
              <a:rPr lang="en" sz="1200" dirty="0">
                <a:solidFill>
                  <a:srgbClr val="434343"/>
                </a:solidFill>
                <a:latin typeface="Manrope"/>
                <a:ea typeface="Manrope"/>
                <a:cs typeface="Manrope"/>
                <a:sym typeface="Manrope"/>
              </a:rPr>
              <a:t> -0.94 [-25.33, 23.45], okra 8.74 [-80.08, 97.55], and </a:t>
            </a:r>
            <a:r>
              <a:rPr lang="en" sz="1200" b="1" dirty="0">
                <a:solidFill>
                  <a:srgbClr val="434343"/>
                </a:solidFill>
                <a:latin typeface="Manrope"/>
                <a:ea typeface="Manrope"/>
                <a:cs typeface="Manrope"/>
                <a:sym typeface="Manrope"/>
              </a:rPr>
              <a:t>previous season products</a:t>
            </a:r>
            <a:r>
              <a:rPr lang="en" sz="1200" dirty="0">
                <a:solidFill>
                  <a:srgbClr val="434343"/>
                </a:solidFill>
                <a:latin typeface="Manrope"/>
                <a:ea typeface="Manrope"/>
                <a:cs typeface="Manrope"/>
                <a:sym typeface="Manrope"/>
              </a:rPr>
              <a:t> -0.38 [-2.08, 1.32].</a:t>
            </a:r>
            <a:endParaRPr sz="1200" dirty="0">
              <a:solidFill>
                <a:srgbClr val="434343"/>
              </a:solidFill>
              <a:latin typeface="Manrope"/>
              <a:ea typeface="Manrope"/>
              <a:cs typeface="Manrope"/>
              <a:sym typeface="Manrope"/>
            </a:endParaRPr>
          </a:p>
        </p:txBody>
      </p:sp>
      <p:graphicFrame>
        <p:nvGraphicFramePr>
          <p:cNvPr id="183" name="Google Shape;183;p26"/>
          <p:cNvGraphicFramePr/>
          <p:nvPr/>
        </p:nvGraphicFramePr>
        <p:xfrm>
          <a:off x="600625" y="2328781"/>
          <a:ext cx="7942750" cy="1732280"/>
        </p:xfrm>
        <a:graphic>
          <a:graphicData uri="http://schemas.openxmlformats.org/drawingml/2006/table">
            <a:tbl>
              <a:tblPr>
                <a:noFill/>
                <a:tableStyleId>{30DB1E6E-BAFB-4045-8679-1D4DE15F8355}</a:tableStyleId>
              </a:tblPr>
              <a:tblGrid>
                <a:gridCol w="2953900">
                  <a:extLst>
                    <a:ext uri="{9D8B030D-6E8A-4147-A177-3AD203B41FA5}">
                      <a16:colId xmlns:a16="http://schemas.microsoft.com/office/drawing/2014/main" val="20000"/>
                    </a:ext>
                  </a:extLst>
                </a:gridCol>
                <a:gridCol w="1290925">
                  <a:extLst>
                    <a:ext uri="{9D8B030D-6E8A-4147-A177-3AD203B41FA5}">
                      <a16:colId xmlns:a16="http://schemas.microsoft.com/office/drawing/2014/main" val="20001"/>
                    </a:ext>
                  </a:extLst>
                </a:gridCol>
                <a:gridCol w="1260125">
                  <a:extLst>
                    <a:ext uri="{9D8B030D-6E8A-4147-A177-3AD203B41FA5}">
                      <a16:colId xmlns:a16="http://schemas.microsoft.com/office/drawing/2014/main" val="20002"/>
                    </a:ext>
                  </a:extLst>
                </a:gridCol>
                <a:gridCol w="1203950">
                  <a:extLst>
                    <a:ext uri="{9D8B030D-6E8A-4147-A177-3AD203B41FA5}">
                      <a16:colId xmlns:a16="http://schemas.microsoft.com/office/drawing/2014/main" val="20003"/>
                    </a:ext>
                  </a:extLst>
                </a:gridCol>
                <a:gridCol w="1233850">
                  <a:extLst>
                    <a:ext uri="{9D8B030D-6E8A-4147-A177-3AD203B41FA5}">
                      <a16:colId xmlns:a16="http://schemas.microsoft.com/office/drawing/2014/main" val="20004"/>
                    </a:ext>
                  </a:extLst>
                </a:gridCol>
              </a:tblGrid>
              <a:tr h="338875">
                <a:tc gridSpan="5">
                  <a:txBody>
                    <a:bodyPr/>
                    <a:lstStyle/>
                    <a:p>
                      <a:pPr marL="0" lvl="0" indent="0" algn="ctr" rtl="0">
                        <a:spcBef>
                          <a:spcPts val="0"/>
                        </a:spcBef>
                        <a:spcAft>
                          <a:spcPts val="0"/>
                        </a:spcAft>
                        <a:buNone/>
                      </a:pPr>
                      <a:r>
                        <a:rPr lang="en" sz="1200" b="1">
                          <a:solidFill>
                            <a:srgbClr val="FFFFFF"/>
                          </a:solidFill>
                          <a:latin typeface="Manrope"/>
                          <a:ea typeface="Manrope"/>
                          <a:cs typeface="Manrope"/>
                          <a:sym typeface="Manrope"/>
                        </a:rPr>
                        <a:t>REFERENCE (Product Potential per Hectare)</a:t>
                      </a:r>
                      <a:endParaRPr sz="1200" b="1">
                        <a:solidFill>
                          <a:srgbClr val="FFFFFF"/>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D411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550">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With every </a:t>
                      </a:r>
                      <a:r>
                        <a:rPr lang="en" sz="1100" b="1" i="1">
                          <a:solidFill>
                            <a:srgbClr val="FFFFFF"/>
                          </a:solidFill>
                          <a:latin typeface="Manrope"/>
                          <a:ea typeface="Manrope"/>
                          <a:cs typeface="Manrope"/>
                          <a:sym typeface="Manrope"/>
                        </a:rPr>
                        <a:t>hectare </a:t>
                      </a:r>
                      <a:r>
                        <a:rPr lang="en" sz="1100" b="1">
                          <a:solidFill>
                            <a:srgbClr val="FFFFFF"/>
                          </a:solidFill>
                          <a:latin typeface="Manrope"/>
                          <a:ea typeface="Manrope"/>
                          <a:cs typeface="Manrope"/>
                          <a:sym typeface="Manrope"/>
                        </a:rPr>
                        <a:t>planted of…</a:t>
                      </a:r>
                      <a:endParaRPr sz="1100" b="1">
                        <a:solidFill>
                          <a:srgbClr val="FFFFFF"/>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Millet</a:t>
                      </a:r>
                      <a:endParaRPr sz="1100" b="1">
                        <a:solidFill>
                          <a:srgbClr val="FFFFFF"/>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Rice</a:t>
                      </a:r>
                      <a:endParaRPr sz="1100" b="1">
                        <a:solidFill>
                          <a:srgbClr val="FFFFFF"/>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Bissap</a:t>
                      </a:r>
                      <a:endParaRPr sz="1100" b="1">
                        <a:solidFill>
                          <a:srgbClr val="FFFFFF"/>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Watermelon</a:t>
                      </a:r>
                      <a:endParaRPr sz="1100" b="1">
                        <a:solidFill>
                          <a:srgbClr val="FFFFFF"/>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extLst>
                  <a:ext uri="{0D108BD9-81ED-4DB2-BD59-A6C34878D82A}">
                    <a16:rowId xmlns:a16="http://schemas.microsoft.com/office/drawing/2014/main" val="10001"/>
                  </a:ext>
                </a:extLst>
              </a:tr>
              <a:tr h="482075">
                <a:tc>
                  <a:txBody>
                    <a:bodyPr/>
                    <a:lstStyle/>
                    <a:p>
                      <a:pPr marL="0" lvl="0" indent="0" algn="ctr" rtl="0">
                        <a:spcBef>
                          <a:spcPts val="0"/>
                        </a:spcBef>
                        <a:spcAft>
                          <a:spcPts val="0"/>
                        </a:spcAft>
                        <a:buNone/>
                      </a:pPr>
                      <a:r>
                        <a:rPr lang="en" sz="1100" b="1">
                          <a:solidFill>
                            <a:srgbClr val="197B30"/>
                          </a:solidFill>
                          <a:latin typeface="Manrope"/>
                          <a:ea typeface="Manrope"/>
                          <a:cs typeface="Manrope"/>
                          <a:sym typeface="Manrope"/>
                        </a:rPr>
                        <a:t>Household food insecurity (rCSI) </a:t>
                      </a:r>
                      <a:r>
                        <a:rPr lang="en" sz="1100" b="1" i="1">
                          <a:solidFill>
                            <a:srgbClr val="197B30"/>
                          </a:solidFill>
                          <a:latin typeface="Manrope"/>
                          <a:ea typeface="Manrope"/>
                          <a:cs typeface="Manrope"/>
                          <a:sym typeface="Manrope"/>
                        </a:rPr>
                        <a:t>might </a:t>
                      </a:r>
                      <a:r>
                        <a:rPr lang="en" sz="1100" b="1">
                          <a:solidFill>
                            <a:srgbClr val="197B30"/>
                          </a:solidFill>
                          <a:latin typeface="Manrope"/>
                          <a:ea typeface="Manrope"/>
                          <a:cs typeface="Manrope"/>
                          <a:sym typeface="Manrope"/>
                        </a:rPr>
                        <a:t>change</a:t>
                      </a:r>
                      <a:r>
                        <a:rPr lang="en" sz="1100" b="1" i="1">
                          <a:solidFill>
                            <a:srgbClr val="197B30"/>
                          </a:solidFill>
                          <a:latin typeface="Manrope"/>
                          <a:ea typeface="Manrope"/>
                          <a:cs typeface="Manrope"/>
                          <a:sym typeface="Manrope"/>
                        </a:rPr>
                        <a:t> </a:t>
                      </a:r>
                      <a:r>
                        <a:rPr lang="en" sz="1100" b="1">
                          <a:solidFill>
                            <a:srgbClr val="197B30"/>
                          </a:solidFill>
                          <a:latin typeface="Manrope"/>
                          <a:ea typeface="Manrope"/>
                          <a:cs typeface="Manrope"/>
                          <a:sym typeface="Manrope"/>
                        </a:rPr>
                        <a:t>by…</a:t>
                      </a:r>
                      <a:endParaRPr sz="1100" b="1">
                        <a:solidFill>
                          <a:srgbClr val="197B30"/>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-3.76</a:t>
                      </a:r>
                      <a:endParaRPr sz="1100">
                        <a:solidFill>
                          <a:srgbClr val="434343"/>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-58.27</a:t>
                      </a:r>
                      <a:endParaRPr sz="1100">
                        <a:solidFill>
                          <a:srgbClr val="434343"/>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-39.25</a:t>
                      </a:r>
                      <a:endParaRPr sz="1100">
                        <a:solidFill>
                          <a:srgbClr val="434343"/>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-122.21</a:t>
                      </a:r>
                      <a:endParaRPr sz="1100">
                        <a:solidFill>
                          <a:srgbClr val="434343"/>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82075">
                <a:tc>
                  <a:txBody>
                    <a:bodyPr/>
                    <a:lstStyle/>
                    <a:p>
                      <a:pPr marL="0" lvl="0" indent="0" algn="ctr" rtl="0">
                        <a:spcBef>
                          <a:spcPts val="0"/>
                        </a:spcBef>
                        <a:spcAft>
                          <a:spcPts val="0"/>
                        </a:spcAft>
                        <a:buNone/>
                      </a:pPr>
                      <a:r>
                        <a:rPr lang="en" sz="1100" b="1">
                          <a:solidFill>
                            <a:srgbClr val="197B30"/>
                          </a:solidFill>
                          <a:latin typeface="Manrope"/>
                          <a:ea typeface="Manrope"/>
                          <a:cs typeface="Manrope"/>
                          <a:sym typeface="Manrope"/>
                        </a:rPr>
                        <a:t>Where the true result is </a:t>
                      </a:r>
                      <a:r>
                        <a:rPr lang="en" sz="1100" b="1" i="1">
                          <a:solidFill>
                            <a:srgbClr val="197B30"/>
                          </a:solidFill>
                          <a:latin typeface="Manrope"/>
                          <a:ea typeface="Manrope"/>
                          <a:cs typeface="Manrope"/>
                          <a:sym typeface="Manrope"/>
                        </a:rPr>
                        <a:t>likely </a:t>
                      </a:r>
                      <a:r>
                        <a:rPr lang="en" sz="1100" b="1">
                          <a:solidFill>
                            <a:srgbClr val="197B30"/>
                          </a:solidFill>
                          <a:latin typeface="Manrope"/>
                          <a:ea typeface="Manrope"/>
                          <a:cs typeface="Manrope"/>
                          <a:sym typeface="Manrope"/>
                        </a:rPr>
                        <a:t>between (confidence interval)...</a:t>
                      </a:r>
                      <a:endParaRPr sz="1100" b="1">
                        <a:solidFill>
                          <a:srgbClr val="197B30"/>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[--9.58, 2.05]</a:t>
                      </a:r>
                      <a:endParaRPr sz="1100">
                        <a:solidFill>
                          <a:srgbClr val="434343"/>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[-160.93, 44.39]</a:t>
                      </a:r>
                      <a:endParaRPr sz="1100">
                        <a:solidFill>
                          <a:srgbClr val="434343"/>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[-94.41, 15.91]</a:t>
                      </a:r>
                      <a:endParaRPr sz="1100">
                        <a:solidFill>
                          <a:srgbClr val="434343"/>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[-381.50, 137.09]</a:t>
                      </a:r>
                      <a:endParaRPr sz="1100">
                        <a:solidFill>
                          <a:srgbClr val="434343"/>
                        </a:solidFill>
                        <a:latin typeface="Manrope"/>
                        <a:ea typeface="Manrope"/>
                        <a:cs typeface="Manrope"/>
                        <a:sym typeface="Manrope"/>
                      </a:endParaRPr>
                    </a:p>
                  </a:txBody>
                  <a:tcPr marL="88900" marR="88900" marT="88900" marB="889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84" name="Google Shape;184;p26"/>
          <p:cNvSpPr txBox="1"/>
          <p:nvPr/>
        </p:nvSpPr>
        <p:spPr>
          <a:xfrm>
            <a:off x="224375" y="777925"/>
            <a:ext cx="8731800" cy="1484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a:solidFill>
                  <a:srgbClr val="197B30"/>
                </a:solidFill>
                <a:latin typeface="Manrope"/>
                <a:ea typeface="Manrope"/>
                <a:cs typeface="Manrope"/>
                <a:sym typeface="Manrope"/>
              </a:rPr>
              <a:t>Lean season impact for the remaining products is inconclusive, but we can say that some </a:t>
            </a:r>
            <a:r>
              <a:rPr lang="en" sz="2000" b="1" i="1">
                <a:solidFill>
                  <a:srgbClr val="197B30"/>
                </a:solidFill>
                <a:latin typeface="Manrope"/>
                <a:ea typeface="Manrope"/>
                <a:cs typeface="Manrope"/>
                <a:sym typeface="Manrope"/>
              </a:rPr>
              <a:t>probably </a:t>
            </a:r>
            <a:r>
              <a:rPr lang="en" sz="2000" b="1">
                <a:solidFill>
                  <a:srgbClr val="197B30"/>
                </a:solidFill>
                <a:latin typeface="Manrope"/>
                <a:ea typeface="Manrope"/>
                <a:cs typeface="Manrope"/>
                <a:sym typeface="Manrope"/>
              </a:rPr>
              <a:t>decrease rCSI</a:t>
            </a:r>
            <a:endParaRPr sz="2000" b="1">
              <a:solidFill>
                <a:srgbClr val="197B30"/>
              </a:solidFill>
              <a:latin typeface="Manrope"/>
              <a:ea typeface="Manrope"/>
              <a:cs typeface="Manrope"/>
              <a:sym typeface="Manrope"/>
            </a:endParaRPr>
          </a:p>
          <a:p>
            <a:pPr marL="0" lvl="0" indent="0" algn="l" rtl="0">
              <a:lnSpc>
                <a:spcPct val="115000"/>
              </a:lnSpc>
              <a:spcBef>
                <a:spcPts val="1000"/>
              </a:spcBef>
              <a:spcAft>
                <a:spcPts val="0"/>
              </a:spcAft>
              <a:buNone/>
            </a:pPr>
            <a:r>
              <a:rPr lang="en">
                <a:solidFill>
                  <a:srgbClr val="434343"/>
                </a:solidFill>
                <a:latin typeface="Manrope"/>
                <a:ea typeface="Manrope"/>
                <a:cs typeface="Manrope"/>
                <a:sym typeface="Manrope"/>
              </a:rPr>
              <a:t>For the following products, the range of possible values in which the true result likely lies (the confidence interval) is </a:t>
            </a:r>
            <a:r>
              <a:rPr lang="en" i="1">
                <a:solidFill>
                  <a:srgbClr val="434343"/>
                </a:solidFill>
                <a:latin typeface="Manrope"/>
                <a:ea typeface="Manrope"/>
                <a:cs typeface="Manrope"/>
                <a:sym typeface="Manrope"/>
              </a:rPr>
              <a:t>mostly negative</a:t>
            </a:r>
            <a:r>
              <a:rPr lang="en">
                <a:solidFill>
                  <a:srgbClr val="434343"/>
                </a:solidFill>
                <a:latin typeface="Manrope"/>
                <a:ea typeface="Manrope"/>
                <a:cs typeface="Manrope"/>
                <a:sym typeface="Manrope"/>
              </a:rPr>
              <a:t>. This means that they </a:t>
            </a:r>
            <a:r>
              <a:rPr lang="en" i="1">
                <a:solidFill>
                  <a:srgbClr val="434343"/>
                </a:solidFill>
                <a:latin typeface="Manrope"/>
                <a:ea typeface="Manrope"/>
                <a:cs typeface="Manrope"/>
                <a:sym typeface="Manrope"/>
              </a:rPr>
              <a:t>probably </a:t>
            </a:r>
            <a:r>
              <a:rPr lang="en">
                <a:solidFill>
                  <a:srgbClr val="434343"/>
                </a:solidFill>
                <a:latin typeface="Manrope"/>
                <a:ea typeface="Manrope"/>
                <a:cs typeface="Manrope"/>
                <a:sym typeface="Manrope"/>
              </a:rPr>
              <a:t>decrease rCSI in the </a:t>
            </a:r>
            <a:r>
              <a:rPr lang="en" b="1">
                <a:solidFill>
                  <a:srgbClr val="434343"/>
                </a:solidFill>
                <a:latin typeface="Manrope"/>
                <a:ea typeface="Manrope"/>
                <a:cs typeface="Manrope"/>
                <a:sym typeface="Manrope"/>
              </a:rPr>
              <a:t>lean season</a:t>
            </a:r>
            <a:r>
              <a:rPr lang="en">
                <a:solidFill>
                  <a:srgbClr val="434343"/>
                </a:solidFill>
                <a:latin typeface="Manrope"/>
                <a:ea typeface="Manrope"/>
                <a:cs typeface="Manrope"/>
                <a:sym typeface="Manrope"/>
              </a:rPr>
              <a:t>.</a:t>
            </a:r>
            <a:endParaRPr sz="1100" i="1">
              <a:solidFill>
                <a:srgbClr val="434343"/>
              </a:solidFill>
              <a:latin typeface="Manrope"/>
              <a:ea typeface="Manrope"/>
              <a:cs typeface="Manrope"/>
              <a:sym typeface="Manrop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7"/>
          <p:cNvSpPr txBox="1"/>
          <p:nvPr/>
        </p:nvSpPr>
        <p:spPr>
          <a:xfrm>
            <a:off x="854202" y="83975"/>
            <a:ext cx="82383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Results | </a:t>
            </a:r>
            <a:r>
              <a:rPr lang="en" sz="3000">
                <a:solidFill>
                  <a:srgbClr val="888888"/>
                </a:solidFill>
                <a:latin typeface="Manrope SemiBold"/>
                <a:ea typeface="Manrope SemiBold"/>
                <a:cs typeface="Manrope SemiBold"/>
                <a:sym typeface="Manrope SemiBold"/>
              </a:rPr>
              <a:t>rCSI Comparison Over Time</a:t>
            </a:r>
            <a:endParaRPr sz="2200">
              <a:solidFill>
                <a:srgbClr val="888888"/>
              </a:solidFill>
              <a:latin typeface="Manrope SemiBold"/>
              <a:ea typeface="Manrope SemiBold"/>
              <a:cs typeface="Manrope SemiBold"/>
              <a:sym typeface="Manrope SemiBold"/>
            </a:endParaRPr>
          </a:p>
        </p:txBody>
      </p:sp>
      <p:pic>
        <p:nvPicPr>
          <p:cNvPr id="190" name="Google Shape;190;p27"/>
          <p:cNvPicPr preferRelativeResize="0"/>
          <p:nvPr/>
        </p:nvPicPr>
        <p:blipFill rotWithShape="1">
          <a:blip r:embed="rId3">
            <a:alphaModFix/>
          </a:blip>
          <a:srcRect/>
          <a:stretch/>
        </p:blipFill>
        <p:spPr>
          <a:xfrm>
            <a:off x="103491" y="145580"/>
            <a:ext cx="626264" cy="507837"/>
          </a:xfrm>
          <a:prstGeom prst="rect">
            <a:avLst/>
          </a:prstGeom>
          <a:noFill/>
          <a:ln>
            <a:noFill/>
          </a:ln>
        </p:spPr>
      </p:pic>
      <p:sp>
        <p:nvSpPr>
          <p:cNvPr id="191" name="Google Shape;191;p27"/>
          <p:cNvSpPr txBox="1"/>
          <p:nvPr/>
        </p:nvSpPr>
        <p:spPr>
          <a:xfrm>
            <a:off x="224375" y="777925"/>
            <a:ext cx="8066400" cy="3356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a:solidFill>
                  <a:srgbClr val="197B30"/>
                </a:solidFill>
                <a:latin typeface="Manrope"/>
                <a:ea typeface="Manrope"/>
                <a:cs typeface="Manrope"/>
                <a:sym typeface="Manrope"/>
              </a:rPr>
              <a:t>We use weighted averages to visualize treatment and control group rCSI scores across the year</a:t>
            </a:r>
            <a:endParaRPr sz="2000" b="1">
              <a:solidFill>
                <a:srgbClr val="197B30"/>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Char char="●"/>
            </a:pPr>
            <a:r>
              <a:rPr lang="en">
                <a:solidFill>
                  <a:srgbClr val="434343"/>
                </a:solidFill>
                <a:latin typeface="Manrope"/>
                <a:ea typeface="Manrope"/>
                <a:cs typeface="Manrope"/>
                <a:sym typeface="Manrope"/>
              </a:rPr>
              <a:t>This weighting technique, called IPTW*, allows us to look at the separate outcomes of the treatment and control groups while </a:t>
            </a:r>
            <a:r>
              <a:rPr lang="en" b="1">
                <a:solidFill>
                  <a:srgbClr val="434343"/>
                </a:solidFill>
                <a:latin typeface="Manrope"/>
                <a:ea typeface="Manrope"/>
                <a:cs typeface="Manrope"/>
                <a:sym typeface="Manrope"/>
              </a:rPr>
              <a:t>accounting for variables that influence food security </a:t>
            </a:r>
            <a:r>
              <a:rPr lang="en">
                <a:solidFill>
                  <a:srgbClr val="434343"/>
                </a:solidFill>
                <a:latin typeface="Manrope"/>
                <a:ea typeface="Manrope"/>
                <a:cs typeface="Manrope"/>
                <a:sym typeface="Manrope"/>
              </a:rPr>
              <a:t>(other than myAgro)–like poverty level (PPI), farm size, and main crops cultivated.</a:t>
            </a:r>
            <a:endParaRPr>
              <a:solidFill>
                <a:srgbClr val="434343"/>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Char char="●"/>
            </a:pPr>
            <a:r>
              <a:rPr lang="en">
                <a:solidFill>
                  <a:srgbClr val="434343"/>
                </a:solidFill>
                <a:latin typeface="Manrope"/>
                <a:ea typeface="Manrope"/>
                <a:cs typeface="Manrope"/>
                <a:sym typeface="Manrope"/>
              </a:rPr>
              <a:t>By giving more weight to certain observations, IPTW balances these characteristics across groups, </a:t>
            </a:r>
            <a:r>
              <a:rPr lang="en" b="1">
                <a:solidFill>
                  <a:srgbClr val="434343"/>
                </a:solidFill>
                <a:latin typeface="Manrope"/>
                <a:ea typeface="Manrope"/>
                <a:cs typeface="Manrope"/>
                <a:sym typeface="Manrope"/>
              </a:rPr>
              <a:t>getting our estimates closer to what we'd see in a randomized control trial.</a:t>
            </a:r>
            <a:endParaRPr b="1">
              <a:solidFill>
                <a:srgbClr val="434343"/>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Char char="●"/>
            </a:pPr>
            <a:r>
              <a:rPr lang="en">
                <a:solidFill>
                  <a:srgbClr val="434343"/>
                </a:solidFill>
                <a:latin typeface="Manrope"/>
                <a:ea typeface="Manrope"/>
                <a:cs typeface="Manrope"/>
                <a:sym typeface="Manrope"/>
              </a:rPr>
              <a:t>However, it is important to note that </a:t>
            </a:r>
            <a:r>
              <a:rPr lang="en" b="1">
                <a:solidFill>
                  <a:srgbClr val="434343"/>
                </a:solidFill>
                <a:latin typeface="Manrope"/>
                <a:ea typeface="Manrope"/>
                <a:cs typeface="Manrope"/>
                <a:sym typeface="Manrope"/>
              </a:rPr>
              <a:t>the myAgro outcomes are aggregated across treatments </a:t>
            </a:r>
            <a:r>
              <a:rPr lang="en">
                <a:solidFill>
                  <a:srgbClr val="434343"/>
                </a:solidFill>
                <a:latin typeface="Manrope"/>
                <a:ea typeface="Manrope"/>
                <a:cs typeface="Manrope"/>
                <a:sym typeface="Manrope"/>
              </a:rPr>
              <a:t>(package product and size are not accounted for).</a:t>
            </a:r>
            <a:endParaRPr>
              <a:solidFill>
                <a:srgbClr val="434343"/>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Char char="●"/>
            </a:pPr>
            <a:r>
              <a:rPr lang="en" b="1">
                <a:solidFill>
                  <a:schemeClr val="lt1"/>
                </a:solidFill>
                <a:highlight>
                  <a:srgbClr val="197B30"/>
                </a:highlight>
                <a:latin typeface="Manrope"/>
                <a:ea typeface="Manrope"/>
                <a:cs typeface="Manrope"/>
                <a:sym typeface="Manrope"/>
              </a:rPr>
              <a:t>These results don’t tell a story alone; they supplement the main conclusions.</a:t>
            </a:r>
            <a:endParaRPr>
              <a:solidFill>
                <a:srgbClr val="434343"/>
              </a:solidFill>
              <a:latin typeface="Manrope"/>
              <a:ea typeface="Manrope"/>
              <a:cs typeface="Manrope"/>
              <a:sym typeface="Manrope"/>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8"/>
          <p:cNvSpPr txBox="1"/>
          <p:nvPr/>
        </p:nvSpPr>
        <p:spPr>
          <a:xfrm>
            <a:off x="854202" y="83975"/>
            <a:ext cx="82383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Results | </a:t>
            </a:r>
            <a:r>
              <a:rPr lang="en" sz="3000">
                <a:solidFill>
                  <a:srgbClr val="888888"/>
                </a:solidFill>
                <a:latin typeface="Manrope SemiBold"/>
                <a:ea typeface="Manrope SemiBold"/>
                <a:cs typeface="Manrope SemiBold"/>
                <a:sym typeface="Manrope SemiBold"/>
              </a:rPr>
              <a:t>Senegal rCSI Over Time</a:t>
            </a:r>
            <a:endParaRPr sz="2200">
              <a:solidFill>
                <a:srgbClr val="888888"/>
              </a:solidFill>
              <a:latin typeface="Manrope SemiBold"/>
              <a:ea typeface="Manrope SemiBold"/>
              <a:cs typeface="Manrope SemiBold"/>
              <a:sym typeface="Manrope SemiBold"/>
            </a:endParaRPr>
          </a:p>
        </p:txBody>
      </p:sp>
      <p:pic>
        <p:nvPicPr>
          <p:cNvPr id="197" name="Google Shape;197;p28"/>
          <p:cNvPicPr preferRelativeResize="0"/>
          <p:nvPr/>
        </p:nvPicPr>
        <p:blipFill rotWithShape="1">
          <a:blip r:embed="rId3">
            <a:alphaModFix/>
          </a:blip>
          <a:srcRect/>
          <a:stretch/>
        </p:blipFill>
        <p:spPr>
          <a:xfrm>
            <a:off x="103491" y="145580"/>
            <a:ext cx="626264" cy="507837"/>
          </a:xfrm>
          <a:prstGeom prst="rect">
            <a:avLst/>
          </a:prstGeom>
          <a:noFill/>
          <a:ln>
            <a:noFill/>
          </a:ln>
        </p:spPr>
      </p:pic>
      <p:pic>
        <p:nvPicPr>
          <p:cNvPr id="198" name="Google Shape;198;p28"/>
          <p:cNvPicPr preferRelativeResize="0"/>
          <p:nvPr/>
        </p:nvPicPr>
        <p:blipFill rotWithShape="1">
          <a:blip r:embed="rId4">
            <a:alphaModFix/>
          </a:blip>
          <a:srcRect l="2837" r="2563"/>
          <a:stretch/>
        </p:blipFill>
        <p:spPr>
          <a:xfrm>
            <a:off x="1200322" y="684275"/>
            <a:ext cx="6743351" cy="44592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9"/>
          <p:cNvSpPr txBox="1"/>
          <p:nvPr/>
        </p:nvSpPr>
        <p:spPr>
          <a:xfrm>
            <a:off x="854202" y="83975"/>
            <a:ext cx="82383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Results | </a:t>
            </a:r>
            <a:r>
              <a:rPr lang="en" sz="3000">
                <a:solidFill>
                  <a:srgbClr val="888888"/>
                </a:solidFill>
                <a:latin typeface="Manrope SemiBold"/>
                <a:ea typeface="Manrope SemiBold"/>
                <a:cs typeface="Manrope SemiBold"/>
                <a:sym typeface="Manrope SemiBold"/>
              </a:rPr>
              <a:t>Mali rCSI Over Time</a:t>
            </a:r>
            <a:endParaRPr sz="2200">
              <a:solidFill>
                <a:srgbClr val="888888"/>
              </a:solidFill>
              <a:latin typeface="Manrope SemiBold"/>
              <a:ea typeface="Manrope SemiBold"/>
              <a:cs typeface="Manrope SemiBold"/>
              <a:sym typeface="Manrope SemiBold"/>
            </a:endParaRPr>
          </a:p>
        </p:txBody>
      </p:sp>
      <p:pic>
        <p:nvPicPr>
          <p:cNvPr id="204" name="Google Shape;204;p29"/>
          <p:cNvPicPr preferRelativeResize="0"/>
          <p:nvPr/>
        </p:nvPicPr>
        <p:blipFill rotWithShape="1">
          <a:blip r:embed="rId3">
            <a:alphaModFix/>
          </a:blip>
          <a:srcRect/>
          <a:stretch/>
        </p:blipFill>
        <p:spPr>
          <a:xfrm>
            <a:off x="103491" y="145580"/>
            <a:ext cx="626264" cy="507837"/>
          </a:xfrm>
          <a:prstGeom prst="rect">
            <a:avLst/>
          </a:prstGeom>
          <a:noFill/>
          <a:ln>
            <a:noFill/>
          </a:ln>
        </p:spPr>
      </p:pic>
      <p:pic>
        <p:nvPicPr>
          <p:cNvPr id="205" name="Google Shape;205;p29"/>
          <p:cNvPicPr preferRelativeResize="0"/>
          <p:nvPr/>
        </p:nvPicPr>
        <p:blipFill rotWithShape="1">
          <a:blip r:embed="rId4">
            <a:alphaModFix/>
          </a:blip>
          <a:srcRect b="862"/>
          <a:stretch/>
        </p:blipFill>
        <p:spPr>
          <a:xfrm>
            <a:off x="1082250" y="684275"/>
            <a:ext cx="6979501" cy="4459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9"/>
        <p:cNvGrpSpPr/>
        <p:nvPr/>
      </p:nvGrpSpPr>
      <p:grpSpPr>
        <a:xfrm>
          <a:off x="0" y="0"/>
          <a:ext cx="0" cy="0"/>
          <a:chOff x="0" y="0"/>
          <a:chExt cx="0" cy="0"/>
        </a:xfrm>
      </p:grpSpPr>
      <p:sp>
        <p:nvSpPr>
          <p:cNvPr id="210" name="Google Shape;210;p30"/>
          <p:cNvSpPr txBox="1"/>
          <p:nvPr/>
        </p:nvSpPr>
        <p:spPr>
          <a:xfrm>
            <a:off x="1238250" y="3801740"/>
            <a:ext cx="7467600" cy="1015800"/>
          </a:xfrm>
          <a:prstGeom prst="rect">
            <a:avLst/>
          </a:prstGeom>
          <a:noFill/>
          <a:ln>
            <a:noFill/>
          </a:ln>
        </p:spPr>
        <p:txBody>
          <a:bodyPr spcFirstLastPara="1" wrap="square" lIns="45725" tIns="22850" rIns="45725" bIns="22850" anchor="t" anchorCtr="0">
            <a:spAutoFit/>
          </a:bodyPr>
          <a:lstStyle/>
          <a:p>
            <a:pPr marL="0" marR="0" lvl="0" indent="0" algn="r" rtl="0">
              <a:lnSpc>
                <a:spcPct val="100000"/>
              </a:lnSpc>
              <a:spcBef>
                <a:spcPts val="0"/>
              </a:spcBef>
              <a:spcAft>
                <a:spcPts val="0"/>
              </a:spcAft>
              <a:buClr>
                <a:srgbClr val="000000"/>
              </a:buClr>
              <a:buSzPts val="6000"/>
              <a:buFont typeface="Arial"/>
              <a:buNone/>
            </a:pPr>
            <a:r>
              <a:rPr lang="en" sz="4500">
                <a:solidFill>
                  <a:srgbClr val="197B30"/>
                </a:solidFill>
                <a:latin typeface="Lato"/>
                <a:ea typeface="Lato"/>
                <a:cs typeface="Lato"/>
                <a:sym typeface="Lato"/>
              </a:rPr>
              <a:t>Interpretation</a:t>
            </a:r>
            <a:endParaRPr sz="4500" b="0" i="0" u="none" strike="noStrike" cap="none">
              <a:solidFill>
                <a:srgbClr val="197B30"/>
              </a:solidFill>
              <a:latin typeface="Lato"/>
              <a:ea typeface="Lato"/>
              <a:cs typeface="Lato"/>
              <a:sym typeface="Lato"/>
            </a:endParaRPr>
          </a:p>
          <a:p>
            <a:pPr marL="0" marR="0" lvl="0" indent="0" algn="r" rtl="0">
              <a:lnSpc>
                <a:spcPct val="100000"/>
              </a:lnSpc>
              <a:spcBef>
                <a:spcPts val="0"/>
              </a:spcBef>
              <a:spcAft>
                <a:spcPts val="0"/>
              </a:spcAft>
              <a:buClr>
                <a:srgbClr val="000000"/>
              </a:buClr>
              <a:buSzPts val="3600"/>
              <a:buFont typeface="Arial"/>
              <a:buNone/>
            </a:pPr>
            <a:endParaRPr sz="1800" b="0" i="0" u="none" strike="noStrike" cap="none">
              <a:solidFill>
                <a:schemeClr val="dk1"/>
              </a:solidFill>
              <a:latin typeface="Lato"/>
              <a:ea typeface="Lato"/>
              <a:cs typeface="Lato"/>
              <a:sym typeface="Lato"/>
            </a:endParaRPr>
          </a:p>
        </p:txBody>
      </p:sp>
      <p:pic>
        <p:nvPicPr>
          <p:cNvPr id="211" name="Google Shape;211;p30"/>
          <p:cNvPicPr preferRelativeResize="0"/>
          <p:nvPr/>
        </p:nvPicPr>
        <p:blipFill rotWithShape="1">
          <a:blip r:embed="rId3">
            <a:alphaModFix amt="28000"/>
          </a:blip>
          <a:srcRect l="14687" t="11876" r="-1599" b="7931"/>
          <a:stretch/>
        </p:blipFill>
        <p:spPr>
          <a:xfrm>
            <a:off x="0" y="0"/>
            <a:ext cx="5772150" cy="514350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1"/>
          <p:cNvSpPr txBox="1"/>
          <p:nvPr/>
        </p:nvSpPr>
        <p:spPr>
          <a:xfrm>
            <a:off x="854200" y="83975"/>
            <a:ext cx="76725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Interpretation | </a:t>
            </a:r>
            <a:r>
              <a:rPr lang="en" sz="3000">
                <a:solidFill>
                  <a:srgbClr val="888888"/>
                </a:solidFill>
                <a:latin typeface="Manrope SemiBold"/>
                <a:ea typeface="Manrope SemiBold"/>
                <a:cs typeface="Manrope SemiBold"/>
                <a:sym typeface="Manrope SemiBold"/>
              </a:rPr>
              <a:t>High-impact Packages</a:t>
            </a:r>
            <a:endParaRPr sz="2200">
              <a:solidFill>
                <a:srgbClr val="888888"/>
              </a:solidFill>
              <a:latin typeface="Manrope SemiBold"/>
              <a:ea typeface="Manrope SemiBold"/>
              <a:cs typeface="Manrope SemiBold"/>
              <a:sym typeface="Manrope SemiBold"/>
            </a:endParaRPr>
          </a:p>
        </p:txBody>
      </p:sp>
      <p:pic>
        <p:nvPicPr>
          <p:cNvPr id="217" name="Google Shape;217;p31"/>
          <p:cNvPicPr preferRelativeResize="0"/>
          <p:nvPr/>
        </p:nvPicPr>
        <p:blipFill rotWithShape="1">
          <a:blip r:embed="rId3">
            <a:alphaModFix/>
          </a:blip>
          <a:srcRect/>
          <a:stretch/>
        </p:blipFill>
        <p:spPr>
          <a:xfrm>
            <a:off x="103491" y="145580"/>
            <a:ext cx="626264" cy="507837"/>
          </a:xfrm>
          <a:prstGeom prst="rect">
            <a:avLst/>
          </a:prstGeom>
          <a:noFill/>
          <a:ln>
            <a:noFill/>
          </a:ln>
        </p:spPr>
      </p:pic>
      <p:sp>
        <p:nvSpPr>
          <p:cNvPr id="218" name="Google Shape;218;p31"/>
          <p:cNvSpPr txBox="1"/>
          <p:nvPr/>
        </p:nvSpPr>
        <p:spPr>
          <a:xfrm>
            <a:off x="224375" y="777926"/>
            <a:ext cx="7755300" cy="3887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a:solidFill>
                  <a:srgbClr val="197B30"/>
                </a:solidFill>
                <a:latin typeface="Manrope"/>
                <a:ea typeface="Manrope"/>
                <a:cs typeface="Manrope"/>
                <a:sym typeface="Manrope"/>
              </a:rPr>
              <a:t>Peanut packages and the fertilizer gift were the most robust myAgro interventions</a:t>
            </a:r>
            <a:endParaRPr sz="2000" b="1">
              <a:solidFill>
                <a:srgbClr val="197B30"/>
              </a:solidFill>
              <a:latin typeface="Manrope"/>
              <a:ea typeface="Manrope"/>
              <a:cs typeface="Manrope"/>
              <a:sym typeface="Manrope"/>
            </a:endParaRPr>
          </a:p>
          <a:p>
            <a:pPr marL="457200" lvl="0" indent="-304800" algn="l" rtl="0">
              <a:lnSpc>
                <a:spcPct val="115000"/>
              </a:lnSpc>
              <a:spcBef>
                <a:spcPts val="1000"/>
              </a:spcBef>
              <a:spcAft>
                <a:spcPts val="0"/>
              </a:spcAft>
              <a:buClr>
                <a:srgbClr val="434343"/>
              </a:buClr>
              <a:buSzPts val="1200"/>
              <a:buFont typeface="Manrope"/>
              <a:buChar char="●"/>
            </a:pPr>
            <a:r>
              <a:rPr lang="en" sz="1200">
                <a:solidFill>
                  <a:srgbClr val="434343"/>
                </a:solidFill>
                <a:latin typeface="Manrope"/>
                <a:ea typeface="Manrope"/>
                <a:cs typeface="Manrope"/>
                <a:sym typeface="Manrope"/>
              </a:rPr>
              <a:t>They made </a:t>
            </a:r>
            <a:r>
              <a:rPr lang="en" sz="1200" b="1">
                <a:solidFill>
                  <a:srgbClr val="434343"/>
                </a:solidFill>
                <a:latin typeface="Manrope"/>
                <a:ea typeface="Manrope"/>
                <a:cs typeface="Manrope"/>
                <a:sym typeface="Manrope"/>
              </a:rPr>
              <a:t>significant impact year-round </a:t>
            </a:r>
            <a:r>
              <a:rPr lang="en" sz="1200" b="1" i="1">
                <a:solidFill>
                  <a:srgbClr val="434343"/>
                </a:solidFill>
                <a:latin typeface="Manrope"/>
                <a:ea typeface="Manrope"/>
                <a:cs typeface="Manrope"/>
                <a:sym typeface="Manrope"/>
              </a:rPr>
              <a:t>and </a:t>
            </a:r>
            <a:r>
              <a:rPr lang="en" sz="1200" b="1">
                <a:solidFill>
                  <a:srgbClr val="434343"/>
                </a:solidFill>
                <a:latin typeface="Manrope"/>
                <a:ea typeface="Manrope"/>
                <a:cs typeface="Manrope"/>
                <a:sym typeface="Manrope"/>
              </a:rPr>
              <a:t>in the lean season</a:t>
            </a:r>
            <a:r>
              <a:rPr lang="en" sz="1200">
                <a:solidFill>
                  <a:srgbClr val="434343"/>
                </a:solidFill>
                <a:latin typeface="Manrope"/>
                <a:ea typeface="Manrope"/>
                <a:cs typeface="Manrope"/>
                <a:sym typeface="Manrope"/>
              </a:rPr>
              <a:t> on food security</a:t>
            </a:r>
            <a:endParaRPr sz="1200">
              <a:solidFill>
                <a:srgbClr val="434343"/>
              </a:solidFill>
              <a:latin typeface="Manrope"/>
              <a:ea typeface="Manrope"/>
              <a:cs typeface="Manrope"/>
              <a:sym typeface="Manrope"/>
            </a:endParaRPr>
          </a:p>
          <a:p>
            <a:pPr marL="457200" lvl="0" indent="-304800" algn="l" rtl="0">
              <a:lnSpc>
                <a:spcPct val="115000"/>
              </a:lnSpc>
              <a:spcBef>
                <a:spcPts val="1000"/>
              </a:spcBef>
              <a:spcAft>
                <a:spcPts val="0"/>
              </a:spcAft>
              <a:buClr>
                <a:srgbClr val="434343"/>
              </a:buClr>
              <a:buSzPts val="1200"/>
              <a:buFont typeface="Manrope"/>
              <a:buChar char="●"/>
            </a:pPr>
            <a:r>
              <a:rPr lang="en" sz="1200">
                <a:solidFill>
                  <a:srgbClr val="434343"/>
                </a:solidFill>
                <a:latin typeface="Manrope"/>
                <a:ea typeface="Manrope"/>
                <a:cs typeface="Manrope"/>
                <a:sym typeface="Manrope"/>
              </a:rPr>
              <a:t>Average </a:t>
            </a:r>
            <a:r>
              <a:rPr lang="en" sz="1200" b="1">
                <a:solidFill>
                  <a:srgbClr val="434343"/>
                </a:solidFill>
                <a:latin typeface="Manrope"/>
                <a:ea typeface="Manrope"/>
                <a:cs typeface="Manrope"/>
                <a:sym typeface="Manrope"/>
              </a:rPr>
              <a:t>peanut </a:t>
            </a:r>
            <a:r>
              <a:rPr lang="en" sz="1200">
                <a:solidFill>
                  <a:srgbClr val="434343"/>
                </a:solidFill>
                <a:latin typeface="Manrope"/>
                <a:ea typeface="Manrope"/>
                <a:cs typeface="Manrope"/>
                <a:sym typeface="Manrope"/>
              </a:rPr>
              <a:t>impact is </a:t>
            </a:r>
            <a:r>
              <a:rPr lang="en" sz="1200" i="1">
                <a:solidFill>
                  <a:srgbClr val="434343"/>
                </a:solidFill>
                <a:latin typeface="Manrope"/>
                <a:ea typeface="Manrope"/>
                <a:cs typeface="Manrope"/>
                <a:sym typeface="Manrope"/>
              </a:rPr>
              <a:t>higher </a:t>
            </a:r>
            <a:r>
              <a:rPr lang="en" sz="1200">
                <a:solidFill>
                  <a:srgbClr val="434343"/>
                </a:solidFill>
                <a:latin typeface="Manrope"/>
                <a:ea typeface="Manrope"/>
                <a:cs typeface="Manrope"/>
                <a:sym typeface="Manrope"/>
              </a:rPr>
              <a:t>in the lean season by 0.09 (0.91 vs 1.00)</a:t>
            </a:r>
            <a:endParaRPr sz="1200">
              <a:solidFill>
                <a:srgbClr val="434343"/>
              </a:solidFill>
              <a:latin typeface="Manrope"/>
              <a:ea typeface="Manrope"/>
              <a:cs typeface="Manrope"/>
              <a:sym typeface="Manrope"/>
            </a:endParaRPr>
          </a:p>
          <a:p>
            <a:pPr marL="914400" lvl="1" indent="-304800" algn="l" rtl="0">
              <a:lnSpc>
                <a:spcPct val="115000"/>
              </a:lnSpc>
              <a:spcBef>
                <a:spcPts val="1000"/>
              </a:spcBef>
              <a:spcAft>
                <a:spcPts val="0"/>
              </a:spcAft>
              <a:buClr>
                <a:srgbClr val="434343"/>
              </a:buClr>
              <a:buSzPts val="1200"/>
              <a:buFont typeface="Manrope"/>
              <a:buChar char="○"/>
            </a:pPr>
            <a:r>
              <a:rPr lang="en" sz="1200">
                <a:solidFill>
                  <a:srgbClr val="434343"/>
                </a:solidFill>
                <a:latin typeface="Manrope"/>
                <a:ea typeface="Manrope"/>
                <a:cs typeface="Manrope"/>
                <a:sym typeface="Manrope"/>
              </a:rPr>
              <a:t>On average, a myAgro peanut package would </a:t>
            </a:r>
            <a:r>
              <a:rPr lang="en" sz="1200" b="1">
                <a:solidFill>
                  <a:srgbClr val="434343"/>
                </a:solidFill>
                <a:latin typeface="Manrope"/>
                <a:ea typeface="Manrope"/>
                <a:cs typeface="Manrope"/>
                <a:sym typeface="Manrope"/>
              </a:rPr>
              <a:t>decrease rCSI from 6 to 5</a:t>
            </a:r>
            <a:r>
              <a:rPr lang="en" sz="1200">
                <a:solidFill>
                  <a:srgbClr val="434343"/>
                </a:solidFill>
                <a:latin typeface="Manrope"/>
                <a:ea typeface="Manrope"/>
                <a:cs typeface="Manrope"/>
                <a:sym typeface="Manrope"/>
              </a:rPr>
              <a:t> for a (median) control household in the lean season</a:t>
            </a:r>
            <a:endParaRPr sz="1200" b="1">
              <a:solidFill>
                <a:srgbClr val="434343"/>
              </a:solidFill>
              <a:latin typeface="Manrope"/>
              <a:ea typeface="Manrope"/>
              <a:cs typeface="Manrope"/>
              <a:sym typeface="Manrope"/>
            </a:endParaRPr>
          </a:p>
          <a:p>
            <a:pPr marL="457200" lvl="0" indent="-304800" algn="l" rtl="0">
              <a:lnSpc>
                <a:spcPct val="115000"/>
              </a:lnSpc>
              <a:spcBef>
                <a:spcPts val="1000"/>
              </a:spcBef>
              <a:spcAft>
                <a:spcPts val="0"/>
              </a:spcAft>
              <a:buClr>
                <a:srgbClr val="434343"/>
              </a:buClr>
              <a:buSzPts val="1200"/>
              <a:buFont typeface="Manrope"/>
              <a:buChar char="●"/>
            </a:pPr>
            <a:r>
              <a:rPr lang="en" sz="1200">
                <a:solidFill>
                  <a:srgbClr val="434343"/>
                </a:solidFill>
                <a:latin typeface="Manrope"/>
                <a:ea typeface="Manrope"/>
                <a:cs typeface="Manrope"/>
                <a:sym typeface="Manrope"/>
              </a:rPr>
              <a:t>Average </a:t>
            </a:r>
            <a:r>
              <a:rPr lang="en" sz="1200" b="1">
                <a:solidFill>
                  <a:srgbClr val="434343"/>
                </a:solidFill>
                <a:latin typeface="Manrope"/>
                <a:ea typeface="Manrope"/>
                <a:cs typeface="Manrope"/>
                <a:sym typeface="Manrope"/>
              </a:rPr>
              <a:t>fertilizer gift </a:t>
            </a:r>
            <a:r>
              <a:rPr lang="en" sz="1200">
                <a:solidFill>
                  <a:srgbClr val="434343"/>
                </a:solidFill>
                <a:latin typeface="Manrope"/>
                <a:ea typeface="Manrope"/>
                <a:cs typeface="Manrope"/>
                <a:sym typeface="Manrope"/>
              </a:rPr>
              <a:t>impact is </a:t>
            </a:r>
            <a:r>
              <a:rPr lang="en" sz="1200" i="1">
                <a:solidFill>
                  <a:srgbClr val="434343"/>
                </a:solidFill>
                <a:latin typeface="Manrope"/>
                <a:ea typeface="Manrope"/>
                <a:cs typeface="Manrope"/>
                <a:sym typeface="Manrope"/>
              </a:rPr>
              <a:t>lower </a:t>
            </a:r>
            <a:r>
              <a:rPr lang="en" sz="1200">
                <a:solidFill>
                  <a:srgbClr val="434343"/>
                </a:solidFill>
                <a:latin typeface="Manrope"/>
                <a:ea typeface="Manrope"/>
                <a:cs typeface="Manrope"/>
                <a:sym typeface="Manrope"/>
              </a:rPr>
              <a:t>in the lean season, but still relatively large (5.35 vs 4.04)</a:t>
            </a:r>
            <a:endParaRPr sz="1200">
              <a:solidFill>
                <a:srgbClr val="434343"/>
              </a:solidFill>
              <a:latin typeface="Manrope"/>
              <a:ea typeface="Manrope"/>
              <a:cs typeface="Manrope"/>
              <a:sym typeface="Manrope"/>
            </a:endParaRPr>
          </a:p>
          <a:p>
            <a:pPr marL="914400" lvl="1" indent="-304800" algn="l" rtl="0">
              <a:lnSpc>
                <a:spcPct val="115000"/>
              </a:lnSpc>
              <a:spcBef>
                <a:spcPts val="1000"/>
              </a:spcBef>
              <a:spcAft>
                <a:spcPts val="0"/>
              </a:spcAft>
              <a:buClr>
                <a:srgbClr val="434343"/>
              </a:buClr>
              <a:buSzPts val="1200"/>
              <a:buFont typeface="Manrope"/>
              <a:buChar char="○"/>
            </a:pPr>
            <a:r>
              <a:rPr lang="en" sz="1200">
                <a:solidFill>
                  <a:srgbClr val="434343"/>
                </a:solidFill>
                <a:latin typeface="Manrope"/>
                <a:ea typeface="Manrope"/>
                <a:cs typeface="Manrope"/>
                <a:sym typeface="Manrope"/>
              </a:rPr>
              <a:t>On average, the fertilizer gift </a:t>
            </a:r>
            <a:r>
              <a:rPr lang="en" sz="1200" b="1">
                <a:solidFill>
                  <a:srgbClr val="434343"/>
                </a:solidFill>
                <a:latin typeface="Manrope"/>
                <a:ea typeface="Manrope"/>
                <a:cs typeface="Manrope"/>
                <a:sym typeface="Manrope"/>
              </a:rPr>
              <a:t>decreased rCSI from 6 to 1.96</a:t>
            </a:r>
            <a:r>
              <a:rPr lang="en" sz="1200">
                <a:solidFill>
                  <a:srgbClr val="434343"/>
                </a:solidFill>
                <a:latin typeface="Manrope"/>
                <a:ea typeface="Manrope"/>
                <a:cs typeface="Manrope"/>
                <a:sym typeface="Manrope"/>
              </a:rPr>
              <a:t> for a (median) control household in the lean season</a:t>
            </a:r>
            <a:endParaRPr sz="1200">
              <a:solidFill>
                <a:srgbClr val="434343"/>
              </a:solidFill>
              <a:latin typeface="Manrope"/>
              <a:ea typeface="Manrope"/>
              <a:cs typeface="Manrope"/>
              <a:sym typeface="Manrope"/>
            </a:endParaRPr>
          </a:p>
          <a:p>
            <a:pPr marL="457200" lvl="0" indent="-304800" algn="l" rtl="0">
              <a:lnSpc>
                <a:spcPct val="115000"/>
              </a:lnSpc>
              <a:spcBef>
                <a:spcPts val="1000"/>
              </a:spcBef>
              <a:spcAft>
                <a:spcPts val="0"/>
              </a:spcAft>
              <a:buClr>
                <a:srgbClr val="434343"/>
              </a:buClr>
              <a:buSzPts val="1200"/>
              <a:buFont typeface="Manrope"/>
              <a:buChar char="●"/>
            </a:pPr>
            <a:r>
              <a:rPr lang="en" sz="1200" b="1">
                <a:solidFill>
                  <a:srgbClr val="434343"/>
                </a:solidFill>
                <a:latin typeface="Manrope"/>
                <a:ea typeface="Manrope"/>
                <a:cs typeface="Manrope"/>
                <a:sym typeface="Manrope"/>
              </a:rPr>
              <a:t>Fertilizer impact is notably large </a:t>
            </a:r>
            <a:r>
              <a:rPr lang="en" sz="1200">
                <a:solidFill>
                  <a:srgbClr val="434343"/>
                </a:solidFill>
                <a:latin typeface="Manrope"/>
                <a:ea typeface="Manrope"/>
                <a:cs typeface="Manrope"/>
                <a:sym typeface="Manrope"/>
              </a:rPr>
              <a:t>compared to the other packages</a:t>
            </a:r>
            <a:endParaRPr sz="1200">
              <a:solidFill>
                <a:srgbClr val="434343"/>
              </a:solidFill>
              <a:latin typeface="Manrope"/>
              <a:ea typeface="Manrope"/>
              <a:cs typeface="Manrope"/>
              <a:sym typeface="Manrope"/>
            </a:endParaRPr>
          </a:p>
          <a:p>
            <a:pPr marL="914400" lvl="1" indent="-304800" algn="l" rtl="0">
              <a:lnSpc>
                <a:spcPct val="115000"/>
              </a:lnSpc>
              <a:spcBef>
                <a:spcPts val="1000"/>
              </a:spcBef>
              <a:spcAft>
                <a:spcPts val="0"/>
              </a:spcAft>
              <a:buClr>
                <a:srgbClr val="434343"/>
              </a:buClr>
              <a:buSzPts val="1200"/>
              <a:buFont typeface="Manrope"/>
              <a:buChar char="○"/>
            </a:pPr>
            <a:r>
              <a:rPr lang="en" sz="1200">
                <a:solidFill>
                  <a:srgbClr val="434343"/>
                </a:solidFill>
                <a:latin typeface="Manrope"/>
                <a:ea typeface="Manrope"/>
                <a:cs typeface="Manrope"/>
                <a:sym typeface="Manrope"/>
              </a:rPr>
              <a:t>This is unsurprising, as it likely boosted overall productivity with no additional cost to Mali households</a:t>
            </a:r>
            <a:endParaRPr sz="1200">
              <a:solidFill>
                <a:srgbClr val="434343"/>
              </a:solidFill>
              <a:latin typeface="Manrope"/>
              <a:ea typeface="Manrope"/>
              <a:cs typeface="Manrope"/>
              <a:sym typeface="Manrope"/>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2"/>
          <p:cNvSpPr txBox="1"/>
          <p:nvPr/>
        </p:nvSpPr>
        <p:spPr>
          <a:xfrm>
            <a:off x="854200" y="83975"/>
            <a:ext cx="86160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Interpretation | </a:t>
            </a:r>
            <a:r>
              <a:rPr lang="en" sz="3000">
                <a:solidFill>
                  <a:srgbClr val="888888"/>
                </a:solidFill>
                <a:latin typeface="Manrope SemiBold"/>
                <a:ea typeface="Manrope SemiBold"/>
                <a:cs typeface="Manrope SemiBold"/>
                <a:sym typeface="Manrope SemiBold"/>
              </a:rPr>
              <a:t>Lean Season Sorghum</a:t>
            </a:r>
            <a:endParaRPr sz="2200">
              <a:solidFill>
                <a:srgbClr val="888888"/>
              </a:solidFill>
              <a:latin typeface="Manrope SemiBold"/>
              <a:ea typeface="Manrope SemiBold"/>
              <a:cs typeface="Manrope SemiBold"/>
              <a:sym typeface="Manrope SemiBold"/>
            </a:endParaRPr>
          </a:p>
        </p:txBody>
      </p:sp>
      <p:pic>
        <p:nvPicPr>
          <p:cNvPr id="224" name="Google Shape;224;p32"/>
          <p:cNvPicPr preferRelativeResize="0"/>
          <p:nvPr/>
        </p:nvPicPr>
        <p:blipFill rotWithShape="1">
          <a:blip r:embed="rId3">
            <a:alphaModFix/>
          </a:blip>
          <a:srcRect/>
          <a:stretch/>
        </p:blipFill>
        <p:spPr>
          <a:xfrm>
            <a:off x="103491" y="145580"/>
            <a:ext cx="626264" cy="507837"/>
          </a:xfrm>
          <a:prstGeom prst="rect">
            <a:avLst/>
          </a:prstGeom>
          <a:noFill/>
          <a:ln>
            <a:noFill/>
          </a:ln>
        </p:spPr>
      </p:pic>
      <p:sp>
        <p:nvSpPr>
          <p:cNvPr id="225" name="Google Shape;225;p32"/>
          <p:cNvSpPr txBox="1"/>
          <p:nvPr/>
        </p:nvSpPr>
        <p:spPr>
          <a:xfrm>
            <a:off x="224375" y="777926"/>
            <a:ext cx="7755300" cy="4139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a:solidFill>
                  <a:srgbClr val="197B30"/>
                </a:solidFill>
                <a:latin typeface="Manrope"/>
                <a:ea typeface="Manrope"/>
                <a:cs typeface="Manrope"/>
                <a:sym typeface="Manrope"/>
              </a:rPr>
              <a:t>Sorghum packages improve household food security primarily when they need it most–during the lean season</a:t>
            </a:r>
            <a:endParaRPr sz="2000" b="1">
              <a:solidFill>
                <a:srgbClr val="197B30"/>
              </a:solidFill>
              <a:latin typeface="Manrope"/>
              <a:ea typeface="Manrope"/>
              <a:cs typeface="Manrope"/>
              <a:sym typeface="Manrope"/>
            </a:endParaRPr>
          </a:p>
          <a:p>
            <a:pPr marL="457200" lvl="0" indent="-304800" algn="l" rtl="0">
              <a:lnSpc>
                <a:spcPct val="115000"/>
              </a:lnSpc>
              <a:spcBef>
                <a:spcPts val="1000"/>
              </a:spcBef>
              <a:spcAft>
                <a:spcPts val="0"/>
              </a:spcAft>
              <a:buClr>
                <a:srgbClr val="434343"/>
              </a:buClr>
              <a:buSzPts val="1200"/>
              <a:buFont typeface="Manrope"/>
              <a:buChar char="●"/>
            </a:pPr>
            <a:r>
              <a:rPr lang="en" sz="1200">
                <a:solidFill>
                  <a:srgbClr val="434343"/>
                </a:solidFill>
                <a:latin typeface="Manrope"/>
                <a:ea typeface="Manrope"/>
                <a:cs typeface="Manrope"/>
                <a:sym typeface="Manrope"/>
              </a:rPr>
              <a:t>Sorghum plays a specific role as a “hunger crop”, with </a:t>
            </a:r>
            <a:r>
              <a:rPr lang="en" sz="1200" b="1">
                <a:solidFill>
                  <a:srgbClr val="434343"/>
                </a:solidFill>
                <a:latin typeface="Manrope"/>
                <a:ea typeface="Manrope"/>
                <a:cs typeface="Manrope"/>
                <a:sym typeface="Manrope"/>
              </a:rPr>
              <a:t>no impact year-round</a:t>
            </a:r>
            <a:r>
              <a:rPr lang="en" sz="1200">
                <a:solidFill>
                  <a:srgbClr val="434343"/>
                </a:solidFill>
                <a:latin typeface="Manrope"/>
                <a:ea typeface="Manrope"/>
                <a:cs typeface="Manrope"/>
                <a:sym typeface="Manrope"/>
              </a:rPr>
              <a:t> (confidence interval centered close to 0), yet emerging with </a:t>
            </a:r>
            <a:r>
              <a:rPr lang="en" sz="1200" b="1">
                <a:solidFill>
                  <a:srgbClr val="434343"/>
                </a:solidFill>
                <a:latin typeface="Manrope"/>
                <a:ea typeface="Manrope"/>
                <a:cs typeface="Manrope"/>
                <a:sym typeface="Manrope"/>
              </a:rPr>
              <a:t>high impact in the lean season</a:t>
            </a:r>
            <a:r>
              <a:rPr lang="en" sz="1200">
                <a:solidFill>
                  <a:srgbClr val="434343"/>
                </a:solidFill>
                <a:latin typeface="Manrope"/>
                <a:ea typeface="Manrope"/>
                <a:cs typeface="Manrope"/>
                <a:sym typeface="Manrope"/>
              </a:rPr>
              <a:t> (decreasing rCSI by 3.79 on average; 30.32 per hectare).</a:t>
            </a:r>
            <a:endParaRPr sz="1200">
              <a:solidFill>
                <a:srgbClr val="434343"/>
              </a:solidFill>
              <a:latin typeface="Manrope"/>
              <a:ea typeface="Manrope"/>
              <a:cs typeface="Manrope"/>
              <a:sym typeface="Manrope"/>
            </a:endParaRPr>
          </a:p>
          <a:p>
            <a:pPr marL="914400" lvl="1" indent="-304800" algn="l" rtl="0">
              <a:lnSpc>
                <a:spcPct val="115000"/>
              </a:lnSpc>
              <a:spcBef>
                <a:spcPts val="1000"/>
              </a:spcBef>
              <a:spcAft>
                <a:spcPts val="0"/>
              </a:spcAft>
              <a:buClr>
                <a:srgbClr val="434343"/>
              </a:buClr>
              <a:buSzPts val="1200"/>
              <a:buFont typeface="Manrope"/>
              <a:buChar char="○"/>
            </a:pPr>
            <a:r>
              <a:rPr lang="en" sz="1200">
                <a:solidFill>
                  <a:srgbClr val="434343"/>
                </a:solidFill>
                <a:latin typeface="Manrope"/>
                <a:ea typeface="Manrope"/>
                <a:cs typeface="Manrope"/>
                <a:sym typeface="Manrope"/>
              </a:rPr>
              <a:t>On average, a myAgro sorghum package would </a:t>
            </a:r>
            <a:r>
              <a:rPr lang="en" sz="1200" b="1">
                <a:solidFill>
                  <a:srgbClr val="434343"/>
                </a:solidFill>
                <a:latin typeface="Manrope"/>
                <a:ea typeface="Manrope"/>
                <a:cs typeface="Manrope"/>
                <a:sym typeface="Manrope"/>
              </a:rPr>
              <a:t>decrease rCSI from 6 to 2.21</a:t>
            </a:r>
            <a:r>
              <a:rPr lang="en" sz="1200">
                <a:solidFill>
                  <a:srgbClr val="434343"/>
                </a:solidFill>
                <a:latin typeface="Manrope"/>
                <a:ea typeface="Manrope"/>
                <a:cs typeface="Manrope"/>
                <a:sym typeface="Manrope"/>
              </a:rPr>
              <a:t> for a (median) control household in the lean season.</a:t>
            </a:r>
            <a:endParaRPr sz="1200">
              <a:solidFill>
                <a:srgbClr val="434343"/>
              </a:solidFill>
              <a:latin typeface="Manrope"/>
              <a:ea typeface="Manrope"/>
              <a:cs typeface="Manrope"/>
              <a:sym typeface="Manrope"/>
            </a:endParaRPr>
          </a:p>
          <a:p>
            <a:pPr marL="457200" lvl="0" indent="-304800" algn="l" rtl="0">
              <a:lnSpc>
                <a:spcPct val="115000"/>
              </a:lnSpc>
              <a:spcBef>
                <a:spcPts val="1000"/>
              </a:spcBef>
              <a:spcAft>
                <a:spcPts val="0"/>
              </a:spcAft>
              <a:buClr>
                <a:srgbClr val="434343"/>
              </a:buClr>
              <a:buSzPts val="1200"/>
              <a:buFont typeface="Manrope"/>
              <a:buChar char="●"/>
            </a:pPr>
            <a:r>
              <a:rPr lang="en" sz="1200">
                <a:solidFill>
                  <a:srgbClr val="434343"/>
                </a:solidFill>
                <a:latin typeface="Manrope"/>
                <a:ea typeface="Manrope"/>
                <a:cs typeface="Manrope"/>
                <a:sym typeface="Manrope"/>
              </a:rPr>
              <a:t>The difference in results is conceptually consistent with seasonal vulnerability. Outside the lean season (e.g., post-harvest), baseline food security is already higher, so the additional impact of the sorghum package is smaller and harder to detect. Over the entire year, the average effect is diluted by periods when food security is naturally higher.</a:t>
            </a:r>
            <a:endParaRPr sz="1200">
              <a:solidFill>
                <a:srgbClr val="434343"/>
              </a:solidFill>
              <a:latin typeface="Manrope"/>
              <a:ea typeface="Manrope"/>
              <a:cs typeface="Manrope"/>
              <a:sym typeface="Manrope"/>
            </a:endParaRPr>
          </a:p>
          <a:p>
            <a:pPr marL="457200" lvl="0" indent="-304800" algn="l" rtl="0">
              <a:lnSpc>
                <a:spcPct val="115000"/>
              </a:lnSpc>
              <a:spcBef>
                <a:spcPts val="1000"/>
              </a:spcBef>
              <a:spcAft>
                <a:spcPts val="0"/>
              </a:spcAft>
              <a:buClr>
                <a:srgbClr val="434343"/>
              </a:buClr>
              <a:buSzPts val="1200"/>
              <a:buFont typeface="Manrope"/>
              <a:buChar char="●"/>
            </a:pPr>
            <a:r>
              <a:rPr lang="en" sz="1200">
                <a:solidFill>
                  <a:srgbClr val="434343"/>
                </a:solidFill>
                <a:latin typeface="Manrope"/>
                <a:ea typeface="Manrope"/>
                <a:cs typeface="Manrope"/>
                <a:sym typeface="Manrope"/>
              </a:rPr>
              <a:t>Even though sorghum is likely </a:t>
            </a:r>
            <a:r>
              <a:rPr lang="en" sz="1200" b="1">
                <a:solidFill>
                  <a:srgbClr val="434343"/>
                </a:solidFill>
                <a:latin typeface="Manrope"/>
                <a:ea typeface="Manrope"/>
                <a:cs typeface="Manrope"/>
                <a:sym typeface="Manrope"/>
              </a:rPr>
              <a:t>considered secondary for human consumption</a:t>
            </a:r>
            <a:r>
              <a:rPr lang="en" sz="1200">
                <a:solidFill>
                  <a:srgbClr val="434343"/>
                </a:solidFill>
                <a:latin typeface="Manrope"/>
                <a:ea typeface="Manrope"/>
                <a:cs typeface="Manrope"/>
                <a:sym typeface="Manrope"/>
              </a:rPr>
              <a:t> in Mali </a:t>
            </a:r>
            <a:r>
              <a:rPr lang="en" sz="1200" u="sng">
                <a:solidFill>
                  <a:schemeClr val="hlink"/>
                </a:solidFill>
                <a:latin typeface="Manrope"/>
                <a:ea typeface="Manrope"/>
                <a:cs typeface="Manrope"/>
                <a:sym typeface="Manrope"/>
                <a:hlinkClick r:id="rId4"/>
              </a:rPr>
              <a:t>as it is in Senegal</a:t>
            </a:r>
            <a:r>
              <a:rPr lang="en" sz="1200">
                <a:solidFill>
                  <a:srgbClr val="434343"/>
                </a:solidFill>
                <a:latin typeface="Manrope"/>
                <a:ea typeface="Manrope"/>
                <a:cs typeface="Manrope"/>
                <a:sym typeface="Manrope"/>
              </a:rPr>
              <a:t>, its properties (good storage, drought tolerance) may make it especially valuable when households are most vulnerable. Farmers might specifically </a:t>
            </a:r>
            <a:r>
              <a:rPr lang="en" sz="1200" b="1">
                <a:solidFill>
                  <a:srgbClr val="434343"/>
                </a:solidFill>
                <a:latin typeface="Manrope"/>
                <a:ea typeface="Manrope"/>
                <a:cs typeface="Manrope"/>
                <a:sym typeface="Manrope"/>
              </a:rPr>
              <a:t>reserve sorghum for lean season</a:t>
            </a:r>
            <a:r>
              <a:rPr lang="en" sz="1200">
                <a:solidFill>
                  <a:srgbClr val="434343"/>
                </a:solidFill>
                <a:latin typeface="Manrope"/>
                <a:ea typeface="Manrope"/>
                <a:cs typeface="Manrope"/>
                <a:sym typeface="Manrope"/>
              </a:rPr>
              <a:t> consumption–whether </a:t>
            </a:r>
            <a:r>
              <a:rPr lang="en" sz="1200" b="1">
                <a:solidFill>
                  <a:srgbClr val="434343"/>
                </a:solidFill>
                <a:latin typeface="Manrope"/>
                <a:ea typeface="Manrope"/>
                <a:cs typeface="Manrope"/>
                <a:sym typeface="Manrope"/>
              </a:rPr>
              <a:t>due to storage longevity, preference, or both.</a:t>
            </a:r>
            <a:endParaRPr sz="1200" b="1">
              <a:solidFill>
                <a:srgbClr val="434343"/>
              </a:solidFill>
              <a:latin typeface="Manrope"/>
              <a:ea typeface="Manrope"/>
              <a:cs typeface="Manrope"/>
              <a:sym typeface="Manrope"/>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3"/>
          <p:cNvSpPr txBox="1"/>
          <p:nvPr/>
        </p:nvSpPr>
        <p:spPr>
          <a:xfrm>
            <a:off x="224375" y="777926"/>
            <a:ext cx="7755300" cy="4311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a:solidFill>
                  <a:srgbClr val="197B30"/>
                </a:solidFill>
                <a:latin typeface="Manrope"/>
                <a:ea typeface="Manrope"/>
                <a:cs typeface="Manrope"/>
                <a:sym typeface="Manrope"/>
              </a:rPr>
              <a:t>Millet, watermelon, and past myAgro experience had significant impact year-round, but not in the lean season</a:t>
            </a:r>
            <a:endParaRPr sz="2000" b="1">
              <a:solidFill>
                <a:srgbClr val="197B30"/>
              </a:solidFill>
              <a:latin typeface="Manrope"/>
              <a:ea typeface="Manrope"/>
              <a:cs typeface="Manrope"/>
              <a:sym typeface="Manrope"/>
            </a:endParaRPr>
          </a:p>
          <a:p>
            <a:pPr marL="457200" lvl="0" indent="-304800" algn="l" rtl="0">
              <a:lnSpc>
                <a:spcPct val="115000"/>
              </a:lnSpc>
              <a:spcBef>
                <a:spcPts val="1000"/>
              </a:spcBef>
              <a:spcAft>
                <a:spcPts val="0"/>
              </a:spcAft>
              <a:buClr>
                <a:srgbClr val="434343"/>
              </a:buClr>
              <a:buSzPts val="1200"/>
              <a:buFont typeface="Manrope"/>
              <a:buChar char="●"/>
            </a:pPr>
            <a:r>
              <a:rPr lang="en" sz="1200" b="1">
                <a:solidFill>
                  <a:srgbClr val="434343"/>
                </a:solidFill>
                <a:latin typeface="Manrope"/>
                <a:ea typeface="Manrope"/>
                <a:cs typeface="Manrope"/>
                <a:sym typeface="Manrope"/>
              </a:rPr>
              <a:t>Millet and watermelon</a:t>
            </a:r>
            <a:r>
              <a:rPr lang="en" sz="1200">
                <a:solidFill>
                  <a:srgbClr val="434343"/>
                </a:solidFill>
                <a:latin typeface="Manrope"/>
                <a:ea typeface="Manrope"/>
                <a:cs typeface="Manrope"/>
                <a:sym typeface="Manrope"/>
              </a:rPr>
              <a:t> </a:t>
            </a:r>
            <a:r>
              <a:rPr lang="en" sz="1200" b="1">
                <a:solidFill>
                  <a:srgbClr val="434343"/>
                </a:solidFill>
                <a:latin typeface="Manrope"/>
                <a:ea typeface="Manrope"/>
                <a:cs typeface="Manrope"/>
                <a:sym typeface="Manrope"/>
              </a:rPr>
              <a:t>impact lost significance in the lean season</a:t>
            </a:r>
            <a:r>
              <a:rPr lang="en" sz="1200">
                <a:solidFill>
                  <a:srgbClr val="434343"/>
                </a:solidFill>
                <a:latin typeface="Manrope"/>
                <a:ea typeface="Manrope"/>
                <a:cs typeface="Manrope"/>
                <a:sym typeface="Manrope"/>
              </a:rPr>
              <a:t>, which could suggest they are consumed/sold earlier in the year</a:t>
            </a:r>
            <a:endParaRPr sz="1200">
              <a:solidFill>
                <a:srgbClr val="434343"/>
              </a:solidFill>
              <a:latin typeface="Manrope"/>
              <a:ea typeface="Manrope"/>
              <a:cs typeface="Manrope"/>
              <a:sym typeface="Manrope"/>
            </a:endParaRPr>
          </a:p>
          <a:p>
            <a:pPr marL="914400" lvl="1" indent="-304800" algn="l" rtl="0">
              <a:lnSpc>
                <a:spcPct val="115000"/>
              </a:lnSpc>
              <a:spcBef>
                <a:spcPts val="1000"/>
              </a:spcBef>
              <a:spcAft>
                <a:spcPts val="0"/>
              </a:spcAft>
              <a:buClr>
                <a:srgbClr val="434343"/>
              </a:buClr>
              <a:buSzPts val="1200"/>
              <a:buFont typeface="Manrope"/>
              <a:buChar char="○"/>
            </a:pPr>
            <a:r>
              <a:rPr lang="en" sz="1200">
                <a:solidFill>
                  <a:srgbClr val="434343"/>
                </a:solidFill>
                <a:latin typeface="Manrope"/>
                <a:ea typeface="Manrope"/>
                <a:cs typeface="Manrope"/>
                <a:sym typeface="Manrope"/>
              </a:rPr>
              <a:t>Watermelon must be consumed fresh</a:t>
            </a:r>
            <a:endParaRPr sz="1200">
              <a:solidFill>
                <a:srgbClr val="434343"/>
              </a:solidFill>
              <a:latin typeface="Manrope"/>
              <a:ea typeface="Manrope"/>
              <a:cs typeface="Manrope"/>
              <a:sym typeface="Manrope"/>
            </a:endParaRPr>
          </a:p>
          <a:p>
            <a:pPr marL="914400" lvl="1" indent="-304800" algn="l" rtl="0">
              <a:lnSpc>
                <a:spcPct val="115000"/>
              </a:lnSpc>
              <a:spcBef>
                <a:spcPts val="1000"/>
              </a:spcBef>
              <a:spcAft>
                <a:spcPts val="0"/>
              </a:spcAft>
              <a:buClr>
                <a:srgbClr val="434343"/>
              </a:buClr>
              <a:buSzPts val="1200"/>
              <a:buFont typeface="Manrope"/>
              <a:buChar char="○"/>
            </a:pPr>
            <a:r>
              <a:rPr lang="en" sz="1200">
                <a:solidFill>
                  <a:srgbClr val="434343"/>
                </a:solidFill>
                <a:latin typeface="Manrope"/>
                <a:ea typeface="Manrope"/>
                <a:cs typeface="Manrope"/>
                <a:sym typeface="Manrope"/>
              </a:rPr>
              <a:t>Millet may be preferred for consumption over other crops</a:t>
            </a:r>
            <a:endParaRPr sz="1200">
              <a:solidFill>
                <a:srgbClr val="434343"/>
              </a:solidFill>
              <a:latin typeface="Manrope"/>
              <a:ea typeface="Manrope"/>
              <a:cs typeface="Manrope"/>
              <a:sym typeface="Manrope"/>
            </a:endParaRPr>
          </a:p>
          <a:p>
            <a:pPr marL="457200" lvl="0" indent="-304800" algn="l" rtl="0">
              <a:lnSpc>
                <a:spcPct val="115000"/>
              </a:lnSpc>
              <a:spcBef>
                <a:spcPts val="1000"/>
              </a:spcBef>
              <a:spcAft>
                <a:spcPts val="0"/>
              </a:spcAft>
              <a:buClr>
                <a:srgbClr val="434343"/>
              </a:buClr>
              <a:buSzPts val="1200"/>
              <a:buFont typeface="Manrope"/>
              <a:buChar char="●"/>
            </a:pPr>
            <a:r>
              <a:rPr lang="en" sz="1200">
                <a:solidFill>
                  <a:srgbClr val="434343"/>
                </a:solidFill>
                <a:latin typeface="Manrope"/>
                <a:ea typeface="Manrope"/>
                <a:cs typeface="Manrope"/>
                <a:sym typeface="Manrope"/>
              </a:rPr>
              <a:t>On average, a myAgro </a:t>
            </a:r>
            <a:r>
              <a:rPr lang="en" sz="1200" b="1">
                <a:solidFill>
                  <a:srgbClr val="434343"/>
                </a:solidFill>
                <a:latin typeface="Manrope"/>
                <a:ea typeface="Manrope"/>
                <a:cs typeface="Manrope"/>
                <a:sym typeface="Manrope"/>
              </a:rPr>
              <a:t>watermelon </a:t>
            </a:r>
            <a:r>
              <a:rPr lang="en" sz="1200">
                <a:solidFill>
                  <a:srgbClr val="434343"/>
                </a:solidFill>
                <a:latin typeface="Manrope"/>
                <a:ea typeface="Manrope"/>
                <a:cs typeface="Manrope"/>
                <a:sym typeface="Manrope"/>
              </a:rPr>
              <a:t>package would </a:t>
            </a:r>
            <a:r>
              <a:rPr lang="en" sz="1200" b="1">
                <a:solidFill>
                  <a:srgbClr val="434343"/>
                </a:solidFill>
                <a:latin typeface="Manrope"/>
                <a:ea typeface="Manrope"/>
                <a:cs typeface="Manrope"/>
                <a:sym typeface="Manrope"/>
              </a:rPr>
              <a:t>decrease rCSI from 6 to 4.19</a:t>
            </a:r>
            <a:r>
              <a:rPr lang="en" sz="1200">
                <a:solidFill>
                  <a:srgbClr val="434343"/>
                </a:solidFill>
                <a:latin typeface="Manrope"/>
                <a:ea typeface="Manrope"/>
                <a:cs typeface="Manrope"/>
                <a:sym typeface="Manrope"/>
              </a:rPr>
              <a:t> for a (median) control household in the lean season</a:t>
            </a:r>
            <a:endParaRPr sz="1200">
              <a:solidFill>
                <a:srgbClr val="434343"/>
              </a:solidFill>
              <a:latin typeface="Manrope"/>
              <a:ea typeface="Manrope"/>
              <a:cs typeface="Manrope"/>
              <a:sym typeface="Manrope"/>
            </a:endParaRPr>
          </a:p>
          <a:p>
            <a:pPr marL="457200" lvl="0" indent="-304800" algn="l" rtl="0">
              <a:lnSpc>
                <a:spcPct val="115000"/>
              </a:lnSpc>
              <a:spcBef>
                <a:spcPts val="1000"/>
              </a:spcBef>
              <a:spcAft>
                <a:spcPts val="0"/>
              </a:spcAft>
              <a:buClr>
                <a:srgbClr val="434343"/>
              </a:buClr>
              <a:buSzPts val="1200"/>
              <a:buFont typeface="Manrope"/>
              <a:buChar char="●"/>
            </a:pPr>
            <a:r>
              <a:rPr lang="en" sz="1200">
                <a:solidFill>
                  <a:srgbClr val="434343"/>
                </a:solidFill>
                <a:latin typeface="Manrope"/>
                <a:ea typeface="Manrope"/>
                <a:cs typeface="Manrope"/>
                <a:sym typeface="Manrope"/>
              </a:rPr>
              <a:t>On average, a myAgro </a:t>
            </a:r>
            <a:r>
              <a:rPr lang="en" sz="1200" b="1">
                <a:solidFill>
                  <a:srgbClr val="434343"/>
                </a:solidFill>
                <a:latin typeface="Manrope"/>
                <a:ea typeface="Manrope"/>
                <a:cs typeface="Manrope"/>
                <a:sym typeface="Manrope"/>
              </a:rPr>
              <a:t>millet </a:t>
            </a:r>
            <a:r>
              <a:rPr lang="en" sz="1200">
                <a:solidFill>
                  <a:srgbClr val="434343"/>
                </a:solidFill>
                <a:latin typeface="Manrope"/>
                <a:ea typeface="Manrope"/>
                <a:cs typeface="Manrope"/>
                <a:sym typeface="Manrope"/>
              </a:rPr>
              <a:t>package would </a:t>
            </a:r>
            <a:r>
              <a:rPr lang="en" sz="1200" b="1">
                <a:solidFill>
                  <a:srgbClr val="434343"/>
                </a:solidFill>
                <a:latin typeface="Manrope"/>
                <a:ea typeface="Manrope"/>
                <a:cs typeface="Manrope"/>
                <a:sym typeface="Manrope"/>
              </a:rPr>
              <a:t>decrease rCSI from 6 to 4.25</a:t>
            </a:r>
            <a:r>
              <a:rPr lang="en" sz="1200">
                <a:solidFill>
                  <a:srgbClr val="434343"/>
                </a:solidFill>
                <a:latin typeface="Manrope"/>
                <a:ea typeface="Manrope"/>
                <a:cs typeface="Manrope"/>
                <a:sym typeface="Manrope"/>
              </a:rPr>
              <a:t> for a (median) control household in the lean season</a:t>
            </a:r>
            <a:endParaRPr sz="1200">
              <a:solidFill>
                <a:srgbClr val="434343"/>
              </a:solidFill>
              <a:latin typeface="Manrope"/>
              <a:ea typeface="Manrope"/>
              <a:cs typeface="Manrope"/>
              <a:sym typeface="Manrope"/>
            </a:endParaRPr>
          </a:p>
          <a:p>
            <a:pPr marL="457200" lvl="0" indent="-304800" algn="l" rtl="0">
              <a:lnSpc>
                <a:spcPct val="115000"/>
              </a:lnSpc>
              <a:spcBef>
                <a:spcPts val="1000"/>
              </a:spcBef>
              <a:spcAft>
                <a:spcPts val="0"/>
              </a:spcAft>
              <a:buClr>
                <a:srgbClr val="434343"/>
              </a:buClr>
              <a:buSzPts val="1200"/>
              <a:buFont typeface="Manrope"/>
              <a:buChar char="●"/>
            </a:pPr>
            <a:r>
              <a:rPr lang="en" sz="1200" b="1">
                <a:solidFill>
                  <a:srgbClr val="434343"/>
                </a:solidFill>
                <a:latin typeface="Manrope"/>
                <a:ea typeface="Manrope"/>
                <a:cs typeface="Manrope"/>
                <a:sym typeface="Manrope"/>
              </a:rPr>
              <a:t>Farmers with myAgro experience </a:t>
            </a:r>
            <a:r>
              <a:rPr lang="en" sz="1200">
                <a:solidFill>
                  <a:srgbClr val="434343"/>
                </a:solidFill>
                <a:latin typeface="Manrope"/>
                <a:ea typeface="Manrope"/>
                <a:cs typeface="Manrope"/>
                <a:sym typeface="Manrope"/>
              </a:rPr>
              <a:t>may overall have more resources and better food security strategies, but these don't specifically buffer against lean season stress</a:t>
            </a:r>
            <a:endParaRPr sz="1200">
              <a:solidFill>
                <a:srgbClr val="434343"/>
              </a:solidFill>
              <a:latin typeface="Manrope"/>
              <a:ea typeface="Manrope"/>
              <a:cs typeface="Manrope"/>
              <a:sym typeface="Manrope"/>
            </a:endParaRPr>
          </a:p>
          <a:p>
            <a:pPr marL="457200" lvl="0" indent="-304800" algn="l" rtl="0">
              <a:lnSpc>
                <a:spcPct val="115000"/>
              </a:lnSpc>
              <a:spcBef>
                <a:spcPts val="1000"/>
              </a:spcBef>
              <a:spcAft>
                <a:spcPts val="0"/>
              </a:spcAft>
              <a:buClr>
                <a:srgbClr val="434343"/>
              </a:buClr>
              <a:buSzPts val="1200"/>
              <a:buFont typeface="Manrope"/>
              <a:buChar char="●"/>
            </a:pPr>
            <a:r>
              <a:rPr lang="en" sz="1200" b="1">
                <a:solidFill>
                  <a:srgbClr val="434343"/>
                </a:solidFill>
                <a:latin typeface="Manrope"/>
                <a:ea typeface="Manrope"/>
                <a:cs typeface="Manrope"/>
                <a:sym typeface="Manrope"/>
              </a:rPr>
              <a:t>myAgro experience has lasting impact on food security–returning households have rCSI lower than new households by 0.49 on average. This impact is </a:t>
            </a:r>
            <a:r>
              <a:rPr lang="en" sz="1200" b="1" i="1">
                <a:solidFill>
                  <a:srgbClr val="434343"/>
                </a:solidFill>
                <a:latin typeface="Manrope"/>
                <a:ea typeface="Manrope"/>
                <a:cs typeface="Manrope"/>
                <a:sym typeface="Manrope"/>
              </a:rPr>
              <a:t>in addition </a:t>
            </a:r>
            <a:r>
              <a:rPr lang="en" sz="1200" b="1">
                <a:solidFill>
                  <a:srgbClr val="434343"/>
                </a:solidFill>
                <a:latin typeface="Manrope"/>
                <a:ea typeface="Manrope"/>
                <a:cs typeface="Manrope"/>
                <a:sym typeface="Manrope"/>
              </a:rPr>
              <a:t>to the 2023 package impact.</a:t>
            </a:r>
            <a:endParaRPr sz="1200" b="1">
              <a:solidFill>
                <a:srgbClr val="434343"/>
              </a:solidFill>
              <a:latin typeface="Manrope"/>
              <a:ea typeface="Manrope"/>
              <a:cs typeface="Manrope"/>
              <a:sym typeface="Manrope"/>
            </a:endParaRPr>
          </a:p>
        </p:txBody>
      </p:sp>
      <p:sp>
        <p:nvSpPr>
          <p:cNvPr id="231" name="Google Shape;231;p33"/>
          <p:cNvSpPr txBox="1"/>
          <p:nvPr/>
        </p:nvSpPr>
        <p:spPr>
          <a:xfrm>
            <a:off x="854200" y="83975"/>
            <a:ext cx="76725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Interpretation | </a:t>
            </a:r>
            <a:r>
              <a:rPr lang="en" sz="3000">
                <a:solidFill>
                  <a:srgbClr val="888888"/>
                </a:solidFill>
                <a:latin typeface="Manrope SemiBold"/>
                <a:ea typeface="Manrope SemiBold"/>
                <a:cs typeface="Manrope SemiBold"/>
                <a:sym typeface="Manrope SemiBold"/>
              </a:rPr>
              <a:t>Full Year Impact Only</a:t>
            </a:r>
            <a:endParaRPr sz="2200">
              <a:solidFill>
                <a:srgbClr val="888888"/>
              </a:solidFill>
              <a:latin typeface="Manrope SemiBold"/>
              <a:ea typeface="Manrope SemiBold"/>
              <a:cs typeface="Manrope SemiBold"/>
              <a:sym typeface="Manrope SemiBold"/>
            </a:endParaRPr>
          </a:p>
        </p:txBody>
      </p:sp>
      <p:pic>
        <p:nvPicPr>
          <p:cNvPr id="232" name="Google Shape;232;p33"/>
          <p:cNvPicPr preferRelativeResize="0"/>
          <p:nvPr/>
        </p:nvPicPr>
        <p:blipFill rotWithShape="1">
          <a:blip r:embed="rId3">
            <a:alphaModFix/>
          </a:blip>
          <a:srcRect/>
          <a:stretch/>
        </p:blipFill>
        <p:spPr>
          <a:xfrm>
            <a:off x="103491" y="145580"/>
            <a:ext cx="626264" cy="50783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graphicFrame>
        <p:nvGraphicFramePr>
          <p:cNvPr id="237" name="Google Shape;237;p34"/>
          <p:cNvGraphicFramePr/>
          <p:nvPr/>
        </p:nvGraphicFramePr>
        <p:xfrm>
          <a:off x="600650" y="2319860"/>
          <a:ext cx="7926075" cy="2092960"/>
        </p:xfrm>
        <a:graphic>
          <a:graphicData uri="http://schemas.openxmlformats.org/drawingml/2006/table">
            <a:tbl>
              <a:tblPr>
                <a:noFill/>
                <a:tableStyleId>{30DB1E6E-BAFB-4045-8679-1D4DE15F8355}</a:tableStyleId>
              </a:tblPr>
              <a:tblGrid>
                <a:gridCol w="3830350">
                  <a:extLst>
                    <a:ext uri="{9D8B030D-6E8A-4147-A177-3AD203B41FA5}">
                      <a16:colId xmlns:a16="http://schemas.microsoft.com/office/drawing/2014/main" val="20000"/>
                    </a:ext>
                  </a:extLst>
                </a:gridCol>
                <a:gridCol w="2084100">
                  <a:extLst>
                    <a:ext uri="{9D8B030D-6E8A-4147-A177-3AD203B41FA5}">
                      <a16:colId xmlns:a16="http://schemas.microsoft.com/office/drawing/2014/main" val="20001"/>
                    </a:ext>
                  </a:extLst>
                </a:gridCol>
                <a:gridCol w="2011625">
                  <a:extLst>
                    <a:ext uri="{9D8B030D-6E8A-4147-A177-3AD203B41FA5}">
                      <a16:colId xmlns:a16="http://schemas.microsoft.com/office/drawing/2014/main" val="20002"/>
                    </a:ext>
                  </a:extLst>
                </a:gridCol>
              </a:tblGrid>
              <a:tr h="257250">
                <a:tc>
                  <a:txBody>
                    <a:bodyPr/>
                    <a:lstStyle/>
                    <a:p>
                      <a:pPr marL="0" lvl="0" indent="0" algn="ctr" rtl="0">
                        <a:spcBef>
                          <a:spcPts val="0"/>
                        </a:spcBef>
                        <a:spcAft>
                          <a:spcPts val="0"/>
                        </a:spcAft>
                        <a:buNone/>
                      </a:pPr>
                      <a:endParaRPr sz="1200" b="1">
                        <a:solidFill>
                          <a:srgbClr val="FFFFFF"/>
                        </a:solidFill>
                        <a:latin typeface="Manrope"/>
                        <a:ea typeface="Manrope"/>
                        <a:cs typeface="Manrope"/>
                        <a:sym typeface="Manrope"/>
                      </a:endParaRPr>
                    </a:p>
                  </a:txBody>
                  <a:tcPr marL="63500" marR="63500" marT="63500" marB="63500">
                    <a:lnL w="12700" cap="flat" cmpd="sng">
                      <a:solidFill>
                        <a:srgbClr val="000000">
                          <a:alpha val="0"/>
                        </a:srgbClr>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2023 Impact per Farmer w/ Rank</a:t>
                      </a:r>
                      <a:endParaRPr sz="11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D4119"/>
                    </a:solidFill>
                  </a:tcPr>
                </a:tc>
                <a:tc hMerge="1">
                  <a:txBody>
                    <a:bodyPr/>
                    <a:lstStyle/>
                    <a:p>
                      <a:endParaRPr lang="en-US"/>
                    </a:p>
                  </a:txBody>
                  <a:tcPr/>
                </a:tc>
                <a:extLst>
                  <a:ext uri="{0D108BD9-81ED-4DB2-BD59-A6C34878D82A}">
                    <a16:rowId xmlns:a16="http://schemas.microsoft.com/office/drawing/2014/main" val="10000"/>
                  </a:ext>
                </a:extLst>
              </a:tr>
              <a:tr h="257250">
                <a:tc>
                  <a:txBody>
                    <a:bodyPr/>
                    <a:lstStyle/>
                    <a:p>
                      <a:pPr marL="0" lvl="0" indent="0" algn="ctr" rtl="0">
                        <a:spcBef>
                          <a:spcPts val="0"/>
                        </a:spcBef>
                        <a:spcAft>
                          <a:spcPts val="0"/>
                        </a:spcAft>
                        <a:buNone/>
                      </a:pPr>
                      <a:r>
                        <a:rPr lang="en" sz="1200" b="1">
                          <a:solidFill>
                            <a:srgbClr val="FFFFFF"/>
                          </a:solidFill>
                          <a:latin typeface="Manrope"/>
                          <a:ea typeface="Manrope"/>
                          <a:cs typeface="Manrope"/>
                          <a:sym typeface="Manrope"/>
                        </a:rPr>
                        <a:t>Crops with Significant Impact on Food Security</a:t>
                      </a:r>
                      <a:endParaRPr sz="12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Senegal</a:t>
                      </a:r>
                      <a:endParaRPr sz="11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1100" b="1">
                          <a:solidFill>
                            <a:srgbClr val="FFFFFF"/>
                          </a:solidFill>
                          <a:latin typeface="Manrope"/>
                          <a:ea typeface="Manrope"/>
                          <a:cs typeface="Manrope"/>
                          <a:sym typeface="Manrope"/>
                        </a:rPr>
                        <a:t>Mali</a:t>
                      </a:r>
                      <a:endParaRPr sz="11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extLst>
                  <a:ext uri="{0D108BD9-81ED-4DB2-BD59-A6C34878D82A}">
                    <a16:rowId xmlns:a16="http://schemas.microsoft.com/office/drawing/2014/main" val="10001"/>
                  </a:ext>
                </a:extLst>
              </a:tr>
              <a:tr h="244575">
                <a:tc>
                  <a:txBody>
                    <a:bodyPr/>
                    <a:lstStyle/>
                    <a:p>
                      <a:pPr marL="0" lvl="0" indent="0" algn="ctr" rtl="0">
                        <a:spcBef>
                          <a:spcPts val="0"/>
                        </a:spcBef>
                        <a:spcAft>
                          <a:spcPts val="0"/>
                        </a:spcAft>
                        <a:buNone/>
                      </a:pPr>
                      <a:r>
                        <a:rPr lang="en" sz="1100" b="1">
                          <a:solidFill>
                            <a:srgbClr val="197B30"/>
                          </a:solidFill>
                          <a:latin typeface="Manrope"/>
                          <a:ea typeface="Manrope"/>
                          <a:cs typeface="Manrope"/>
                          <a:sym typeface="Manrope"/>
                        </a:rPr>
                        <a:t>Peanut</a:t>
                      </a:r>
                      <a:endParaRPr sz="1100" b="1">
                        <a:solidFill>
                          <a:srgbClr val="197B30"/>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$498 </a:t>
                      </a:r>
                      <a:r>
                        <a:rPr lang="en" sz="1100">
                          <a:solidFill>
                            <a:schemeClr val="lt1"/>
                          </a:solidFill>
                          <a:highlight>
                            <a:srgbClr val="6AA84F"/>
                          </a:highlight>
                          <a:latin typeface="Manrope"/>
                          <a:ea typeface="Manrope"/>
                          <a:cs typeface="Manrope"/>
                          <a:sym typeface="Manrope"/>
                        </a:rPr>
                        <a:t>(1)</a:t>
                      </a:r>
                      <a:endParaRPr sz="1100">
                        <a:solidFill>
                          <a:schemeClr val="lt1"/>
                        </a:solidFill>
                        <a:highlight>
                          <a:srgbClr val="6AA84F"/>
                        </a:highlight>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$71 </a:t>
                      </a:r>
                      <a:r>
                        <a:rPr lang="en" sz="1100">
                          <a:solidFill>
                            <a:schemeClr val="lt1"/>
                          </a:solidFill>
                          <a:highlight>
                            <a:srgbClr val="E69138"/>
                          </a:highlight>
                          <a:latin typeface="Manrope"/>
                          <a:ea typeface="Manrope"/>
                          <a:cs typeface="Manrope"/>
                          <a:sym typeface="Manrope"/>
                        </a:rPr>
                        <a:t>(3)</a:t>
                      </a:r>
                      <a:endParaRPr sz="1100">
                        <a:solidFill>
                          <a:schemeClr val="lt1"/>
                        </a:solidFill>
                        <a:highlight>
                          <a:srgbClr val="E69138"/>
                        </a:highlight>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44575">
                <a:tc>
                  <a:txBody>
                    <a:bodyPr/>
                    <a:lstStyle/>
                    <a:p>
                      <a:pPr marL="0" lvl="0" indent="0" algn="ctr" rtl="0">
                        <a:spcBef>
                          <a:spcPts val="0"/>
                        </a:spcBef>
                        <a:spcAft>
                          <a:spcPts val="0"/>
                        </a:spcAft>
                        <a:buNone/>
                      </a:pPr>
                      <a:r>
                        <a:rPr lang="en" sz="1100" b="1">
                          <a:solidFill>
                            <a:srgbClr val="197B30"/>
                          </a:solidFill>
                          <a:latin typeface="Manrope"/>
                          <a:ea typeface="Manrope"/>
                          <a:cs typeface="Manrope"/>
                          <a:sym typeface="Manrope"/>
                        </a:rPr>
                        <a:t>25kg Fertilizer Gift</a:t>
                      </a:r>
                      <a:endParaRPr sz="1100" b="1">
                        <a:solidFill>
                          <a:srgbClr val="197B30"/>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100">
                          <a:solidFill>
                            <a:srgbClr val="434343"/>
                          </a:solidFill>
                          <a:latin typeface="Manrope"/>
                          <a:ea typeface="Manrope"/>
                          <a:cs typeface="Manrope"/>
                          <a:sym typeface="Manrope"/>
                        </a:rPr>
                        <a:t>$117* </a:t>
                      </a:r>
                      <a:r>
                        <a:rPr lang="en" sz="1100">
                          <a:solidFill>
                            <a:schemeClr val="lt1"/>
                          </a:solidFill>
                          <a:highlight>
                            <a:srgbClr val="6AA84F"/>
                          </a:highlight>
                          <a:latin typeface="Manrope"/>
                          <a:ea typeface="Manrope"/>
                          <a:cs typeface="Manrope"/>
                          <a:sym typeface="Manrope"/>
                        </a:rPr>
                        <a:t>(1)</a:t>
                      </a:r>
                      <a:endParaRPr sz="1100">
                        <a:solidFill>
                          <a:schemeClr val="lt1"/>
                        </a:solidFill>
                        <a:highlight>
                          <a:srgbClr val="6AA84F"/>
                        </a:highlight>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44575">
                <a:tc>
                  <a:txBody>
                    <a:bodyPr/>
                    <a:lstStyle/>
                    <a:p>
                      <a:pPr marL="0" lvl="0" indent="0" algn="ctr" rtl="0">
                        <a:spcBef>
                          <a:spcPts val="0"/>
                        </a:spcBef>
                        <a:spcAft>
                          <a:spcPts val="0"/>
                        </a:spcAft>
                        <a:buNone/>
                      </a:pPr>
                      <a:r>
                        <a:rPr lang="en" sz="1100" b="1">
                          <a:solidFill>
                            <a:srgbClr val="197B30"/>
                          </a:solidFill>
                          <a:latin typeface="Manrope"/>
                          <a:ea typeface="Manrope"/>
                          <a:cs typeface="Manrope"/>
                          <a:sym typeface="Manrope"/>
                        </a:rPr>
                        <a:t>Millet</a:t>
                      </a:r>
                      <a:endParaRPr sz="1100" b="1">
                        <a:solidFill>
                          <a:srgbClr val="197B30"/>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$109 </a:t>
                      </a:r>
                      <a:r>
                        <a:rPr lang="en" sz="1100">
                          <a:solidFill>
                            <a:schemeClr val="lt1"/>
                          </a:solidFill>
                          <a:highlight>
                            <a:srgbClr val="F1C232"/>
                          </a:highlight>
                          <a:latin typeface="Manrope"/>
                          <a:ea typeface="Manrope"/>
                          <a:cs typeface="Manrope"/>
                          <a:sym typeface="Manrope"/>
                        </a:rPr>
                        <a:t>(2)</a:t>
                      </a:r>
                      <a:endParaRPr sz="1100">
                        <a:solidFill>
                          <a:schemeClr val="lt1"/>
                        </a:solidFill>
                        <a:highlight>
                          <a:srgbClr val="F1C232"/>
                        </a:highlight>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44575">
                <a:tc>
                  <a:txBody>
                    <a:bodyPr/>
                    <a:lstStyle/>
                    <a:p>
                      <a:pPr marL="0" lvl="0" indent="0" algn="ctr" rtl="0">
                        <a:spcBef>
                          <a:spcPts val="0"/>
                        </a:spcBef>
                        <a:spcAft>
                          <a:spcPts val="0"/>
                        </a:spcAft>
                        <a:buNone/>
                      </a:pPr>
                      <a:r>
                        <a:rPr lang="en" sz="1100" b="1">
                          <a:solidFill>
                            <a:srgbClr val="197B30"/>
                          </a:solidFill>
                          <a:latin typeface="Manrope"/>
                          <a:ea typeface="Manrope"/>
                          <a:cs typeface="Manrope"/>
                          <a:sym typeface="Manrope"/>
                        </a:rPr>
                        <a:t>Sorghum</a:t>
                      </a:r>
                      <a:endParaRPr sz="1100" b="1">
                        <a:solidFill>
                          <a:srgbClr val="197B30"/>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$102 </a:t>
                      </a:r>
                      <a:r>
                        <a:rPr lang="en" sz="1100">
                          <a:solidFill>
                            <a:schemeClr val="lt1"/>
                          </a:solidFill>
                          <a:highlight>
                            <a:srgbClr val="F1C232"/>
                          </a:highlight>
                          <a:latin typeface="Manrope"/>
                          <a:ea typeface="Manrope"/>
                          <a:cs typeface="Manrope"/>
                          <a:sym typeface="Manrope"/>
                        </a:rPr>
                        <a:t>(2)</a:t>
                      </a:r>
                      <a:endParaRPr sz="1100">
                        <a:solidFill>
                          <a:schemeClr val="lt1"/>
                        </a:solidFill>
                        <a:highlight>
                          <a:srgbClr val="F1C232"/>
                        </a:highlight>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44575">
                <a:tc>
                  <a:txBody>
                    <a:bodyPr/>
                    <a:lstStyle/>
                    <a:p>
                      <a:pPr marL="0" lvl="0" indent="0" algn="ctr" rtl="0">
                        <a:spcBef>
                          <a:spcPts val="0"/>
                        </a:spcBef>
                        <a:spcAft>
                          <a:spcPts val="0"/>
                        </a:spcAft>
                        <a:buNone/>
                      </a:pPr>
                      <a:r>
                        <a:rPr lang="en" sz="1100" b="1">
                          <a:solidFill>
                            <a:srgbClr val="197B30"/>
                          </a:solidFill>
                          <a:latin typeface="Manrope"/>
                          <a:ea typeface="Manrope"/>
                          <a:cs typeface="Manrope"/>
                          <a:sym typeface="Manrope"/>
                        </a:rPr>
                        <a:t>Watermelon</a:t>
                      </a:r>
                      <a:endParaRPr sz="1100" b="1">
                        <a:solidFill>
                          <a:srgbClr val="197B30"/>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$59 </a:t>
                      </a:r>
                      <a:r>
                        <a:rPr lang="en" sz="1100">
                          <a:solidFill>
                            <a:schemeClr val="lt1"/>
                          </a:solidFill>
                          <a:highlight>
                            <a:srgbClr val="E69138"/>
                          </a:highlight>
                          <a:latin typeface="Manrope"/>
                          <a:ea typeface="Manrope"/>
                          <a:cs typeface="Manrope"/>
                          <a:sym typeface="Manrope"/>
                        </a:rPr>
                        <a:t>(3)</a:t>
                      </a:r>
                      <a:endParaRPr sz="1100">
                        <a:solidFill>
                          <a:schemeClr val="lt1"/>
                        </a:solidFill>
                        <a:highlight>
                          <a:srgbClr val="E69138"/>
                        </a:highlight>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rgbClr val="434343"/>
                          </a:solidFill>
                          <a:latin typeface="Manrope"/>
                          <a:ea typeface="Manrope"/>
                          <a:cs typeface="Manrope"/>
                          <a:sym typeface="Manrope"/>
                        </a:rPr>
                        <a:t>-</a:t>
                      </a:r>
                      <a:endParaRPr sz="11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238" name="Google Shape;238;p34"/>
          <p:cNvSpPr txBox="1"/>
          <p:nvPr/>
        </p:nvSpPr>
        <p:spPr>
          <a:xfrm>
            <a:off x="854200" y="83975"/>
            <a:ext cx="76725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Interpretation | </a:t>
            </a:r>
            <a:r>
              <a:rPr lang="en" sz="3000">
                <a:solidFill>
                  <a:srgbClr val="888888"/>
                </a:solidFill>
                <a:latin typeface="Manrope SemiBold"/>
                <a:ea typeface="Manrope SemiBold"/>
                <a:cs typeface="Manrope SemiBold"/>
                <a:sym typeface="Manrope SemiBold"/>
              </a:rPr>
              <a:t>Results vs 2023 Impact</a:t>
            </a:r>
            <a:endParaRPr sz="2200">
              <a:solidFill>
                <a:srgbClr val="888888"/>
              </a:solidFill>
              <a:latin typeface="Manrope SemiBold"/>
              <a:ea typeface="Manrope SemiBold"/>
              <a:cs typeface="Manrope SemiBold"/>
              <a:sym typeface="Manrope SemiBold"/>
            </a:endParaRPr>
          </a:p>
        </p:txBody>
      </p:sp>
      <p:pic>
        <p:nvPicPr>
          <p:cNvPr id="239" name="Google Shape;239;p34"/>
          <p:cNvPicPr preferRelativeResize="0"/>
          <p:nvPr/>
        </p:nvPicPr>
        <p:blipFill rotWithShape="1">
          <a:blip r:embed="rId3">
            <a:alphaModFix/>
          </a:blip>
          <a:srcRect/>
          <a:stretch/>
        </p:blipFill>
        <p:spPr>
          <a:xfrm>
            <a:off x="103491" y="145580"/>
            <a:ext cx="626264" cy="507837"/>
          </a:xfrm>
          <a:prstGeom prst="rect">
            <a:avLst/>
          </a:prstGeom>
          <a:noFill/>
          <a:ln>
            <a:noFill/>
          </a:ln>
        </p:spPr>
      </p:pic>
      <p:sp>
        <p:nvSpPr>
          <p:cNvPr id="240" name="Google Shape;240;p34"/>
          <p:cNvSpPr txBox="1"/>
          <p:nvPr/>
        </p:nvSpPr>
        <p:spPr>
          <a:xfrm>
            <a:off x="224375" y="777926"/>
            <a:ext cx="7755300" cy="1418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a:solidFill>
                  <a:srgbClr val="197B30"/>
                </a:solidFill>
                <a:latin typeface="Manrope"/>
                <a:ea typeface="Manrope"/>
                <a:cs typeface="Manrope"/>
                <a:sym typeface="Manrope"/>
              </a:rPr>
              <a:t>The food security impact results are consistent with 2023 impact per farmer</a:t>
            </a:r>
            <a:endParaRPr sz="2000" b="1">
              <a:solidFill>
                <a:srgbClr val="197B30"/>
              </a:solidFill>
              <a:latin typeface="Manrope"/>
              <a:ea typeface="Manrope"/>
              <a:cs typeface="Manrope"/>
              <a:sym typeface="Manrope"/>
            </a:endParaRPr>
          </a:p>
          <a:p>
            <a:pPr marL="0" lvl="0" indent="0" algn="l" rtl="0">
              <a:lnSpc>
                <a:spcPct val="115000"/>
              </a:lnSpc>
              <a:spcBef>
                <a:spcPts val="1000"/>
              </a:spcBef>
              <a:spcAft>
                <a:spcPts val="0"/>
              </a:spcAft>
              <a:buNone/>
            </a:pPr>
            <a:r>
              <a:rPr lang="en" sz="1200">
                <a:solidFill>
                  <a:srgbClr val="434343"/>
                </a:solidFill>
                <a:latin typeface="Manrope"/>
                <a:ea typeface="Manrope"/>
                <a:cs typeface="Manrope"/>
                <a:sym typeface="Manrope"/>
              </a:rPr>
              <a:t>The five myAgro products with statistically significant food security impact (year-round and/or lean season) also had the five highest impact per farmer results in 2023</a:t>
            </a:r>
            <a:endParaRPr sz="1200">
              <a:solidFill>
                <a:srgbClr val="434343"/>
              </a:solidFill>
              <a:latin typeface="Manrope"/>
              <a:ea typeface="Manrope"/>
              <a:cs typeface="Manrope"/>
              <a:sym typeface="Manrope"/>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4"/>
        <p:cNvGrpSpPr/>
        <p:nvPr/>
      </p:nvGrpSpPr>
      <p:grpSpPr>
        <a:xfrm>
          <a:off x="0" y="0"/>
          <a:ext cx="0" cy="0"/>
          <a:chOff x="0" y="0"/>
          <a:chExt cx="0" cy="0"/>
        </a:xfrm>
      </p:grpSpPr>
      <p:sp>
        <p:nvSpPr>
          <p:cNvPr id="245" name="Google Shape;245;p35"/>
          <p:cNvSpPr txBox="1"/>
          <p:nvPr/>
        </p:nvSpPr>
        <p:spPr>
          <a:xfrm>
            <a:off x="1238250" y="3801740"/>
            <a:ext cx="7467600" cy="1015800"/>
          </a:xfrm>
          <a:prstGeom prst="rect">
            <a:avLst/>
          </a:prstGeom>
          <a:noFill/>
          <a:ln>
            <a:noFill/>
          </a:ln>
        </p:spPr>
        <p:txBody>
          <a:bodyPr spcFirstLastPara="1" wrap="square" lIns="45725" tIns="22850" rIns="45725" bIns="22850" anchor="t" anchorCtr="0">
            <a:spAutoFit/>
          </a:bodyPr>
          <a:lstStyle/>
          <a:p>
            <a:pPr marL="0" marR="0" lvl="0" indent="0" algn="r" rtl="0">
              <a:lnSpc>
                <a:spcPct val="100000"/>
              </a:lnSpc>
              <a:spcBef>
                <a:spcPts val="0"/>
              </a:spcBef>
              <a:spcAft>
                <a:spcPts val="0"/>
              </a:spcAft>
              <a:buClr>
                <a:srgbClr val="000000"/>
              </a:buClr>
              <a:buSzPts val="6000"/>
              <a:buFont typeface="Arial"/>
              <a:buNone/>
            </a:pPr>
            <a:r>
              <a:rPr lang="en" sz="4500">
                <a:solidFill>
                  <a:srgbClr val="197B30"/>
                </a:solidFill>
                <a:latin typeface="Lato"/>
                <a:ea typeface="Lato"/>
                <a:cs typeface="Lato"/>
                <a:sym typeface="Lato"/>
              </a:rPr>
              <a:t>Other Insights</a:t>
            </a:r>
            <a:endParaRPr sz="4500" b="0" i="0" u="none" strike="noStrike" cap="none">
              <a:solidFill>
                <a:srgbClr val="197B30"/>
              </a:solidFill>
              <a:latin typeface="Lato"/>
              <a:ea typeface="Lato"/>
              <a:cs typeface="Lato"/>
              <a:sym typeface="Lato"/>
            </a:endParaRPr>
          </a:p>
          <a:p>
            <a:pPr marL="0" marR="0" lvl="0" indent="0" algn="r" rtl="0">
              <a:lnSpc>
                <a:spcPct val="100000"/>
              </a:lnSpc>
              <a:spcBef>
                <a:spcPts val="0"/>
              </a:spcBef>
              <a:spcAft>
                <a:spcPts val="0"/>
              </a:spcAft>
              <a:buClr>
                <a:srgbClr val="000000"/>
              </a:buClr>
              <a:buSzPts val="3600"/>
              <a:buFont typeface="Arial"/>
              <a:buNone/>
            </a:pPr>
            <a:endParaRPr sz="1800" b="0" i="0" u="none" strike="noStrike" cap="none">
              <a:solidFill>
                <a:schemeClr val="dk1"/>
              </a:solidFill>
              <a:latin typeface="Lato"/>
              <a:ea typeface="Lato"/>
              <a:cs typeface="Lato"/>
              <a:sym typeface="Lato"/>
            </a:endParaRPr>
          </a:p>
        </p:txBody>
      </p:sp>
      <p:pic>
        <p:nvPicPr>
          <p:cNvPr id="246" name="Google Shape;246;p35"/>
          <p:cNvPicPr preferRelativeResize="0"/>
          <p:nvPr/>
        </p:nvPicPr>
        <p:blipFill rotWithShape="1">
          <a:blip r:embed="rId3">
            <a:alphaModFix amt="28000"/>
          </a:blip>
          <a:srcRect l="14687" t="11876" r="-1599" b="7931"/>
          <a:stretch/>
        </p:blipFill>
        <p:spPr>
          <a:xfrm>
            <a:off x="0" y="0"/>
            <a:ext cx="5772150" cy="514350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6"/>
          <p:cNvSpPr txBox="1"/>
          <p:nvPr/>
        </p:nvSpPr>
        <p:spPr>
          <a:xfrm>
            <a:off x="854202" y="83975"/>
            <a:ext cx="82383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Other Insights | </a:t>
            </a:r>
            <a:r>
              <a:rPr lang="en" sz="3000">
                <a:solidFill>
                  <a:srgbClr val="888888"/>
                </a:solidFill>
                <a:latin typeface="Manrope SemiBold"/>
                <a:ea typeface="Manrope SemiBold"/>
                <a:cs typeface="Manrope SemiBold"/>
                <a:sym typeface="Manrope SemiBold"/>
              </a:rPr>
              <a:t>Country Differences</a:t>
            </a:r>
            <a:endParaRPr sz="2200">
              <a:solidFill>
                <a:srgbClr val="888888"/>
              </a:solidFill>
              <a:latin typeface="Manrope SemiBold"/>
              <a:ea typeface="Manrope SemiBold"/>
              <a:cs typeface="Manrope SemiBold"/>
              <a:sym typeface="Manrope SemiBold"/>
            </a:endParaRPr>
          </a:p>
        </p:txBody>
      </p:sp>
      <p:pic>
        <p:nvPicPr>
          <p:cNvPr id="252" name="Google Shape;252;p36"/>
          <p:cNvPicPr preferRelativeResize="0"/>
          <p:nvPr/>
        </p:nvPicPr>
        <p:blipFill rotWithShape="1">
          <a:blip r:embed="rId3">
            <a:alphaModFix/>
          </a:blip>
          <a:srcRect/>
          <a:stretch/>
        </p:blipFill>
        <p:spPr>
          <a:xfrm>
            <a:off x="103491" y="145580"/>
            <a:ext cx="626264" cy="507837"/>
          </a:xfrm>
          <a:prstGeom prst="rect">
            <a:avLst/>
          </a:prstGeom>
          <a:noFill/>
          <a:ln>
            <a:noFill/>
          </a:ln>
        </p:spPr>
      </p:pic>
      <p:sp>
        <p:nvSpPr>
          <p:cNvPr id="253" name="Google Shape;253;p36"/>
          <p:cNvSpPr txBox="1"/>
          <p:nvPr/>
        </p:nvSpPr>
        <p:spPr>
          <a:xfrm>
            <a:off x="224375" y="777928"/>
            <a:ext cx="7755300" cy="2612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a:solidFill>
                  <a:srgbClr val="197B30"/>
                </a:solidFill>
                <a:latin typeface="Manrope"/>
                <a:ea typeface="Manrope"/>
                <a:cs typeface="Manrope"/>
                <a:sym typeface="Manrope"/>
              </a:rPr>
              <a:t>Senegal households are more food secure than Mali households</a:t>
            </a:r>
            <a:endParaRPr sz="2000" b="1">
              <a:solidFill>
                <a:srgbClr val="197B30"/>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Char char="●"/>
            </a:pPr>
            <a:r>
              <a:rPr lang="en">
                <a:solidFill>
                  <a:srgbClr val="434343"/>
                </a:solidFill>
                <a:latin typeface="Manrope"/>
                <a:ea typeface="Manrope"/>
                <a:cs typeface="Manrope"/>
                <a:sym typeface="Manrope"/>
              </a:rPr>
              <a:t>After controlling for myAgro intervention and other covariates, we found households in Senegal to have, on average, rCSI scores that are:</a:t>
            </a:r>
            <a:endParaRPr>
              <a:solidFill>
                <a:srgbClr val="434343"/>
              </a:solidFill>
              <a:latin typeface="Manrope"/>
              <a:ea typeface="Manrope"/>
              <a:cs typeface="Manrope"/>
              <a:sym typeface="Manrope"/>
            </a:endParaRPr>
          </a:p>
          <a:p>
            <a:pPr marL="914400" lvl="1" indent="-317500" algn="l" rtl="0">
              <a:lnSpc>
                <a:spcPct val="115000"/>
              </a:lnSpc>
              <a:spcBef>
                <a:spcPts val="1000"/>
              </a:spcBef>
              <a:spcAft>
                <a:spcPts val="0"/>
              </a:spcAft>
              <a:buClr>
                <a:srgbClr val="434343"/>
              </a:buClr>
              <a:buSzPts val="1400"/>
              <a:buFont typeface="Manrope"/>
              <a:buChar char="○"/>
            </a:pPr>
            <a:r>
              <a:rPr lang="en">
                <a:solidFill>
                  <a:srgbClr val="434343"/>
                </a:solidFill>
                <a:latin typeface="Manrope"/>
                <a:ea typeface="Manrope"/>
                <a:cs typeface="Manrope"/>
                <a:sym typeface="Manrope"/>
              </a:rPr>
              <a:t>2.59 points lower than Mali households year-round (</a:t>
            </a:r>
            <a:r>
              <a:rPr lang="en" i="1">
                <a:solidFill>
                  <a:srgbClr val="434343"/>
                </a:solidFill>
                <a:latin typeface="Manrope"/>
                <a:ea typeface="Manrope"/>
                <a:cs typeface="Manrope"/>
                <a:sym typeface="Manrope"/>
              </a:rPr>
              <a:t>P</a:t>
            </a:r>
            <a:r>
              <a:rPr lang="en">
                <a:solidFill>
                  <a:srgbClr val="434343"/>
                </a:solidFill>
                <a:latin typeface="Manrope"/>
                <a:ea typeface="Manrope"/>
                <a:cs typeface="Manrope"/>
                <a:sym typeface="Manrope"/>
              </a:rPr>
              <a:t>≤.05)</a:t>
            </a:r>
            <a:endParaRPr>
              <a:solidFill>
                <a:srgbClr val="434343"/>
              </a:solidFill>
              <a:latin typeface="Manrope"/>
              <a:ea typeface="Manrope"/>
              <a:cs typeface="Manrope"/>
              <a:sym typeface="Manrope"/>
            </a:endParaRPr>
          </a:p>
          <a:p>
            <a:pPr marL="914400" lvl="1" indent="-317500" algn="l" rtl="0">
              <a:lnSpc>
                <a:spcPct val="115000"/>
              </a:lnSpc>
              <a:spcBef>
                <a:spcPts val="1000"/>
              </a:spcBef>
              <a:spcAft>
                <a:spcPts val="0"/>
              </a:spcAft>
              <a:buClr>
                <a:srgbClr val="434343"/>
              </a:buClr>
              <a:buSzPts val="1400"/>
              <a:buFont typeface="Manrope"/>
              <a:buChar char="○"/>
            </a:pPr>
            <a:r>
              <a:rPr lang="en">
                <a:solidFill>
                  <a:srgbClr val="434343"/>
                </a:solidFill>
                <a:latin typeface="Manrope"/>
                <a:ea typeface="Manrope"/>
                <a:cs typeface="Manrope"/>
                <a:sym typeface="Manrope"/>
              </a:rPr>
              <a:t>3.75 points lower than Mali households in the lean season (</a:t>
            </a:r>
            <a:r>
              <a:rPr lang="en" i="1">
                <a:solidFill>
                  <a:srgbClr val="434343"/>
                </a:solidFill>
                <a:latin typeface="Manrope"/>
                <a:ea typeface="Manrope"/>
                <a:cs typeface="Manrope"/>
                <a:sym typeface="Manrope"/>
              </a:rPr>
              <a:t>P</a:t>
            </a:r>
            <a:r>
              <a:rPr lang="en">
                <a:solidFill>
                  <a:srgbClr val="434343"/>
                </a:solidFill>
                <a:latin typeface="Manrope"/>
                <a:ea typeface="Manrope"/>
                <a:cs typeface="Manrope"/>
                <a:sym typeface="Manrope"/>
              </a:rPr>
              <a:t>≤.05)</a:t>
            </a:r>
            <a:endParaRPr>
              <a:solidFill>
                <a:srgbClr val="434343"/>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Char char="●"/>
            </a:pPr>
            <a:r>
              <a:rPr lang="en">
                <a:solidFill>
                  <a:srgbClr val="434343"/>
                </a:solidFill>
                <a:latin typeface="Manrope"/>
                <a:ea typeface="Manrope"/>
                <a:cs typeface="Manrope"/>
                <a:sym typeface="Manrope"/>
              </a:rPr>
              <a:t>This indicates better food security in Senegal</a:t>
            </a:r>
            <a:endParaRPr sz="1100" i="1">
              <a:solidFill>
                <a:srgbClr val="434343"/>
              </a:solidFill>
              <a:latin typeface="Manrope"/>
              <a:ea typeface="Manrope"/>
              <a:cs typeface="Manrope"/>
              <a:sym typeface="Manrope"/>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7"/>
          <p:cNvSpPr txBox="1"/>
          <p:nvPr/>
        </p:nvSpPr>
        <p:spPr>
          <a:xfrm>
            <a:off x="854202" y="83975"/>
            <a:ext cx="82383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Other Insights | </a:t>
            </a:r>
            <a:r>
              <a:rPr lang="en" sz="3000">
                <a:solidFill>
                  <a:srgbClr val="888888"/>
                </a:solidFill>
                <a:latin typeface="Manrope SemiBold"/>
                <a:ea typeface="Manrope SemiBold"/>
                <a:cs typeface="Manrope SemiBold"/>
                <a:sym typeface="Manrope SemiBold"/>
              </a:rPr>
              <a:t>myAgro Participation</a:t>
            </a:r>
            <a:endParaRPr sz="2200">
              <a:solidFill>
                <a:srgbClr val="888888"/>
              </a:solidFill>
              <a:latin typeface="Manrope SemiBold"/>
              <a:ea typeface="Manrope SemiBold"/>
              <a:cs typeface="Manrope SemiBold"/>
              <a:sym typeface="Manrope SemiBold"/>
            </a:endParaRPr>
          </a:p>
        </p:txBody>
      </p:sp>
      <p:pic>
        <p:nvPicPr>
          <p:cNvPr id="259" name="Google Shape;259;p37"/>
          <p:cNvPicPr preferRelativeResize="0"/>
          <p:nvPr/>
        </p:nvPicPr>
        <p:blipFill rotWithShape="1">
          <a:blip r:embed="rId3">
            <a:alphaModFix/>
          </a:blip>
          <a:srcRect/>
          <a:stretch/>
        </p:blipFill>
        <p:spPr>
          <a:xfrm>
            <a:off x="103491" y="145580"/>
            <a:ext cx="626264" cy="507837"/>
          </a:xfrm>
          <a:prstGeom prst="rect">
            <a:avLst/>
          </a:prstGeom>
          <a:noFill/>
          <a:ln>
            <a:noFill/>
          </a:ln>
        </p:spPr>
      </p:pic>
      <p:sp>
        <p:nvSpPr>
          <p:cNvPr id="260" name="Google Shape;260;p37"/>
          <p:cNvSpPr txBox="1"/>
          <p:nvPr/>
        </p:nvSpPr>
        <p:spPr>
          <a:xfrm>
            <a:off x="224375" y="777928"/>
            <a:ext cx="7755300" cy="3603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a:solidFill>
                  <a:srgbClr val="197B30"/>
                </a:solidFill>
                <a:latin typeface="Manrope"/>
                <a:ea typeface="Manrope"/>
                <a:cs typeface="Manrope"/>
                <a:sym typeface="Manrope"/>
              </a:rPr>
              <a:t>Households that are more likely to plant myAgro packages are already slightly more food secure</a:t>
            </a:r>
            <a:endParaRPr>
              <a:solidFill>
                <a:srgbClr val="434343"/>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Char char="●"/>
            </a:pPr>
            <a:r>
              <a:rPr lang="en" b="1">
                <a:solidFill>
                  <a:srgbClr val="434343"/>
                </a:solidFill>
                <a:latin typeface="Manrope"/>
                <a:ea typeface="Manrope"/>
                <a:cs typeface="Manrope"/>
                <a:sym typeface="Manrope"/>
              </a:rPr>
              <a:t>Selection bias naturally occurs in the data</a:t>
            </a:r>
            <a:r>
              <a:rPr lang="en">
                <a:solidFill>
                  <a:srgbClr val="434343"/>
                </a:solidFill>
                <a:latin typeface="Manrope"/>
                <a:ea typeface="Manrope"/>
                <a:cs typeface="Manrope"/>
                <a:sym typeface="Manrope"/>
              </a:rPr>
              <a:t> because the treatment is self-selected (farmers decide whether or not to participate when the option is available in their village), rather than randomly selected (like in a randomized control trial)</a:t>
            </a:r>
            <a:endParaRPr>
              <a:solidFill>
                <a:srgbClr val="434343"/>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Char char="●"/>
            </a:pPr>
            <a:r>
              <a:rPr lang="en">
                <a:solidFill>
                  <a:srgbClr val="434343"/>
                </a:solidFill>
                <a:latin typeface="Manrope"/>
                <a:ea typeface="Manrope"/>
                <a:cs typeface="Manrope"/>
                <a:sym typeface="Manrope"/>
              </a:rPr>
              <a:t>When </a:t>
            </a:r>
            <a:r>
              <a:rPr lang="en" b="1">
                <a:solidFill>
                  <a:srgbClr val="434343"/>
                </a:solidFill>
                <a:latin typeface="Manrope"/>
                <a:ea typeface="Manrope"/>
                <a:cs typeface="Manrope"/>
                <a:sym typeface="Manrope"/>
              </a:rPr>
              <a:t>isolating this bias</a:t>
            </a:r>
            <a:r>
              <a:rPr lang="en">
                <a:solidFill>
                  <a:srgbClr val="434343"/>
                </a:solidFill>
                <a:latin typeface="Manrope"/>
                <a:ea typeface="Manrope"/>
                <a:cs typeface="Manrope"/>
                <a:sym typeface="Manrope"/>
              </a:rPr>
              <a:t>, we found that </a:t>
            </a:r>
            <a:r>
              <a:rPr lang="en" b="1">
                <a:solidFill>
                  <a:srgbClr val="434343"/>
                </a:solidFill>
                <a:latin typeface="Manrope"/>
                <a:ea typeface="Manrope"/>
                <a:cs typeface="Manrope"/>
                <a:sym typeface="Manrope"/>
              </a:rPr>
              <a:t>myAgro tends to attract farmers* who are already slightly more food secure (by about 1-3 rCSI points)</a:t>
            </a:r>
            <a:endParaRPr b="1">
              <a:solidFill>
                <a:srgbClr val="434343"/>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Char char="●"/>
            </a:pPr>
            <a:r>
              <a:rPr lang="en">
                <a:solidFill>
                  <a:srgbClr val="434343"/>
                </a:solidFill>
                <a:latin typeface="Manrope"/>
                <a:ea typeface="Manrope"/>
                <a:cs typeface="Manrope"/>
                <a:sym typeface="Manrope"/>
              </a:rPr>
              <a:t>Since we controlled for this bias, the results indicate that the program nonetheless provides additional food security benefits through the packages alone</a:t>
            </a:r>
            <a:endParaRPr>
              <a:solidFill>
                <a:srgbClr val="434343"/>
              </a:solidFill>
              <a:latin typeface="Manrope"/>
              <a:ea typeface="Manrope"/>
              <a:cs typeface="Manrope"/>
              <a:sym typeface="Manrope"/>
            </a:endParaRPr>
          </a:p>
          <a:p>
            <a:pPr marL="457200" lvl="0" indent="-317500" algn="l" rtl="0">
              <a:lnSpc>
                <a:spcPct val="115000"/>
              </a:lnSpc>
              <a:spcBef>
                <a:spcPts val="1000"/>
              </a:spcBef>
              <a:spcAft>
                <a:spcPts val="0"/>
              </a:spcAft>
              <a:buClr>
                <a:srgbClr val="434343"/>
              </a:buClr>
              <a:buSzPts val="1400"/>
              <a:buFont typeface="Manrope"/>
              <a:buChar char="●"/>
            </a:pPr>
            <a:r>
              <a:rPr lang="en">
                <a:solidFill>
                  <a:srgbClr val="434343"/>
                </a:solidFill>
                <a:latin typeface="Manrope"/>
                <a:ea typeface="Manrope"/>
                <a:cs typeface="Manrope"/>
                <a:sym typeface="Manrope"/>
              </a:rPr>
              <a:t>In other words, </a:t>
            </a:r>
            <a:r>
              <a:rPr lang="en" b="1">
                <a:solidFill>
                  <a:srgbClr val="434343"/>
                </a:solidFill>
                <a:latin typeface="Manrope"/>
                <a:ea typeface="Manrope"/>
                <a:cs typeface="Manrope"/>
                <a:sym typeface="Manrope"/>
              </a:rPr>
              <a:t>our treatment effects are not just an artifact of selection - they represent real value from the intervention itself</a:t>
            </a:r>
            <a:endParaRPr sz="1100" b="1" i="1">
              <a:solidFill>
                <a:srgbClr val="434343"/>
              </a:solidFill>
              <a:latin typeface="Manrope"/>
              <a:ea typeface="Manrope"/>
              <a:cs typeface="Manrope"/>
              <a:sym typeface="Manrope"/>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pic>
        <p:nvPicPr>
          <p:cNvPr id="265" name="Google Shape;265;p38"/>
          <p:cNvPicPr preferRelativeResize="0"/>
          <p:nvPr/>
        </p:nvPicPr>
        <p:blipFill rotWithShape="1">
          <a:blip r:embed="rId3">
            <a:alphaModFix/>
          </a:blip>
          <a:srcRect/>
          <a:stretch/>
        </p:blipFill>
        <p:spPr>
          <a:xfrm>
            <a:off x="103491" y="145580"/>
            <a:ext cx="626264" cy="507837"/>
          </a:xfrm>
          <a:prstGeom prst="rect">
            <a:avLst/>
          </a:prstGeom>
          <a:noFill/>
          <a:ln>
            <a:noFill/>
          </a:ln>
        </p:spPr>
      </p:pic>
      <p:sp>
        <p:nvSpPr>
          <p:cNvPr id="266" name="Google Shape;266;p38"/>
          <p:cNvSpPr txBox="1"/>
          <p:nvPr/>
        </p:nvSpPr>
        <p:spPr>
          <a:xfrm>
            <a:off x="854202" y="83975"/>
            <a:ext cx="82383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Other Insights | </a:t>
            </a:r>
            <a:r>
              <a:rPr lang="en" sz="3000">
                <a:solidFill>
                  <a:srgbClr val="888888"/>
                </a:solidFill>
                <a:latin typeface="Manrope SemiBold"/>
                <a:ea typeface="Manrope SemiBold"/>
                <a:cs typeface="Manrope SemiBold"/>
                <a:sym typeface="Manrope SemiBold"/>
              </a:rPr>
              <a:t>Poverty Probability Index</a:t>
            </a:r>
            <a:endParaRPr sz="2200">
              <a:solidFill>
                <a:srgbClr val="888888"/>
              </a:solidFill>
              <a:latin typeface="Manrope SemiBold"/>
              <a:ea typeface="Manrope SemiBold"/>
              <a:cs typeface="Manrope SemiBold"/>
              <a:sym typeface="Manrope SemiBold"/>
            </a:endParaRPr>
          </a:p>
        </p:txBody>
      </p:sp>
      <p:pic>
        <p:nvPicPr>
          <p:cNvPr id="267" name="Google Shape;267;p38"/>
          <p:cNvPicPr preferRelativeResize="0"/>
          <p:nvPr/>
        </p:nvPicPr>
        <p:blipFill rotWithShape="1">
          <a:blip r:embed="rId4">
            <a:alphaModFix/>
          </a:blip>
          <a:srcRect l="9305" r="1216" b="18890"/>
          <a:stretch/>
        </p:blipFill>
        <p:spPr>
          <a:xfrm>
            <a:off x="103500" y="714179"/>
            <a:ext cx="6931425" cy="4172725"/>
          </a:xfrm>
          <a:prstGeom prst="rect">
            <a:avLst/>
          </a:prstGeom>
          <a:noFill/>
          <a:ln>
            <a:noFill/>
          </a:ln>
        </p:spPr>
      </p:pic>
      <p:graphicFrame>
        <p:nvGraphicFramePr>
          <p:cNvPr id="268" name="Google Shape;268;p38"/>
          <p:cNvGraphicFramePr/>
          <p:nvPr/>
        </p:nvGraphicFramePr>
        <p:xfrm>
          <a:off x="7049877" y="1346500"/>
          <a:ext cx="2005750" cy="2925870"/>
        </p:xfrm>
        <a:graphic>
          <a:graphicData uri="http://schemas.openxmlformats.org/drawingml/2006/table">
            <a:tbl>
              <a:tblPr>
                <a:noFill/>
                <a:tableStyleId>{30DB1E6E-BAFB-4045-8679-1D4DE15F8355}</a:tableStyleId>
              </a:tblPr>
              <a:tblGrid>
                <a:gridCol w="599075">
                  <a:extLst>
                    <a:ext uri="{9D8B030D-6E8A-4147-A177-3AD203B41FA5}">
                      <a16:colId xmlns:a16="http://schemas.microsoft.com/office/drawing/2014/main" val="20000"/>
                    </a:ext>
                  </a:extLst>
                </a:gridCol>
                <a:gridCol w="738100">
                  <a:extLst>
                    <a:ext uri="{9D8B030D-6E8A-4147-A177-3AD203B41FA5}">
                      <a16:colId xmlns:a16="http://schemas.microsoft.com/office/drawing/2014/main" val="20001"/>
                    </a:ext>
                  </a:extLst>
                </a:gridCol>
                <a:gridCol w="668575">
                  <a:extLst>
                    <a:ext uri="{9D8B030D-6E8A-4147-A177-3AD203B41FA5}">
                      <a16:colId xmlns:a16="http://schemas.microsoft.com/office/drawing/2014/main" val="20002"/>
                    </a:ext>
                  </a:extLst>
                </a:gridCol>
              </a:tblGrid>
              <a:tr h="437825">
                <a:tc gridSpan="3">
                  <a:txBody>
                    <a:bodyPr/>
                    <a:lstStyle/>
                    <a:p>
                      <a:pPr marL="0" lvl="0" indent="0" algn="ctr" rtl="0">
                        <a:spcBef>
                          <a:spcPts val="0"/>
                        </a:spcBef>
                        <a:spcAft>
                          <a:spcPts val="0"/>
                        </a:spcAft>
                        <a:buNone/>
                      </a:pPr>
                      <a:r>
                        <a:rPr lang="en" sz="900" b="1">
                          <a:solidFill>
                            <a:schemeClr val="lt1"/>
                          </a:solidFill>
                        </a:rPr>
                        <a:t>Household PPI Summary Statistics</a:t>
                      </a:r>
                      <a:endParaRPr sz="900" b="1">
                        <a:solidFill>
                          <a:schemeClr val="lt1"/>
                        </a:solidFill>
                      </a:endParaRPr>
                    </a:p>
                    <a:p>
                      <a:pPr marL="0" lvl="0" indent="0" algn="ctr" rtl="0">
                        <a:spcBef>
                          <a:spcPts val="0"/>
                        </a:spcBef>
                        <a:spcAft>
                          <a:spcPts val="0"/>
                        </a:spcAft>
                        <a:buNone/>
                      </a:pPr>
                      <a:r>
                        <a:rPr lang="en" sz="900">
                          <a:solidFill>
                            <a:schemeClr val="lt1"/>
                          </a:solidFill>
                        </a:rPr>
                        <a:t>Higher score = lower poverty likelihood</a:t>
                      </a:r>
                      <a:endParaRPr sz="900">
                        <a:solidFill>
                          <a:schemeClr val="lt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D411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06475">
                <a:tc>
                  <a:txBody>
                    <a:bodyPr/>
                    <a:lstStyle/>
                    <a:p>
                      <a:pPr marL="0" lvl="0" indent="0" algn="ctr" rtl="0">
                        <a:spcBef>
                          <a:spcPts val="0"/>
                        </a:spcBef>
                        <a:spcAft>
                          <a:spcPts val="0"/>
                        </a:spcAft>
                        <a:buNone/>
                      </a:pPr>
                      <a:endParaRPr sz="900" b="1">
                        <a:solidFill>
                          <a:schemeClr val="lt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900" b="1">
                          <a:solidFill>
                            <a:schemeClr val="lt1"/>
                          </a:solidFill>
                        </a:rPr>
                        <a:t>Treatment</a:t>
                      </a:r>
                      <a:endParaRPr sz="900" b="1">
                        <a:solidFill>
                          <a:schemeClr val="lt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900" b="1">
                          <a:solidFill>
                            <a:schemeClr val="lt1"/>
                          </a:solidFill>
                        </a:rPr>
                        <a:t>Control</a:t>
                      </a:r>
                      <a:endParaRPr sz="900" b="1">
                        <a:solidFill>
                          <a:schemeClr val="lt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97B30"/>
                    </a:solidFill>
                  </a:tcPr>
                </a:tc>
                <a:extLst>
                  <a:ext uri="{0D108BD9-81ED-4DB2-BD59-A6C34878D82A}">
                    <a16:rowId xmlns:a16="http://schemas.microsoft.com/office/drawing/2014/main" val="10001"/>
                  </a:ext>
                </a:extLst>
              </a:tr>
              <a:tr h="306475">
                <a:tc>
                  <a:txBody>
                    <a:bodyPr/>
                    <a:lstStyle/>
                    <a:p>
                      <a:pPr marL="0" lvl="0" indent="0" algn="ctr" rtl="0">
                        <a:spcBef>
                          <a:spcPts val="0"/>
                        </a:spcBef>
                        <a:spcAft>
                          <a:spcPts val="0"/>
                        </a:spcAft>
                        <a:buNone/>
                      </a:pPr>
                      <a:r>
                        <a:rPr lang="en" sz="900" b="1">
                          <a:solidFill>
                            <a:schemeClr val="lt1"/>
                          </a:solidFill>
                        </a:rPr>
                        <a:t>Mean</a:t>
                      </a:r>
                      <a:endParaRPr sz="900" b="1">
                        <a:solidFill>
                          <a:schemeClr val="lt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900">
                          <a:solidFill>
                            <a:srgbClr val="434343"/>
                          </a:solidFill>
                        </a:rPr>
                        <a:t>39.57</a:t>
                      </a:r>
                      <a:endParaRPr sz="900">
                        <a:solidFill>
                          <a:srgbClr val="434343"/>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900">
                          <a:solidFill>
                            <a:srgbClr val="434343"/>
                          </a:solidFill>
                        </a:rPr>
                        <a:t>36.71</a:t>
                      </a:r>
                      <a:endParaRPr sz="900">
                        <a:solidFill>
                          <a:srgbClr val="434343"/>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06475">
                <a:tc>
                  <a:txBody>
                    <a:bodyPr/>
                    <a:lstStyle/>
                    <a:p>
                      <a:pPr marL="0" lvl="0" indent="0" algn="ctr" rtl="0">
                        <a:spcBef>
                          <a:spcPts val="0"/>
                        </a:spcBef>
                        <a:spcAft>
                          <a:spcPts val="0"/>
                        </a:spcAft>
                        <a:buNone/>
                      </a:pPr>
                      <a:r>
                        <a:rPr lang="en" sz="900" b="1">
                          <a:solidFill>
                            <a:schemeClr val="lt1"/>
                          </a:solidFill>
                        </a:rPr>
                        <a:t>Median</a:t>
                      </a:r>
                      <a:endParaRPr sz="900" b="1">
                        <a:solidFill>
                          <a:schemeClr val="lt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900">
                          <a:solidFill>
                            <a:srgbClr val="434343"/>
                          </a:solidFill>
                        </a:rPr>
                        <a:t>40</a:t>
                      </a:r>
                      <a:endParaRPr sz="900">
                        <a:solidFill>
                          <a:srgbClr val="434343"/>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900">
                          <a:solidFill>
                            <a:srgbClr val="434343"/>
                          </a:solidFill>
                        </a:rPr>
                        <a:t>38</a:t>
                      </a:r>
                      <a:endParaRPr sz="900">
                        <a:solidFill>
                          <a:srgbClr val="434343"/>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06475">
                <a:tc>
                  <a:txBody>
                    <a:bodyPr/>
                    <a:lstStyle/>
                    <a:p>
                      <a:pPr marL="0" lvl="0" indent="0" algn="ctr" rtl="0">
                        <a:spcBef>
                          <a:spcPts val="0"/>
                        </a:spcBef>
                        <a:spcAft>
                          <a:spcPts val="0"/>
                        </a:spcAft>
                        <a:buNone/>
                      </a:pPr>
                      <a:r>
                        <a:rPr lang="en" sz="900" b="1">
                          <a:solidFill>
                            <a:schemeClr val="lt1"/>
                          </a:solidFill>
                        </a:rPr>
                        <a:t>SD</a:t>
                      </a:r>
                      <a:endParaRPr sz="900" b="1">
                        <a:solidFill>
                          <a:schemeClr val="lt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None/>
                      </a:pPr>
                      <a:r>
                        <a:rPr lang="en" sz="900">
                          <a:solidFill>
                            <a:srgbClr val="434343"/>
                          </a:solidFill>
                        </a:rPr>
                        <a:t>15.33</a:t>
                      </a:r>
                      <a:endParaRPr sz="900">
                        <a:solidFill>
                          <a:srgbClr val="434343"/>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900">
                          <a:solidFill>
                            <a:srgbClr val="434343"/>
                          </a:solidFill>
                        </a:rPr>
                        <a:t>16.17</a:t>
                      </a:r>
                      <a:endParaRPr sz="900">
                        <a:solidFill>
                          <a:srgbClr val="434343"/>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06475">
                <a:tc gridSpan="3">
                  <a:txBody>
                    <a:bodyPr/>
                    <a:lstStyle/>
                    <a:p>
                      <a:pPr marL="0" lvl="0" indent="0" algn="ctr" rtl="0">
                        <a:spcBef>
                          <a:spcPts val="0"/>
                        </a:spcBef>
                        <a:spcAft>
                          <a:spcPts val="0"/>
                        </a:spcAft>
                        <a:buNone/>
                      </a:pPr>
                      <a:r>
                        <a:rPr lang="en" sz="900" b="1">
                          <a:solidFill>
                            <a:srgbClr val="197B30"/>
                          </a:solidFill>
                        </a:rPr>
                        <a:t>Range overlap:</a:t>
                      </a:r>
                      <a:r>
                        <a:rPr lang="en" sz="900">
                          <a:solidFill>
                            <a:srgbClr val="434343"/>
                          </a:solidFill>
                        </a:rPr>
                        <a:t> [5, 88]</a:t>
                      </a:r>
                      <a:endParaRPr sz="900">
                        <a:solidFill>
                          <a:srgbClr val="434343"/>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569175">
                <a:tc gridSpan="3">
                  <a:txBody>
                    <a:bodyPr/>
                    <a:lstStyle/>
                    <a:p>
                      <a:pPr marL="0" lvl="0" indent="0" algn="ctr" rtl="0">
                        <a:spcBef>
                          <a:spcPts val="0"/>
                        </a:spcBef>
                        <a:spcAft>
                          <a:spcPts val="0"/>
                        </a:spcAft>
                        <a:buNone/>
                      </a:pPr>
                      <a:r>
                        <a:rPr lang="en" sz="900" b="1">
                          <a:solidFill>
                            <a:srgbClr val="197B30"/>
                          </a:solidFill>
                        </a:rPr>
                        <a:t>Overlap coefficient:</a:t>
                      </a:r>
                      <a:r>
                        <a:rPr lang="en" sz="900">
                          <a:solidFill>
                            <a:srgbClr val="434343"/>
                          </a:solidFill>
                        </a:rPr>
                        <a:t> 0.853 (Excellent: The control sample is a valid comparison group)</a:t>
                      </a:r>
                      <a:endParaRPr sz="900">
                        <a:solidFill>
                          <a:srgbClr val="434343"/>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graphicFrame>
        <p:nvGraphicFramePr>
          <p:cNvPr id="273" name="Google Shape;273;p39"/>
          <p:cNvGraphicFramePr/>
          <p:nvPr>
            <p:extLst>
              <p:ext uri="{D42A27DB-BD31-4B8C-83A1-F6EECF244321}">
                <p14:modId xmlns:p14="http://schemas.microsoft.com/office/powerpoint/2010/main" val="4133692512"/>
              </p:ext>
            </p:extLst>
          </p:nvPr>
        </p:nvGraphicFramePr>
        <p:xfrm>
          <a:off x="600675" y="838158"/>
          <a:ext cx="7899586" cy="4052925"/>
        </p:xfrm>
        <a:graphic>
          <a:graphicData uri="http://schemas.openxmlformats.org/drawingml/2006/table">
            <a:tbl>
              <a:tblPr>
                <a:noFill/>
                <a:tableStyleId>{30DB1E6E-BAFB-4045-8679-1D4DE15F8355}</a:tableStyleId>
              </a:tblPr>
              <a:tblGrid>
                <a:gridCol w="2074699">
                  <a:extLst>
                    <a:ext uri="{9D8B030D-6E8A-4147-A177-3AD203B41FA5}">
                      <a16:colId xmlns:a16="http://schemas.microsoft.com/office/drawing/2014/main" val="20000"/>
                    </a:ext>
                  </a:extLst>
                </a:gridCol>
                <a:gridCol w="3864415">
                  <a:extLst>
                    <a:ext uri="{9D8B030D-6E8A-4147-A177-3AD203B41FA5}">
                      <a16:colId xmlns:a16="http://schemas.microsoft.com/office/drawing/2014/main" val="20001"/>
                    </a:ext>
                  </a:extLst>
                </a:gridCol>
                <a:gridCol w="1960472">
                  <a:extLst>
                    <a:ext uri="{9D8B030D-6E8A-4147-A177-3AD203B41FA5}">
                      <a16:colId xmlns:a16="http://schemas.microsoft.com/office/drawing/2014/main" val="20003"/>
                    </a:ext>
                  </a:extLst>
                </a:gridCol>
              </a:tblGrid>
              <a:tr h="406200">
                <a:tc>
                  <a:txBody>
                    <a:bodyPr/>
                    <a:lstStyle/>
                    <a:p>
                      <a:pPr marL="0" lvl="0" indent="0" algn="ctr" rtl="0">
                        <a:spcBef>
                          <a:spcPts val="0"/>
                        </a:spcBef>
                        <a:spcAft>
                          <a:spcPts val="0"/>
                        </a:spcAft>
                        <a:buNone/>
                      </a:pPr>
                      <a:endParaRPr sz="1200" b="1">
                        <a:solidFill>
                          <a:srgbClr val="FFFFFF"/>
                        </a:solidFill>
                        <a:latin typeface="Manrope"/>
                        <a:ea typeface="Manrope"/>
                        <a:cs typeface="Manrope"/>
                        <a:sym typeface="Manrope"/>
                      </a:endParaRPr>
                    </a:p>
                  </a:txBody>
                  <a:tcPr marL="63500" marR="63500" marT="63500" marB="63500">
                    <a:lnL w="12700" cap="flat" cmpd="sng">
                      <a:solidFill>
                        <a:srgbClr val="434343">
                          <a:alpha val="0"/>
                        </a:srgbClr>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434343">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200" b="1">
                          <a:solidFill>
                            <a:schemeClr val="lt1"/>
                          </a:solidFill>
                          <a:latin typeface="Manrope"/>
                          <a:ea typeface="Manrope"/>
                          <a:cs typeface="Manrope"/>
                          <a:sym typeface="Manrope"/>
                        </a:rPr>
                        <a:t>Definition</a:t>
                      </a:r>
                      <a:endParaRPr sz="1200">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ctr" rtl="0">
                        <a:spcBef>
                          <a:spcPts val="0"/>
                        </a:spcBef>
                        <a:spcAft>
                          <a:spcPts val="0"/>
                        </a:spcAft>
                        <a:buClr>
                          <a:schemeClr val="dk1"/>
                        </a:buClr>
                        <a:buSzPts val="1100"/>
                        <a:buFont typeface="Arial"/>
                        <a:buNone/>
                      </a:pPr>
                      <a:r>
                        <a:rPr lang="en" sz="1200" b="1" dirty="0">
                          <a:solidFill>
                            <a:schemeClr val="lt1"/>
                          </a:solidFill>
                          <a:latin typeface="Manrope"/>
                          <a:ea typeface="Manrope"/>
                          <a:cs typeface="Manrope"/>
                          <a:sym typeface="Manrope"/>
                        </a:rPr>
                        <a:t>External Resources</a:t>
                      </a:r>
                      <a:endParaRPr sz="1200" dirty="0">
                        <a:latin typeface="Manrope"/>
                        <a:ea typeface="Manrope"/>
                        <a:cs typeface="Manrope"/>
                        <a:sym typeface="Manrope"/>
                      </a:endParaRPr>
                    </a:p>
                  </a:txBody>
                  <a:tcPr marL="63500" marR="63500" marT="63500" marB="63500">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197B30"/>
                    </a:solidFill>
                  </a:tcPr>
                </a:tc>
                <a:extLst>
                  <a:ext uri="{0D108BD9-81ED-4DB2-BD59-A6C34878D82A}">
                    <a16:rowId xmlns:a16="http://schemas.microsoft.com/office/drawing/2014/main" val="10000"/>
                  </a:ext>
                </a:extLst>
              </a:tr>
              <a:tr h="889175">
                <a:tc>
                  <a:txBody>
                    <a:bodyPr/>
                    <a:lstStyle/>
                    <a:p>
                      <a:pPr marL="0" lvl="0" indent="0" algn="ctr" rtl="0">
                        <a:spcBef>
                          <a:spcPts val="0"/>
                        </a:spcBef>
                        <a:spcAft>
                          <a:spcPts val="0"/>
                        </a:spcAft>
                        <a:buNone/>
                      </a:pPr>
                      <a:r>
                        <a:rPr lang="en" sz="1000" b="1">
                          <a:solidFill>
                            <a:srgbClr val="FFFFFF"/>
                          </a:solidFill>
                          <a:latin typeface="Manrope"/>
                          <a:ea typeface="Manrope"/>
                          <a:cs typeface="Manrope"/>
                          <a:sym typeface="Manrope"/>
                        </a:rPr>
                        <a:t>Theory of Change (ToC)</a:t>
                      </a:r>
                      <a:endParaRPr sz="10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l" rtl="0">
                        <a:spcBef>
                          <a:spcPts val="0"/>
                        </a:spcBef>
                        <a:spcAft>
                          <a:spcPts val="0"/>
                        </a:spcAft>
                        <a:buNone/>
                      </a:pPr>
                      <a:r>
                        <a:rPr lang="en" sz="900">
                          <a:solidFill>
                            <a:srgbClr val="434343"/>
                          </a:solidFill>
                          <a:latin typeface="Manrope"/>
                          <a:ea typeface="Manrope"/>
                          <a:cs typeface="Manrope"/>
                          <a:sym typeface="Manrope"/>
                        </a:rPr>
                        <a:t>A framework that outlines how and why a particular intervention or program is expected to lead to desired outcomes and impacts. It includes outcome indicators that help demonstrate whether reality matches the expected results.</a:t>
                      </a:r>
                      <a:endParaRPr sz="9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900" u="sng">
                          <a:solidFill>
                            <a:schemeClr val="hlink"/>
                          </a:solidFill>
                          <a:latin typeface="Manrope"/>
                          <a:ea typeface="Manrope"/>
                          <a:cs typeface="Manrope"/>
                          <a:sym typeface="Manrope"/>
                          <a:hlinkClick r:id="rId3"/>
                        </a:rPr>
                        <a:t>About the Theory of Change (IDinsight Impact Measurement Guide)</a:t>
                      </a:r>
                      <a:endParaRPr sz="900">
                        <a:latin typeface="Manrope"/>
                        <a:ea typeface="Manrope"/>
                        <a:cs typeface="Manrope"/>
                        <a:sym typeface="Manrope"/>
                      </a:endParaRPr>
                    </a:p>
                  </a:txBody>
                  <a:tcPr marL="63500" marR="63500" marT="63500" marB="63500">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89175">
                <a:tc>
                  <a:txBody>
                    <a:bodyPr/>
                    <a:lstStyle/>
                    <a:p>
                      <a:pPr marL="0" lvl="0" indent="0" algn="ctr" rtl="0">
                        <a:spcBef>
                          <a:spcPts val="0"/>
                        </a:spcBef>
                        <a:spcAft>
                          <a:spcPts val="0"/>
                        </a:spcAft>
                        <a:buNone/>
                      </a:pPr>
                      <a:r>
                        <a:rPr lang="en" sz="1000" b="1">
                          <a:solidFill>
                            <a:srgbClr val="FFFFFF"/>
                          </a:solidFill>
                          <a:latin typeface="Manrope"/>
                          <a:ea typeface="Manrope"/>
                          <a:cs typeface="Manrope"/>
                          <a:sym typeface="Manrope"/>
                        </a:rPr>
                        <a:t>Reduced Coping Strategies Index (rCSI)</a:t>
                      </a:r>
                      <a:endParaRPr sz="10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l" rtl="0">
                        <a:spcBef>
                          <a:spcPts val="0"/>
                        </a:spcBef>
                        <a:spcAft>
                          <a:spcPts val="0"/>
                        </a:spcAft>
                        <a:buNone/>
                      </a:pPr>
                      <a:r>
                        <a:rPr lang="en" sz="900" dirty="0">
                          <a:solidFill>
                            <a:srgbClr val="434343"/>
                          </a:solidFill>
                          <a:latin typeface="Manrope"/>
                          <a:ea typeface="Manrope"/>
                          <a:cs typeface="Manrope"/>
                          <a:sym typeface="Manrope"/>
                        </a:rPr>
                        <a:t>Measures the frequency and severity of short-term behavioral strategies a household uses when it cannot access enough food or money to buy food. A higher score indicates more coping, and therefore higher food insecurity.</a:t>
                      </a:r>
                      <a:endParaRPr sz="900" dirty="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tc>
                  <a:txBody>
                    <a:bodyPr/>
                    <a:lstStyle/>
                    <a:p>
                      <a:pPr marL="0" lvl="0" indent="0" algn="l" rtl="0">
                        <a:spcBef>
                          <a:spcPts val="0"/>
                        </a:spcBef>
                        <a:spcAft>
                          <a:spcPts val="0"/>
                        </a:spcAft>
                        <a:buNone/>
                      </a:pPr>
                      <a:r>
                        <a:rPr lang="en" sz="900" u="sng">
                          <a:solidFill>
                            <a:schemeClr val="hlink"/>
                          </a:solidFill>
                          <a:latin typeface="Manrope"/>
                          <a:ea typeface="Manrope"/>
                          <a:cs typeface="Manrope"/>
                          <a:sym typeface="Manrope"/>
                          <a:hlinkClick r:id="rId4"/>
                        </a:rPr>
                        <a:t>The Coping Strategies Index Field Methods Manual (2008)</a:t>
                      </a:r>
                      <a:endParaRPr sz="900">
                        <a:latin typeface="Manrope"/>
                        <a:ea typeface="Manrope"/>
                        <a:cs typeface="Manrope"/>
                        <a:sym typeface="Manrope"/>
                      </a:endParaRPr>
                    </a:p>
                    <a:p>
                      <a:pPr marL="0" lvl="0" indent="0" algn="l" rtl="0">
                        <a:spcBef>
                          <a:spcPts val="0"/>
                        </a:spcBef>
                        <a:spcAft>
                          <a:spcPts val="0"/>
                        </a:spcAft>
                        <a:buNone/>
                      </a:pPr>
                      <a:endParaRPr sz="900">
                        <a:latin typeface="Manrope"/>
                        <a:ea typeface="Manrope"/>
                        <a:cs typeface="Manrope"/>
                        <a:sym typeface="Manrope"/>
                      </a:endParaRPr>
                    </a:p>
                    <a:p>
                      <a:pPr marL="0" lvl="0" indent="0" algn="l" rtl="0">
                        <a:spcBef>
                          <a:spcPts val="0"/>
                        </a:spcBef>
                        <a:spcAft>
                          <a:spcPts val="0"/>
                        </a:spcAft>
                        <a:buNone/>
                      </a:pPr>
                      <a:r>
                        <a:rPr lang="en" sz="900" u="sng">
                          <a:solidFill>
                            <a:schemeClr val="hlink"/>
                          </a:solidFill>
                          <a:latin typeface="Manrope"/>
                          <a:ea typeface="Manrope"/>
                          <a:cs typeface="Manrope"/>
                          <a:sym typeface="Manrope"/>
                          <a:hlinkClick r:id="rId5"/>
                        </a:rPr>
                        <a:t>IndiKit Indicators: rCSI</a:t>
                      </a:r>
                      <a:endParaRPr sz="900">
                        <a:latin typeface="Manrope"/>
                        <a:ea typeface="Manrope"/>
                        <a:cs typeface="Manrope"/>
                        <a:sym typeface="Manrope"/>
                      </a:endParaRPr>
                    </a:p>
                  </a:txBody>
                  <a:tcPr marL="63500" marR="63500" marT="63500" marB="63500">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2"/>
                  </a:ext>
                </a:extLst>
              </a:tr>
              <a:tr h="979200">
                <a:tc>
                  <a:txBody>
                    <a:bodyPr/>
                    <a:lstStyle/>
                    <a:p>
                      <a:pPr marL="0" lvl="0" indent="0" algn="ctr" rtl="0">
                        <a:spcBef>
                          <a:spcPts val="0"/>
                        </a:spcBef>
                        <a:spcAft>
                          <a:spcPts val="0"/>
                        </a:spcAft>
                        <a:buNone/>
                      </a:pPr>
                      <a:r>
                        <a:rPr lang="en" sz="1000" b="1">
                          <a:solidFill>
                            <a:srgbClr val="FFFFFF"/>
                          </a:solidFill>
                          <a:latin typeface="Manrope"/>
                          <a:ea typeface="Manrope"/>
                          <a:cs typeface="Manrope"/>
                          <a:sym typeface="Manrope"/>
                        </a:rPr>
                        <a:t>Integrated Food Security Phase Classification (IPC)</a:t>
                      </a:r>
                      <a:endParaRPr sz="10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l" rtl="0">
                        <a:lnSpc>
                          <a:spcPct val="115000"/>
                        </a:lnSpc>
                        <a:spcBef>
                          <a:spcPts val="1000"/>
                        </a:spcBef>
                        <a:spcAft>
                          <a:spcPts val="0"/>
                        </a:spcAft>
                        <a:buClr>
                          <a:schemeClr val="dk1"/>
                        </a:buClr>
                        <a:buSzPts val="1100"/>
                        <a:buFont typeface="Arial"/>
                        <a:buNone/>
                      </a:pPr>
                      <a:r>
                        <a:rPr lang="en" sz="900">
                          <a:solidFill>
                            <a:srgbClr val="434343"/>
                          </a:solidFill>
                          <a:latin typeface="Manrope"/>
                          <a:ea typeface="Manrope"/>
                          <a:cs typeface="Manrope"/>
                          <a:sym typeface="Manrope"/>
                        </a:rPr>
                        <a:t>A classification framework used to determine the severity and extent of acute and chronic food insecurity and acute malnutrition situations within countries, according to internationally recognised standards.</a:t>
                      </a:r>
                      <a:endParaRPr sz="9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lnSpc>
                          <a:spcPct val="115000"/>
                        </a:lnSpc>
                        <a:spcBef>
                          <a:spcPts val="1000"/>
                        </a:spcBef>
                        <a:spcAft>
                          <a:spcPts val="0"/>
                        </a:spcAft>
                        <a:buNone/>
                      </a:pPr>
                      <a:r>
                        <a:rPr lang="en" sz="900" u="sng">
                          <a:solidFill>
                            <a:schemeClr val="hlink"/>
                          </a:solidFill>
                          <a:latin typeface="Manrope"/>
                          <a:ea typeface="Manrope"/>
                          <a:cs typeface="Manrope"/>
                          <a:sym typeface="Manrope"/>
                          <a:hlinkClick r:id="rId6"/>
                        </a:rPr>
                        <a:t>IPC Overview</a:t>
                      </a:r>
                      <a:endParaRPr sz="900">
                        <a:latin typeface="Manrope"/>
                        <a:ea typeface="Manrope"/>
                        <a:cs typeface="Manrope"/>
                        <a:sym typeface="Manrope"/>
                      </a:endParaRPr>
                    </a:p>
                    <a:p>
                      <a:pPr marL="0" lvl="0" indent="0" algn="l" rtl="0">
                        <a:lnSpc>
                          <a:spcPct val="115000"/>
                        </a:lnSpc>
                        <a:spcBef>
                          <a:spcPts val="1000"/>
                        </a:spcBef>
                        <a:spcAft>
                          <a:spcPts val="0"/>
                        </a:spcAft>
                        <a:buNone/>
                      </a:pPr>
                      <a:endParaRPr sz="900">
                        <a:latin typeface="Manrope"/>
                        <a:ea typeface="Manrope"/>
                        <a:cs typeface="Manrope"/>
                        <a:sym typeface="Manrope"/>
                      </a:endParaRPr>
                    </a:p>
                    <a:p>
                      <a:pPr marL="0" lvl="0" indent="0" algn="l" rtl="0">
                        <a:spcBef>
                          <a:spcPts val="0"/>
                        </a:spcBef>
                        <a:spcAft>
                          <a:spcPts val="0"/>
                        </a:spcAft>
                        <a:buClr>
                          <a:schemeClr val="dk1"/>
                        </a:buClr>
                        <a:buSzPts val="1100"/>
                        <a:buFont typeface="Arial"/>
                        <a:buNone/>
                      </a:pPr>
                      <a:r>
                        <a:rPr lang="en" sz="900" u="sng">
                          <a:solidFill>
                            <a:schemeClr val="hlink"/>
                          </a:solidFill>
                          <a:latin typeface="Manrope"/>
                          <a:ea typeface="Manrope"/>
                          <a:cs typeface="Manrope"/>
                          <a:sym typeface="Manrope"/>
                          <a:hlinkClick r:id="rId5"/>
                        </a:rPr>
                        <a:t>IndiKit Indicators: rCSI to IPC phase coding guidance</a:t>
                      </a:r>
                      <a:endParaRPr sz="900">
                        <a:latin typeface="Manrope"/>
                        <a:ea typeface="Manrope"/>
                        <a:cs typeface="Manrope"/>
                        <a:sym typeface="Manrope"/>
                      </a:endParaRPr>
                    </a:p>
                  </a:txBody>
                  <a:tcPr marL="63500" marR="63500" marT="63500" marB="63500">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889175">
                <a:tc>
                  <a:txBody>
                    <a:bodyPr/>
                    <a:lstStyle/>
                    <a:p>
                      <a:pPr marL="0" lvl="0" indent="0" algn="ctr" rtl="0">
                        <a:spcBef>
                          <a:spcPts val="0"/>
                        </a:spcBef>
                        <a:spcAft>
                          <a:spcPts val="0"/>
                        </a:spcAft>
                        <a:buNone/>
                      </a:pPr>
                      <a:r>
                        <a:rPr lang="en" sz="1000" b="1">
                          <a:solidFill>
                            <a:srgbClr val="FFFFFF"/>
                          </a:solidFill>
                          <a:latin typeface="Manrope"/>
                          <a:ea typeface="Manrope"/>
                          <a:cs typeface="Manrope"/>
                          <a:sym typeface="Manrope"/>
                        </a:rPr>
                        <a:t>Poverty Probability Index (PPI)</a:t>
                      </a:r>
                      <a:endParaRPr sz="1000" b="1">
                        <a:solidFill>
                          <a:srgbClr val="FFFFFF"/>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97B30"/>
                    </a:solidFill>
                  </a:tcPr>
                </a:tc>
                <a:tc>
                  <a:txBody>
                    <a:bodyPr/>
                    <a:lstStyle/>
                    <a:p>
                      <a:pPr marL="0" lvl="0" indent="0" algn="l" rtl="0">
                        <a:spcBef>
                          <a:spcPts val="0"/>
                        </a:spcBef>
                        <a:spcAft>
                          <a:spcPts val="0"/>
                        </a:spcAft>
                        <a:buNone/>
                      </a:pPr>
                      <a:r>
                        <a:rPr lang="en" sz="900">
                          <a:solidFill>
                            <a:srgbClr val="434343"/>
                          </a:solidFill>
                          <a:latin typeface="Manrope"/>
                          <a:ea typeface="Manrope"/>
                          <a:cs typeface="Manrope"/>
                          <a:sym typeface="Manrope"/>
                        </a:rPr>
                        <a:t>A simple yet statistically-sound poverty measurement tool that scores the answers to 10 questions about a household’s characteristics and asset ownership. The PPI score may be used to compute the likelihood that the household is living below the poverty line.</a:t>
                      </a:r>
                      <a:endParaRPr sz="900">
                        <a:solidFill>
                          <a:srgbClr val="434343"/>
                        </a:solidFill>
                        <a:latin typeface="Manrope"/>
                        <a:ea typeface="Manrope"/>
                        <a:cs typeface="Manrope"/>
                        <a:sym typeface="Manrope"/>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tc>
                  <a:txBody>
                    <a:bodyPr/>
                    <a:lstStyle/>
                    <a:p>
                      <a:pPr marL="0" lvl="0" indent="0" algn="l" rtl="0">
                        <a:spcBef>
                          <a:spcPts val="0"/>
                        </a:spcBef>
                        <a:spcAft>
                          <a:spcPts val="0"/>
                        </a:spcAft>
                        <a:buNone/>
                      </a:pPr>
                      <a:r>
                        <a:rPr lang="en" sz="900" u="sng" dirty="0">
                          <a:solidFill>
                            <a:schemeClr val="hlink"/>
                          </a:solidFill>
                          <a:latin typeface="Manrope"/>
                          <a:ea typeface="Manrope"/>
                          <a:cs typeface="Manrope"/>
                          <a:sym typeface="Manrope"/>
                          <a:hlinkClick r:id="rId7"/>
                        </a:rPr>
                        <a:t>About PPI</a:t>
                      </a:r>
                      <a:endParaRPr sz="900" dirty="0">
                        <a:latin typeface="Manrope"/>
                        <a:ea typeface="Manrope"/>
                        <a:cs typeface="Manrope"/>
                        <a:sym typeface="Manrope"/>
                      </a:endParaRPr>
                    </a:p>
                  </a:txBody>
                  <a:tcPr marL="63500" marR="63500" marT="63500" marB="63500">
                    <a:lnL w="12700" cap="flat" cmpd="sng" algn="ctr">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9EAD3"/>
                    </a:solidFill>
                  </a:tcPr>
                </a:tc>
                <a:extLst>
                  <a:ext uri="{0D108BD9-81ED-4DB2-BD59-A6C34878D82A}">
                    <a16:rowId xmlns:a16="http://schemas.microsoft.com/office/drawing/2014/main" val="10004"/>
                  </a:ext>
                </a:extLst>
              </a:tr>
            </a:tbl>
          </a:graphicData>
        </a:graphic>
      </p:graphicFrame>
      <p:sp>
        <p:nvSpPr>
          <p:cNvPr id="274" name="Google Shape;274;p39"/>
          <p:cNvSpPr txBox="1"/>
          <p:nvPr/>
        </p:nvSpPr>
        <p:spPr>
          <a:xfrm>
            <a:off x="854201" y="83975"/>
            <a:ext cx="7689000" cy="600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sz="3000">
                <a:solidFill>
                  <a:schemeClr val="dk1"/>
                </a:solidFill>
                <a:latin typeface="Manrope SemiBold"/>
                <a:ea typeface="Manrope SemiBold"/>
                <a:cs typeface="Manrope SemiBold"/>
                <a:sym typeface="Manrope SemiBold"/>
              </a:rPr>
              <a:t>Appendix A | </a:t>
            </a:r>
            <a:r>
              <a:rPr lang="en" sz="3000">
                <a:solidFill>
                  <a:srgbClr val="888888"/>
                </a:solidFill>
                <a:latin typeface="Manrope SemiBold"/>
                <a:ea typeface="Manrope SemiBold"/>
                <a:cs typeface="Manrope SemiBold"/>
                <a:sym typeface="Manrope SemiBold"/>
              </a:rPr>
              <a:t>Key Terms</a:t>
            </a:r>
            <a:endParaRPr sz="2200">
              <a:solidFill>
                <a:srgbClr val="888888"/>
              </a:solidFill>
              <a:latin typeface="Manrope SemiBold"/>
              <a:ea typeface="Manrope SemiBold"/>
              <a:cs typeface="Manrope SemiBold"/>
              <a:sym typeface="Manrope SemiBold"/>
            </a:endParaRPr>
          </a:p>
        </p:txBody>
      </p:sp>
      <p:pic>
        <p:nvPicPr>
          <p:cNvPr id="275" name="Google Shape;275;p39"/>
          <p:cNvPicPr preferRelativeResize="0"/>
          <p:nvPr/>
        </p:nvPicPr>
        <p:blipFill rotWithShape="1">
          <a:blip r:embed="rId8">
            <a:alphaModFix/>
          </a:blip>
          <a:srcRect/>
          <a:stretch/>
        </p:blipFill>
        <p:spPr>
          <a:xfrm>
            <a:off x="103491" y="145580"/>
            <a:ext cx="626264" cy="50783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C7138"/>
      </a:dk2>
      <a:lt2>
        <a:srgbClr val="EEECE1"/>
      </a:lt2>
      <a:accent1>
        <a:srgbClr val="1C7138"/>
      </a:accent1>
      <a:accent2>
        <a:srgbClr val="FDBA16"/>
      </a:accent2>
      <a:accent3>
        <a:srgbClr val="A9A3A1"/>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2759</Words>
  <Application>Microsoft Office PowerPoint</Application>
  <PresentationFormat>On-screen Show (16:9)</PresentationFormat>
  <Paragraphs>333</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Calibri</vt:lpstr>
      <vt:lpstr>Lato</vt:lpstr>
      <vt:lpstr>Manrope</vt:lpstr>
      <vt:lpstr>Arial</vt:lpstr>
      <vt:lpstr>Manrope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Vanessa Scalora</dc:creator>
  <cp:lastModifiedBy>Vanessa Scalora</cp:lastModifiedBy>
  <cp:revision>2</cp:revision>
  <dcterms:modified xsi:type="dcterms:W3CDTF">2025-12-12T14:11:19Z</dcterms:modified>
</cp:coreProperties>
</file>